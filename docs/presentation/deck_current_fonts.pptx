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템플릿의 표지 레이아웃이 따로 있으면 그쪽을 따르고, 이 장은 제목·부제·배지 문구만 옮긴다.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'실리콘 전에 개발'은 새로운 얘기가 아니라는 것을 먼저 인정하고 시작한다 (심사위원 다수가 FPGA·에뮬레이터·벤더 도구를 안다). 포인트는 '못 본다'가 아니라 '한 번 보고 한 번 바꿔 보는 반복이 시간 단위'라는 것. 세 번째 줄에서 기존 도구가 사라지지 않고 검증 역할로 남는 것을 손으로 짚는다 — 8장 WaveScope가 이 약속을 받는다.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앞 장의 '초 단위 반복'을 받아 '그러려면 시뮬레이터가 필요한데'로 시작. FPGA·에뮬레이터는 앞 장에서 정리했으므로 여기서는 시뮬레이터끼리만 비교한다고 한 마디. 그림의 빈 가운데를 가리키며 '여기가 비어 있었고 TLM이 채운다'.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50초. 왼쪽 그림: 위는 RTL(클럭마다 신호 다 계산), 아래는 TLM(CPU→SRAM 화살표에 +7 cycle 뱃지). 오른쪽 네 줄이 곧 요구사항.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세 숫자만 말한다. 모델링 범위는 손으로 훑는 정도. gem5/Fast Model 질문: gem5는 Cortex-M 미지원, Fast Model은 LT라 cycle 분석 불가.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60초. 이 장이 과제의 정의. 점선 되돌이 화살표를 가리키며 '실리콘 없이 HW와 SW를 같이 돌리는 루프'. 아래 두 줄이 신뢰 장치.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'시뮬레이터가 callgrind 하나를 내고, AI는 API로, 사람은 GUI로 같은 파일을 본다.' 왼쪽에 30초 무음 자동재생 영상(반복)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45초. 이번 과제에서 새로 만든 것. 2장에서 '여기서 찾은 답은 기존 도구로 검증한다'고 했으므로 방어가 아니라 '그 검증을 같은 형식으로 하게 만들었다'로 시작. '왼쪽 네 곳 어디서 나온 파형이든 오른쪽 같은 표가 된다'.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50초. 오른쪽: '소리가 들어와서 yes라는 답이 나오는 데 몇 cycle 걸리나'가 측정값. 아래 세 칸이 일부러 심은 상충 관계. 면적 예산 3단계(≤170/≤280/≤470), SW 소스 동일.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60초. 회색 점(사람 출발점)→주황 점(AI 도착점) 화살표가 'AI가 HW도 SW도 바꿨다'는 증거. 점선은 헤드라인. 실측 후 그림 교체. 검은 박스의 HW 변경 목록이 co-optimization의 실체.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45초. 정량 칸은 PoC 수치로. 교육·실무 칸의 대괄호는 제안 — 실제 교과목명·적용 프로젝트로 교체.
제목 후보:
1. 실리콘보다 먼저 — Cycle-level 가상 플랫폼과 파형 기반 프로파일러 위에서 AI가 도는 HW-SW Co-Optimization
2. 파형에서 최적화까지 — 실리콘을 기다리지 않는 HW·SW 공동 최적화 루프
3. 돌리고, 읽고, 고친다 — Pre-Silicon 성능 분석 툴체인과 AI Co-Optimization
4. Shift-Left, Close the Loop — 실리콘 없이 완성하는 HW-SW 최적화
5. 실리콘 없이 답하는 세 가지 질문: 얼마나 느린가, 왜 느린가, 어떻게 고치는가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대비용. '왜 기존 도구로 안 되나', '왜 gem5 안 썼나'가 오면 이 장을 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Q&amp;A용. 'FPGA나 에뮬레이터 쓰면 되지 않나': 빠르고 정확하고 안을 볼 수도 있지만, 관찰 지점을 바꾸거나 HW 구조를 바꾸면 재합성이라 한 바퀴가 시간 단위입니다. 하루 수백 번 도는 루프에는 맞지 않고, 대체가 아니라 앞단 옵션입니다. 그 파형은 WaveScope로 가져와 검증에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[System Expert 현업과제 발표] · [조직] · [발표 일자]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270102"/>
            <a:ext cx="7619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B879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PRE-SILICON · MODEL · PROFILE · OPTIMIZE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651406"/>
            <a:ext cx="10159898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실리콘보다 먼저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730398"/>
            <a:ext cx="1041410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실리콘이 나오기 전에, HW 구조와 SW를 AI가 함께 최적화하는</a:t>
            </a:r>
            <a:endParaRPr lang="en-US" sz="2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Cycle-level 가상 플랫폼 루프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5715000"/>
            <a:ext cx="57150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[발표자 이름] · [소속]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6032297"/>
            <a:ext cx="57150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[행사명]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2594" y="5905195"/>
            <a:ext cx="1206094" cy="355702"/>
          </a:xfrm>
          <a:prstGeom prst="roundRect">
            <a:avLst>
              <a:gd name="adj" fmla="val 49871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2594" y="5905195"/>
            <a:ext cx="1206094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CM4 TLM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01100" y="5905195"/>
            <a:ext cx="1904695" cy="355702"/>
          </a:xfrm>
          <a:prstGeom prst="roundRect">
            <a:avLst>
              <a:gd name="adj" fmla="val 49871"/>
            </a:avLst>
          </a:prstGeom>
          <a:solidFill>
            <a:srgbClr val="2FA6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01100" y="5905195"/>
            <a:ext cx="1904695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Profiler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807294" y="5905195"/>
            <a:ext cx="875995" cy="355702"/>
          </a:xfrm>
          <a:prstGeom prst="roundRect">
            <a:avLst>
              <a:gd name="adj" fmla="val 49871"/>
            </a:avLst>
          </a:prstGeom>
          <a:solidFill>
            <a:srgbClr val="0F1B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807294" y="5905195"/>
            <a:ext cx="875995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Co-Opt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과제 배경 — 개발은 이미 실리콘 앞에 와 있다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952805"/>
            <a:ext cx="1117579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실리콘 전에 개발하는 것은 이미 당연합니다.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이제는 실리콘 전에 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최적화까지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더 빨리, 더 좋은 제품으로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8406" y="1904695"/>
            <a:ext cx="11175797" cy="3301898"/>
          </a:xfrm>
          <a:prstGeom prst="roundRect">
            <a:avLst>
              <a:gd name="adj" fmla="val 307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31797" y="2895905"/>
            <a:ext cx="9398203" cy="0"/>
          </a:xfrm>
          <a:prstGeom prst="line">
            <a:avLst/>
          </a:prstGeom>
          <a:noFill/>
          <a:ln w="19050">
            <a:solidFill>
              <a:srgbClr val="DFE4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31797" y="3847795"/>
            <a:ext cx="9398203" cy="0"/>
          </a:xfrm>
          <a:prstGeom prst="line">
            <a:avLst/>
          </a:prstGeom>
          <a:noFill/>
          <a:ln w="19050">
            <a:solidFill>
              <a:srgbClr val="DFE4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06594" y="2158898"/>
            <a:ext cx="0" cy="2730398"/>
          </a:xfrm>
          <a:prstGeom prst="line">
            <a:avLst/>
          </a:prstGeom>
          <a:noFill/>
          <a:ln w="19050">
            <a:solidFill>
              <a:srgbClr val="B8791F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296205" y="2018995"/>
            <a:ext cx="1270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실리콘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762695" y="2006194"/>
            <a:ext cx="27303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B879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TAT ↓ · AI로 개발 속도 ↑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2324405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과거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031797" y="2324405"/>
            <a:ext cx="2920594" cy="330098"/>
          </a:xfrm>
          <a:prstGeom prst="roundRect">
            <a:avLst>
              <a:gd name="adj" fmla="val 15512"/>
            </a:avLst>
          </a:prstGeom>
          <a:solidFill>
            <a:srgbClr val="0F1B2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031797" y="2324405"/>
            <a:ext cx="292059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설계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3149194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현재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031797" y="3149194"/>
            <a:ext cx="2920594" cy="330098"/>
          </a:xfrm>
          <a:prstGeom prst="roundRect">
            <a:avLst>
              <a:gd name="adj" fmla="val 15512"/>
            </a:avLst>
          </a:prstGeom>
          <a:solidFill>
            <a:srgbClr val="0F1B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031797" y="3149194"/>
            <a:ext cx="292059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설계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61695" y="4101998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이 과제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031797" y="4101998"/>
            <a:ext cx="2920594" cy="330098"/>
          </a:xfrm>
          <a:prstGeom prst="roundRect">
            <a:avLst>
              <a:gd name="adj" fmla="val 15512"/>
            </a:avLst>
          </a:prstGeom>
          <a:solidFill>
            <a:srgbClr val="0F1B2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031797" y="4101998"/>
            <a:ext cx="292059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설계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333695" y="2324405"/>
            <a:ext cx="2031797" cy="330098"/>
          </a:xfrm>
          <a:prstGeom prst="roundRect">
            <a:avLst>
              <a:gd name="adj" fmla="val 15512"/>
            </a:avLst>
          </a:prstGeom>
          <a:solidFill>
            <a:srgbClr val="B3B9C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33695" y="2324405"/>
            <a:ext cx="2031797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 개발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492594" y="2324405"/>
            <a:ext cx="1651406" cy="330098"/>
          </a:xfrm>
          <a:prstGeom prst="roundRect">
            <a:avLst>
              <a:gd name="adj" fmla="val 15512"/>
            </a:avLst>
          </a:prstGeom>
          <a:solidFill>
            <a:srgbClr val="B3B9C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92594" y="2324405"/>
            <a:ext cx="165140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최적화 (SW만)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283903" y="2324405"/>
            <a:ext cx="0" cy="330098"/>
          </a:xfrm>
          <a:prstGeom prst="line">
            <a:avLst/>
          </a:prstGeom>
          <a:noFill/>
          <a:ln w="38100">
            <a:solidFill>
              <a:srgbClr val="B879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46997" y="2311603"/>
            <a:ext cx="952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완성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SW만 최적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159898" y="2311603"/>
            <a:ext cx="1397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SW는 실리콘 뒤에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HW는 이미 고정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238805" y="3517697"/>
            <a:ext cx="1714500" cy="267005"/>
          </a:xfrm>
          <a:prstGeom prst="roundRect">
            <a:avLst>
              <a:gd name="adj" fmla="val 19178"/>
            </a:avLst>
          </a:prstGeom>
          <a:solidFill>
            <a:srgbClr val="6B728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238805" y="3517697"/>
            <a:ext cx="1714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 개발 · FPGA/에뮬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333695" y="3149194"/>
            <a:ext cx="1651406" cy="330098"/>
          </a:xfrm>
          <a:prstGeom prst="roundRect">
            <a:avLst>
              <a:gd name="adj" fmla="val 15512"/>
            </a:avLst>
          </a:prstGeom>
          <a:solidFill>
            <a:srgbClr val="B3B9C4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333695" y="3149194"/>
            <a:ext cx="165140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최적화 (SW만)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124090" y="3149194"/>
            <a:ext cx="0" cy="330098"/>
          </a:xfrm>
          <a:prstGeom prst="line">
            <a:avLst/>
          </a:prstGeom>
          <a:noFill/>
          <a:ln w="38100">
            <a:solidFill>
              <a:srgbClr val="B879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88098" y="3136392"/>
            <a:ext cx="952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완성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SW만 최적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001000" y="3174797"/>
            <a:ext cx="355610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SW는 앞으로 왔지만 보고 바꿔 보는 1회 =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시간~일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관찰마다 프로브 삽입 · 변경마다 재합성 · 장비 공유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2095805" y="4470502"/>
            <a:ext cx="2857500" cy="330098"/>
          </a:xfrm>
          <a:prstGeom prst="roundRect">
            <a:avLst>
              <a:gd name="adj" fmla="val 15512"/>
            </a:avLst>
          </a:prstGeom>
          <a:solidFill>
            <a:srgbClr val="E8A33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095805" y="4470502"/>
            <a:ext cx="28575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가상 플랫폼: HW+SW 최적화 · AI 루프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047695" y="4839005"/>
            <a:ext cx="1904695" cy="254203"/>
          </a:xfrm>
          <a:prstGeom prst="roundRect">
            <a:avLst>
              <a:gd name="adj" fmla="val 20144"/>
            </a:avLst>
          </a:prstGeom>
          <a:solidFill>
            <a:srgbClr val="6B728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3047695" y="4839005"/>
            <a:ext cx="1904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검증: FPGA · 에뮬 · RTL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333695" y="4101998"/>
            <a:ext cx="1143000" cy="330098"/>
          </a:xfrm>
          <a:prstGeom prst="roundRect">
            <a:avLst>
              <a:gd name="adj" fmla="val 15512"/>
            </a:avLst>
          </a:prstGeom>
          <a:solidFill>
            <a:srgbClr val="B3B9C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333695" y="4101998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실리콘 최종 검증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616598" y="4101998"/>
            <a:ext cx="0" cy="330098"/>
          </a:xfrm>
          <a:prstGeom prst="line">
            <a:avLst/>
          </a:prstGeom>
          <a:noFill/>
          <a:ln w="38100">
            <a:solidFill>
              <a:srgbClr val="B8791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679692" y="4089197"/>
            <a:ext cx="952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완성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HW+SW 최적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7619695" y="4101998"/>
            <a:ext cx="393649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구조까지 함께, 1회 =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초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하루 수백 번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기존 도구는 그대로, 역할은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검증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같은 면적에 더 빠르게, 같은 성능에 더 작게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7619695" y="4839005"/>
            <a:ext cx="393649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가로축 = 시간 (개념도) · 세로 점선 = 실리콘 시점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08406" y="5397703"/>
            <a:ext cx="3606394" cy="571500"/>
          </a:xfrm>
          <a:prstGeom prst="roundRect">
            <a:avLst>
              <a:gd name="adj" fmla="val 1328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60197" y="5397703"/>
            <a:ext cx="279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7F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»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990295" y="5397703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TAT는 계속 줄고, AI가 개발 속도를 한 번 더 끌어올리는 중</a:t>
            </a:r>
            <a:endParaRPr lang="en-US" sz="1250" dirty="0"/>
          </a:p>
        </p:txBody>
      </p:sp>
      <p:sp>
        <p:nvSpPr>
          <p:cNvPr id="48" name="Shape 45"/>
          <p:cNvSpPr/>
          <p:nvPr/>
        </p:nvSpPr>
        <p:spPr>
          <a:xfrm>
            <a:off x="4292194" y="5397703"/>
            <a:ext cx="3606394" cy="571500"/>
          </a:xfrm>
          <a:prstGeom prst="roundRect">
            <a:avLst>
              <a:gd name="adj" fmla="val 1328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44898" y="5397703"/>
            <a:ext cx="279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7F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○</a:t>
            </a:r>
            <a:endParaRPr lang="en-US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4774997" y="5397703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FPGA·에뮬레이터도 안을 볼 수는 있지만, 보고 바꾸는 반복이 느리다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8076895" y="5397703"/>
            <a:ext cx="3606394" cy="571500"/>
          </a:xfrm>
          <a:prstGeom prst="roundRect">
            <a:avLst>
              <a:gd name="adj" fmla="val 1328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29600" y="5397703"/>
            <a:ext cx="279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✱</a:t>
            </a:r>
            <a:endParaRPr lang="en-US" sz="1700" dirty="0"/>
          </a:p>
        </p:txBody>
      </p:sp>
      <p:sp>
        <p:nvSpPr>
          <p:cNvPr id="53" name="Text 50"/>
          <p:cNvSpPr txBox="1"/>
          <p:nvPr/>
        </p:nvSpPr>
        <p:spPr>
          <a:xfrm>
            <a:off x="8559698" y="5397703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대체가 아니라 앞단에 추가되는 옵션 — 여기서 찾은 답은 기존 도구로 검증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과제 배경 — 그러려면 빠르면서 cycle을 아는 시뮬레이터가 필요하다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952805"/>
            <a:ext cx="11175797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그러려면 빠르면서 cycle을 아는 시뮬레이터가 필요한데,</a:t>
            </a:r>
            <a:endParaRPr lang="en-US" sz="2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그 자리가 비어 있었습니다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8406" y="2221992"/>
            <a:ext cx="6730898" cy="3683203"/>
          </a:xfrm>
          <a:prstGeom prst="roundRect">
            <a:avLst>
              <a:gd name="adj" fmla="val 2756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0102" y="5524805"/>
            <a:ext cx="5587898" cy="0"/>
          </a:xfrm>
          <a:prstGeom prst="line">
            <a:avLst/>
          </a:prstGeom>
          <a:noFill/>
          <a:ln w="31750">
            <a:solidFill>
              <a:srgbClr val="B3B9C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1270102" y="2603297"/>
            <a:ext cx="0" cy="2920594"/>
          </a:xfrm>
          <a:prstGeom prst="line">
            <a:avLst/>
          </a:prstGeom>
          <a:noFill/>
          <a:ln w="31750">
            <a:solidFill>
              <a:srgbClr val="B3B9C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524305" y="2730398"/>
            <a:ext cx="1270102" cy="1270102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0" name="Shape 7"/>
          <p:cNvSpPr/>
          <p:nvPr/>
        </p:nvSpPr>
        <p:spPr>
          <a:xfrm>
            <a:off x="5397703" y="4317797"/>
            <a:ext cx="1270102" cy="1270102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1" name="Shape 8"/>
          <p:cNvSpPr/>
          <p:nvPr/>
        </p:nvSpPr>
        <p:spPr>
          <a:xfrm>
            <a:off x="3364992" y="3301898"/>
            <a:ext cx="1460297" cy="1460297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524305" y="2730398"/>
            <a:ext cx="1270102" cy="1270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cycle-level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397703" y="4317797"/>
            <a:ext cx="1270102" cy="1270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C-model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알고리즘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364992" y="3301898"/>
            <a:ext cx="1460297" cy="1460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TLM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4063594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수 KIPS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앱 동작을 볼 수 없음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06594" y="3886200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특성 없음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성능을 볼 수 없음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047695" y="4839005"/>
            <a:ext cx="20958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수십~수백 배 빠르면서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cycle을 안다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397203" y="5600700"/>
            <a:ext cx="12701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느림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99102" y="5600700"/>
            <a:ext cx="21588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시뮬레이션 속도 → 빠름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4594" y="2540203"/>
            <a:ext cx="6099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정확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4594" y="5206594"/>
            <a:ext cx="6099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없음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97203" y="2311603"/>
            <a:ext cx="57150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시뮬레이터끼리 비교 — FPGA·에뮬레이터는 앞 장 (보고 바꾸는 반복이 느림)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56602" y="2603297"/>
            <a:ext cx="51206" cy="825703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59598" y="2603297"/>
            <a:ext cx="39246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 시뮬레이션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759598" y="2933395"/>
            <a:ext cx="392460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정확하지만 너무 느려 애플리케이션 동작을 제대로 보기 어렵다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556602" y="3651199"/>
            <a:ext cx="51206" cy="825703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759598" y="3651199"/>
            <a:ext cx="39246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C-model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759598" y="3981298"/>
            <a:ext cx="392460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알고리즘만 있고 하드웨어 특성이 없어 성능을 볼 수 없다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556602" y="4699102"/>
            <a:ext cx="51206" cy="825703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59598" y="4699102"/>
            <a:ext cx="39246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TLM 모델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7759598" y="5029200"/>
            <a:ext cx="392460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그 사이를 메운다 — SW를 개발하면서 HW 구조까지 바꿔 보고 성능을 본다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과제 배경 — TLM 모델이란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신호를 흉내 내지 않고, 트랜잭션에 시간을 붙입니다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841602"/>
            <a:ext cx="6349594" cy="3936492"/>
          </a:xfrm>
          <a:prstGeom prst="roundRect">
            <a:avLst>
              <a:gd name="adj" fmla="val 2578"/>
            </a:avLst>
          </a:prstGeom>
          <a:solidFill>
            <a:srgbClr val="0F1B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7006" y="1994306"/>
            <a:ext cx="3810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RTL · 클럭마다 모든 신호를 계산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52805" y="2298802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3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2628900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3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HADDR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2958998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3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HWDATA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3289097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3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HREADY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41602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57400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57400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73198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73198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88997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88997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04795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04795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0594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20594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36392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36392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53105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53105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8903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8903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84702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84702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00500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000500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16298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16298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32097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32097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47895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47895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63694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63694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9492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079492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296205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296205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512003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512003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727802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27802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43600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943600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59398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841602" y="2756002"/>
            <a:ext cx="502006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342693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342693" y="2641702"/>
            <a:ext cx="75529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098902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098902" y="2756002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473806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473806" y="2641702"/>
            <a:ext cx="10030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476902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476902" y="2756002"/>
            <a:ext cx="62819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105095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105095" y="2641702"/>
            <a:ext cx="502006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607101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607101" y="2756002"/>
            <a:ext cx="1257300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841602" y="3086100"/>
            <a:ext cx="882396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23998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23998" y="2971800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098902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098902" y="3086100"/>
            <a:ext cx="1384402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483303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483303" y="2971800"/>
            <a:ext cx="62819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111496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111496" y="3086100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486400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486400" y="2971800"/>
            <a:ext cx="1384402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841602" y="3416198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216506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216506" y="3301898"/>
            <a:ext cx="10030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219602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219602" y="3416198"/>
            <a:ext cx="75529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974897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974897" y="3301898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49801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349801" y="3416198"/>
            <a:ext cx="1257300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607101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607101" y="3301898"/>
            <a:ext cx="502006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108192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108192" y="3416198"/>
            <a:ext cx="75529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888797" y="3746297"/>
            <a:ext cx="5587898" cy="0"/>
          </a:xfrm>
          <a:prstGeom prst="line">
            <a:avLst/>
          </a:prstGeom>
          <a:noFill/>
          <a:ln w="19050">
            <a:solidFill>
              <a:srgbClr val="2A3B55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37006" y="3860597"/>
            <a:ext cx="44448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A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TLM · 트랜잭션 하나 + cycle 숫자</a:t>
            </a:r>
            <a:endParaRPr lang="en-US" sz="1200" dirty="0"/>
          </a:p>
        </p:txBody>
      </p:sp>
      <p:sp>
        <p:nvSpPr>
          <p:cNvPr id="91" name="Shape 88"/>
          <p:cNvSpPr/>
          <p:nvPr/>
        </p:nvSpPr>
        <p:spPr>
          <a:xfrm>
            <a:off x="952805" y="4254703"/>
            <a:ext cx="1524305" cy="761695"/>
          </a:xfrm>
          <a:prstGeom prst="roundRect">
            <a:avLst>
              <a:gd name="adj" fmla="val 9964"/>
            </a:avLst>
          </a:prstGeom>
          <a:solidFill>
            <a:srgbClr val="16263D"/>
          </a:solidFill>
          <a:ln w="31750">
            <a:solidFill>
              <a:srgbClr val="2FA6A0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952805" y="4254703"/>
            <a:ext cx="152430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CPU</a:t>
            </a:r>
            <a:endParaRPr lang="en-US" sz="1700" dirty="0"/>
          </a:p>
        </p:txBody>
      </p:sp>
      <p:sp>
        <p:nvSpPr>
          <p:cNvPr id="93" name="Shape 90"/>
          <p:cNvSpPr/>
          <p:nvPr/>
        </p:nvSpPr>
        <p:spPr>
          <a:xfrm>
            <a:off x="4889297" y="4254703"/>
            <a:ext cx="1524305" cy="761695"/>
          </a:xfrm>
          <a:prstGeom prst="roundRect">
            <a:avLst>
              <a:gd name="adj" fmla="val 9964"/>
            </a:avLst>
          </a:prstGeom>
          <a:solidFill>
            <a:srgbClr val="16263D"/>
          </a:solidFill>
          <a:ln w="31750">
            <a:solidFill>
              <a:srgbClr val="2FA6A0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889297" y="4254703"/>
            <a:ext cx="152430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SRAM</a:t>
            </a:r>
            <a:endParaRPr lang="en-US" sz="1700" dirty="0"/>
          </a:p>
        </p:txBody>
      </p:sp>
      <p:sp>
        <p:nvSpPr>
          <p:cNvPr id="95" name="Shape 92"/>
          <p:cNvSpPr/>
          <p:nvPr/>
        </p:nvSpPr>
        <p:spPr>
          <a:xfrm>
            <a:off x="2476195" y="4635094"/>
            <a:ext cx="2413102" cy="0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6" name="Shape 93"/>
          <p:cNvSpPr/>
          <p:nvPr/>
        </p:nvSpPr>
        <p:spPr>
          <a:xfrm>
            <a:off x="2920594" y="4336999"/>
            <a:ext cx="1397203" cy="597103"/>
          </a:xfrm>
          <a:prstGeom prst="roundRect">
            <a:avLst>
              <a:gd name="adj" fmla="val 49923"/>
            </a:avLst>
          </a:prstGeom>
          <a:solidFill>
            <a:srgbClr val="E8A33D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2920594" y="4336999"/>
            <a:ext cx="1397203" cy="597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+7 cycle</a:t>
            </a:r>
            <a:endParaRPr lang="en-US" sz="1200" dirty="0"/>
          </a:p>
        </p:txBody>
      </p:sp>
      <p:sp>
        <p:nvSpPr>
          <p:cNvPr id="98" name="Text 95"/>
          <p:cNvSpPr txBox="1"/>
          <p:nvPr/>
        </p:nvSpPr>
        <p:spPr>
          <a:xfrm>
            <a:off x="888797" y="5206594"/>
            <a:ext cx="558789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write(0x2400_0010, data)  →  버스 대기 2 + 메모리 5</a:t>
            </a:r>
            <a:endParaRPr lang="en-US" sz="1300" dirty="0"/>
          </a:p>
        </p:txBody>
      </p:sp>
      <p:sp>
        <p:nvSpPr>
          <p:cNvPr id="99" name="Shape 96"/>
          <p:cNvSpPr/>
          <p:nvPr/>
        </p:nvSpPr>
        <p:spPr>
          <a:xfrm>
            <a:off x="7162495" y="1904695"/>
            <a:ext cx="685800" cy="685800"/>
          </a:xfrm>
          <a:prstGeom prst="roundRect">
            <a:avLst>
              <a:gd name="adj" fmla="val 20400"/>
            </a:avLst>
          </a:prstGeom>
          <a:solidFill>
            <a:srgbClr val="0F1B2D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7162495" y="1904695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»</a:t>
            </a:r>
            <a:endParaRPr lang="en-US" sz="2600" dirty="0"/>
          </a:p>
        </p:txBody>
      </p:sp>
      <p:sp>
        <p:nvSpPr>
          <p:cNvPr id="101" name="Text 98"/>
          <p:cNvSpPr txBox="1"/>
          <p:nvPr/>
        </p:nvSpPr>
        <p:spPr>
          <a:xfrm>
            <a:off x="8001000" y="1930298"/>
            <a:ext cx="3683203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RTL보다 수십~수백 배 빠르다</a:t>
            </a:r>
            <a:endParaRPr lang="en-US" sz="1800" dirty="0"/>
          </a:p>
        </p:txBody>
      </p:sp>
      <p:sp>
        <p:nvSpPr>
          <p:cNvPr id="102" name="Text 99"/>
          <p:cNvSpPr txBox="1"/>
          <p:nvPr/>
        </p:nvSpPr>
        <p:spPr>
          <a:xfrm>
            <a:off x="8001000" y="2260397"/>
            <a:ext cx="3683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애플리케이션은 물론 RTOS까지 함께 개발할 수 있는 속도</a:t>
            </a:r>
            <a:endParaRPr lang="en-US" sz="1300" dirty="0"/>
          </a:p>
        </p:txBody>
      </p:sp>
      <p:sp>
        <p:nvSpPr>
          <p:cNvPr id="103" name="Shape 100"/>
          <p:cNvSpPr/>
          <p:nvPr/>
        </p:nvSpPr>
        <p:spPr>
          <a:xfrm>
            <a:off x="7162495" y="2907792"/>
            <a:ext cx="685800" cy="685800"/>
          </a:xfrm>
          <a:prstGeom prst="roundRect">
            <a:avLst>
              <a:gd name="adj" fmla="val 20400"/>
            </a:avLst>
          </a:prstGeom>
          <a:solidFill>
            <a:srgbClr val="0F1B2D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7162495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○</a:t>
            </a:r>
            <a:endParaRPr lang="en-US" sz="2600" dirty="0"/>
          </a:p>
        </p:txBody>
      </p:sp>
      <p:sp>
        <p:nvSpPr>
          <p:cNvPr id="105" name="Text 102"/>
          <p:cNvSpPr txBox="1"/>
          <p:nvPr/>
        </p:nvSpPr>
        <p:spPr>
          <a:xfrm>
            <a:off x="8001000" y="2933395"/>
            <a:ext cx="3683203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그래도 cycle을 안다</a:t>
            </a:r>
            <a:endParaRPr lang="en-US" sz="1800" dirty="0"/>
          </a:p>
        </p:txBody>
      </p:sp>
      <p:sp>
        <p:nvSpPr>
          <p:cNvPr id="106" name="Text 103"/>
          <p:cNvSpPr txBox="1"/>
          <p:nvPr/>
        </p:nvSpPr>
        <p:spPr>
          <a:xfrm>
            <a:off x="8001000" y="3263494"/>
            <a:ext cx="3683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기능만 맞추는 모델과 달리 "얼마나 느린가"에 답함</a:t>
            </a:r>
            <a:endParaRPr lang="en-US" sz="1300" dirty="0"/>
          </a:p>
        </p:txBody>
      </p:sp>
      <p:sp>
        <p:nvSpPr>
          <p:cNvPr id="107" name="Shape 104"/>
          <p:cNvSpPr/>
          <p:nvPr/>
        </p:nvSpPr>
        <p:spPr>
          <a:xfrm>
            <a:off x="7162495" y="3911803"/>
            <a:ext cx="685800" cy="685800"/>
          </a:xfrm>
          <a:prstGeom prst="roundRect">
            <a:avLst>
              <a:gd name="adj" fmla="val 20400"/>
            </a:avLst>
          </a:prstGeom>
          <a:solidFill>
            <a:srgbClr val="0F1B2D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7162495" y="3911803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✱</a:t>
            </a:r>
            <a:endParaRPr lang="en-US" sz="2600" dirty="0"/>
          </a:p>
        </p:txBody>
      </p:sp>
      <p:sp>
        <p:nvSpPr>
          <p:cNvPr id="109" name="Text 106"/>
          <p:cNvSpPr txBox="1"/>
          <p:nvPr/>
        </p:nvSpPr>
        <p:spPr>
          <a:xfrm>
            <a:off x="8001000" y="3936492"/>
            <a:ext cx="3683203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구조가 파라미터다</a:t>
            </a:r>
            <a:endParaRPr lang="en-US" sz="1800" dirty="0"/>
          </a:p>
        </p:txBody>
      </p:sp>
      <p:sp>
        <p:nvSpPr>
          <p:cNvPr id="110" name="Text 107"/>
          <p:cNvSpPr txBox="1"/>
          <p:nvPr/>
        </p:nvSpPr>
        <p:spPr>
          <a:xfrm>
            <a:off x="8001000" y="4267505"/>
            <a:ext cx="3683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TCM·캐시·버스·DMA를 config로 바꿔 실험</a:t>
            </a:r>
            <a:endParaRPr lang="en-US" sz="1300" dirty="0"/>
          </a:p>
        </p:txBody>
      </p:sp>
      <p:sp>
        <p:nvSpPr>
          <p:cNvPr id="111" name="Shape 108"/>
          <p:cNvSpPr/>
          <p:nvPr/>
        </p:nvSpPr>
        <p:spPr>
          <a:xfrm>
            <a:off x="7162495" y="4914900"/>
            <a:ext cx="685800" cy="685800"/>
          </a:xfrm>
          <a:prstGeom prst="roundRect">
            <a:avLst>
              <a:gd name="adj" fmla="val 20400"/>
            </a:avLst>
          </a:prstGeom>
          <a:solidFill>
            <a:srgbClr val="0F1B2D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7162495" y="4914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◎</a:t>
            </a:r>
            <a:endParaRPr lang="en-US" sz="2600" dirty="0"/>
          </a:p>
        </p:txBody>
      </p:sp>
      <p:sp>
        <p:nvSpPr>
          <p:cNvPr id="113" name="Text 110"/>
          <p:cNvSpPr txBox="1"/>
          <p:nvPr/>
        </p:nvSpPr>
        <p:spPr>
          <a:xfrm>
            <a:off x="8001000" y="4940503"/>
            <a:ext cx="3683203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안이 전부 보인다</a:t>
            </a:r>
            <a:endParaRPr lang="en-US" sz="1800" dirty="0"/>
          </a:p>
        </p:txBody>
      </p:sp>
      <p:sp>
        <p:nvSpPr>
          <p:cNvPr id="114" name="Text 111"/>
          <p:cNvSpPr txBox="1"/>
          <p:nvPr/>
        </p:nvSpPr>
        <p:spPr>
          <a:xfrm>
            <a:off x="8001000" y="5270602"/>
            <a:ext cx="3683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C++ SW 플랫폼 — 프로브·재합성 없이 분석 데이터를 원하는 형태·양으로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개발 및 설계 — Cortex-M4 TLM 가상 플랫폼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TLM으로 만든 Cortex-M4 SoC: 빠르고, 정확하고, 간편합니다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841602"/>
            <a:ext cx="3606394" cy="1904695"/>
          </a:xfrm>
          <a:prstGeom prst="roundRect">
            <a:avLst>
              <a:gd name="adj" fmla="val 5329"/>
            </a:avLst>
          </a:prstGeom>
          <a:solidFill>
            <a:srgbClr val="0F1B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7298" y="2031797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빠르다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7298" y="2286000"/>
            <a:ext cx="304769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FA6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50배+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787298" y="3174797"/>
            <a:ext cx="30476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 시뮬 대비 (벤치마크) · 실제 워크로드 수백 배 예상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2194" y="1841602"/>
            <a:ext cx="3606394" cy="1904695"/>
          </a:xfrm>
          <a:prstGeom prst="roundRect">
            <a:avLst>
              <a:gd name="adj" fmla="val 5329"/>
            </a:avLst>
          </a:prstGeom>
          <a:solidFill>
            <a:srgbClr val="0F1B2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2031797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정확하다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286000"/>
            <a:ext cx="304769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99.7%</a:t>
            </a:r>
            <a:endParaRPr lang="en-US" sz="5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174797"/>
            <a:ext cx="30476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 정합성, RTL 시뮬 대비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76895" y="1841602"/>
            <a:ext cx="3606394" cy="1904695"/>
          </a:xfrm>
          <a:prstGeom prst="roundRect">
            <a:avLst>
              <a:gd name="adj" fmla="val 5329"/>
            </a:avLst>
          </a:prstGeom>
          <a:solidFill>
            <a:srgbClr val="0F1B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56702" y="2031797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간편하다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356702" y="2286000"/>
            <a:ext cx="304769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 1장</a:t>
            </a:r>
            <a:endParaRPr lang="en-US" sz="4200" dirty="0"/>
          </a:p>
        </p:txBody>
      </p:sp>
      <p:sp>
        <p:nvSpPr>
          <p:cNvPr id="17" name="Text 14"/>
          <p:cNvSpPr txBox="1"/>
          <p:nvPr/>
        </p:nvSpPr>
        <p:spPr>
          <a:xfrm>
            <a:off x="8356702" y="3174797"/>
            <a:ext cx="30476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모델을 조립해 SoC 구성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08406" y="4000500"/>
            <a:ext cx="3810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모델링 범위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8406" y="4381805"/>
            <a:ext cx="2679192" cy="1587398"/>
          </a:xfrm>
          <a:prstGeom prst="roundRect">
            <a:avLst>
              <a:gd name="adj" fmla="val 5588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4546397"/>
            <a:ext cx="254203" cy="254203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28700" y="4533595"/>
            <a:ext cx="20445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코어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27702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CM4 3단 인오더 파이프라인, 명령어별 cycle, NVIC, FPU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340303" y="4381805"/>
            <a:ext cx="2679192" cy="1587398"/>
          </a:xfrm>
          <a:prstGeom prst="roundRect">
            <a:avLst>
              <a:gd name="adj" fmla="val 5588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17697" y="4546397"/>
            <a:ext cx="254203" cy="254203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860597" y="4533595"/>
            <a:ext cx="20445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메모리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517697" y="4927702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TCM, 독립 SRAM 뱅크, Flash wait state·prefetch, I-Cache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172200" y="4381805"/>
            <a:ext cx="2679192" cy="1587398"/>
          </a:xfrm>
          <a:prstGeom prst="roundRect">
            <a:avLst>
              <a:gd name="adj" fmla="val 5588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49594" y="4546397"/>
            <a:ext cx="254203" cy="254203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92494" y="4533595"/>
            <a:ext cx="20445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버스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49594" y="4927702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AHB 매트릭스, 마스터 간 실제 경합 지연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04097" y="4381805"/>
            <a:ext cx="2679192" cy="1587398"/>
          </a:xfrm>
          <a:prstGeom prst="roundRect">
            <a:avLst>
              <a:gd name="adj" fmla="val 5588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181490" y="4546397"/>
            <a:ext cx="254203" cy="254203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524390" y="4533595"/>
            <a:ext cx="20445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주변장치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181490" y="4927702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DMA(burst), Timer, 오디오 입력, 센서·액추에이터, MAC 가속기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개발 및 설계 — Pre-Silicon Co-Optimization 루프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그래서 하나의 루프가 됩니다: 돌리고, 읽고, 고치고, 다시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8406" y="1587398"/>
            <a:ext cx="11175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사람이 며칠 걸릴 HW·SW 시행착오를 AI가 하루에 수백 번 — 사람은 검토와 승인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8406" y="2031797"/>
            <a:ext cx="3301898" cy="1904695"/>
          </a:xfrm>
          <a:prstGeom prst="roundRect">
            <a:avLst>
              <a:gd name="adj" fmla="val 6673"/>
            </a:avLst>
          </a:prstGeom>
          <a:solidFill>
            <a:srgbClr val="F2F4F7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7298" y="2210105"/>
            <a:ext cx="279349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79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돌린다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7298" y="2463394"/>
            <a:ext cx="2793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CM4 가상 플랫폼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87298" y="2920594"/>
            <a:ext cx="2793492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 + 펌웨어를 실행하면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프로파일(callgrind)과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파형(FST)이 나온다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44898" y="2031797"/>
            <a:ext cx="3301898" cy="1904695"/>
          </a:xfrm>
          <a:prstGeom prst="roundRect">
            <a:avLst>
              <a:gd name="adj" fmla="val 6673"/>
            </a:avLst>
          </a:prstGeom>
          <a:solidFill>
            <a:srgbClr val="F2F4F7"/>
          </a:solidFill>
          <a:ln w="38100">
            <a:solidFill>
              <a:srgbClr val="2FA6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24705" y="2210105"/>
            <a:ext cx="279349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7F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읽는다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24705" y="2463394"/>
            <a:ext cx="2793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분석 + 사람 검토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724705" y="2920594"/>
            <a:ext cx="2793492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AI는 API로 병목·원인을 읽고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가설을 세운다. 사람은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Profiler로 검토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81390" y="2031797"/>
            <a:ext cx="3301898" cy="1904695"/>
          </a:xfrm>
          <a:prstGeom prst="roundRect">
            <a:avLst>
              <a:gd name="adj" fmla="val 6673"/>
            </a:avLst>
          </a:prstGeom>
          <a:solidFill>
            <a:srgbClr val="F2F4F7"/>
          </a:solidFill>
          <a:ln w="38100">
            <a:solidFill>
              <a:srgbClr val="0F1B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61197" y="2210105"/>
            <a:ext cx="279349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고친다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61197" y="2463394"/>
            <a:ext cx="2793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 knob · HW knob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8661197" y="2920594"/>
            <a:ext cx="2793492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데이터 배치, DMA, 오프로드,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메모리·캐시·버스 파라미터.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소스가 아닌 config를 바꾼다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873398" y="2857500"/>
            <a:ext cx="508406" cy="254203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0" name="Shape 17"/>
          <p:cNvSpPr/>
          <p:nvPr/>
        </p:nvSpPr>
        <p:spPr>
          <a:xfrm>
            <a:off x="7809890" y="2857500"/>
            <a:ext cx="508406" cy="254203"/>
          </a:xfrm>
          <a:prstGeom prst="rightArrow">
            <a:avLst/>
          </a:prstGeom>
          <a:solidFill>
            <a:srgbClr val="2FA6A0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32797" y="3936492"/>
            <a:ext cx="0" cy="761695"/>
          </a:xfrm>
          <a:prstGeom prst="line">
            <a:avLst/>
          </a:prstGeom>
          <a:noFill/>
          <a:ln w="63500">
            <a:solidFill>
              <a:srgbClr val="E8A33D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 flipV="1">
            <a:off x="2158898" y="4699102"/>
            <a:ext cx="7873898" cy="0"/>
          </a:xfrm>
          <a:prstGeom prst="line">
            <a:avLst/>
          </a:prstGeom>
          <a:noFill/>
          <a:ln w="63500">
            <a:solidFill>
              <a:srgbClr val="E8A33D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 flipV="1">
            <a:off x="2158898" y="3936492"/>
            <a:ext cx="0" cy="761695"/>
          </a:xfrm>
          <a:prstGeom prst="line">
            <a:avLst/>
          </a:prstGeom>
          <a:noFill/>
          <a:ln w="6350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4190695" y="4559198"/>
            <a:ext cx="3810305" cy="27980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한 바퀴 수 초~수십 초 · 하루 수백 회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8406" y="5143500"/>
            <a:ext cx="5512003" cy="698602"/>
          </a:xfrm>
          <a:prstGeom prst="roundRect">
            <a:avLst>
              <a:gd name="adj" fmla="val 14529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143500"/>
            <a:ext cx="279806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◉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041502" y="5143500"/>
            <a:ext cx="4813402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Human-on-the-loop: 5회마다 근거와 함께 보고, HW 변경은 항상 사람이 승인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5143500"/>
            <a:ext cx="5512003" cy="698602"/>
          </a:xfrm>
          <a:prstGeom prst="roundRect">
            <a:avLst>
              <a:gd name="adj" fmla="val 14529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49594" y="5143500"/>
            <a:ext cx="279806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705295" y="5143500"/>
            <a:ext cx="4813402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출력이 골든과 한 비트라도 다르면 실험 무효 — 정확도를 깎아 빨라질 수 없다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개발 및 설계 — Performance Profiler (Human-on-the-loop)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하나의 프로파일을 AI와 사람이 같이 읽습니다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841602"/>
            <a:ext cx="6858000" cy="3174797"/>
          </a:xfrm>
          <a:prstGeom prst="roundRect">
            <a:avLst>
              <a:gd name="adj" fmla="val 3197"/>
            </a:avLst>
          </a:prstGeom>
          <a:solidFill>
            <a:srgbClr val="0F1B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24305" y="1841602"/>
            <a:ext cx="4826203" cy="317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[스크린샷 또는 30초 자동재생 영상 — Performance Profiler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함수 목록 → 라인 분석 + 점프 화살표 → 어셈블리 → 시나리오 비교]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35594" y="1841602"/>
            <a:ext cx="2031797" cy="761695"/>
          </a:xfrm>
          <a:prstGeom prst="roundRect">
            <a:avLst>
              <a:gd name="adj" fmla="val 13325"/>
            </a:avLst>
          </a:prstGeom>
          <a:solidFill>
            <a:srgbClr val="0F1B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35594" y="1841602"/>
            <a:ext cx="20317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CM4 가상 플랫폼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실행 1회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51492" y="2603297"/>
            <a:ext cx="0" cy="571500"/>
          </a:xfrm>
          <a:prstGeom prst="line">
            <a:avLst/>
          </a:prstGeom>
          <a:noFill/>
          <a:ln w="63500">
            <a:solidFill>
              <a:srgbClr val="0F1B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62695" y="3174797"/>
            <a:ext cx="1777594" cy="609905"/>
          </a:xfrm>
          <a:prstGeom prst="roundRect">
            <a:avLst>
              <a:gd name="adj" fmla="val 49925"/>
            </a:avLst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62695" y="3174797"/>
            <a:ext cx="177759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callgrind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V="1">
            <a:off x="8318297" y="3784702"/>
            <a:ext cx="825703" cy="977494"/>
          </a:xfrm>
          <a:prstGeom prst="line">
            <a:avLst/>
          </a:prstGeom>
          <a:noFill/>
          <a:ln w="63500">
            <a:solidFill>
              <a:srgbClr val="2FA6A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159898" y="3784702"/>
            <a:ext cx="825703" cy="977494"/>
          </a:xfrm>
          <a:prstGeom prst="line">
            <a:avLst/>
          </a:prstGeom>
          <a:noFill/>
          <a:ln w="63500">
            <a:solidFill>
              <a:srgbClr val="2FA6A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619695" y="4762195"/>
            <a:ext cx="1524305" cy="634594"/>
          </a:xfrm>
          <a:prstGeom prst="roundRect">
            <a:avLst>
              <a:gd name="adj" fmla="val 1599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19695" y="4762195"/>
            <a:ext cx="1524305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질의 API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159898" y="4762195"/>
            <a:ext cx="1524305" cy="634594"/>
          </a:xfrm>
          <a:prstGeom prst="roundRect">
            <a:avLst>
              <a:gd name="adj" fmla="val 1599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59898" y="4762195"/>
            <a:ext cx="1524305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사람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Profiler GUI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619695" y="4000500"/>
            <a:ext cx="9528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summary · stalls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regions · diff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731398" y="4000500"/>
            <a:ext cx="9528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함수 · 줄 · 콜 트리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시나리오 비교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8406" y="5244998"/>
            <a:ext cx="3606394" cy="634594"/>
          </a:xfrm>
          <a:prstGeom prst="roundRect">
            <a:avLst>
              <a:gd name="adj" fmla="val 1196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0197" y="5244998"/>
            <a:ext cx="2542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7F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" y="5244998"/>
            <a:ext cx="29974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callgrind는 정립된 공개 포맷 — AI도 사람도 새 파서 없이 바로 읽음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292194" y="5244998"/>
            <a:ext cx="3606394" cy="634594"/>
          </a:xfrm>
          <a:prstGeom prst="roundRect">
            <a:avLst>
              <a:gd name="adj" fmla="val 1196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44898" y="5244998"/>
            <a:ext cx="2542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7F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◉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49394" y="5244998"/>
            <a:ext cx="29974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AI의 결정을 사람이 같은 데이터로 검토 → human-on-the-loop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076895" y="5244998"/>
            <a:ext cx="3606394" cy="634594"/>
          </a:xfrm>
          <a:prstGeom prst="roundRect">
            <a:avLst>
              <a:gd name="adj" fmla="val 1196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0" y="5244998"/>
            <a:ext cx="2542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★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534095" y="5244998"/>
            <a:ext cx="29974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이번 과제: 다중 시나리오·비교 분석·Call Tree·UI/UX 대규모 개편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개발 및 설계 — WaveScope (신규): 기존 도구와의 연결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파형만 있으면 어떤 플랫폼이든 같은 프로파일이 나옵니다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714500"/>
            <a:ext cx="2031797" cy="571500"/>
          </a:xfrm>
          <a:prstGeom prst="roundRect">
            <a:avLst>
              <a:gd name="adj" fmla="val 1552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8406" y="1714500"/>
            <a:ext cx="2031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가상 플랫폼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40203" y="1999793"/>
            <a:ext cx="1206094" cy="1143000"/>
          </a:xfrm>
          <a:prstGeom prst="line">
            <a:avLst/>
          </a:prstGeom>
          <a:noFill/>
          <a:ln w="38100">
            <a:solidFill>
              <a:srgbClr val="B3B9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8406" y="2476195"/>
            <a:ext cx="2031797" cy="571500"/>
          </a:xfrm>
          <a:prstGeom prst="roundRect">
            <a:avLst>
              <a:gd name="adj" fmla="val 1552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8406" y="2476195"/>
            <a:ext cx="2031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 시뮬레이터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540203" y="2762402"/>
            <a:ext cx="1206094" cy="381305"/>
          </a:xfrm>
          <a:prstGeom prst="line">
            <a:avLst/>
          </a:prstGeom>
          <a:noFill/>
          <a:ln w="38100">
            <a:solidFill>
              <a:srgbClr val="B3B9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8406" y="3238805"/>
            <a:ext cx="2031797" cy="571500"/>
          </a:xfrm>
          <a:prstGeom prst="roundRect">
            <a:avLst>
              <a:gd name="adj" fmla="val 1552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8406" y="3238805"/>
            <a:ext cx="2031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에뮬레이터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 flipV="1">
            <a:off x="2540203" y="3142793"/>
            <a:ext cx="1206094" cy="381305"/>
          </a:xfrm>
          <a:prstGeom prst="line">
            <a:avLst/>
          </a:prstGeom>
          <a:noFill/>
          <a:ln w="38100">
            <a:solidFill>
              <a:srgbClr val="B3B9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8406" y="4000500"/>
            <a:ext cx="2031797" cy="571500"/>
          </a:xfrm>
          <a:prstGeom prst="roundRect">
            <a:avLst>
              <a:gd name="adj" fmla="val 15520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8406" y="4000500"/>
            <a:ext cx="2031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FPGA 프로토타입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 flipV="1">
            <a:off x="2540203" y="3142793"/>
            <a:ext cx="1206094" cy="1143000"/>
          </a:xfrm>
          <a:prstGeom prst="line">
            <a:avLst/>
          </a:prstGeom>
          <a:noFill/>
          <a:ln w="38100">
            <a:solidFill>
              <a:srgbClr val="B3B9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46297" y="2540203"/>
            <a:ext cx="1651406" cy="1206094"/>
          </a:xfrm>
          <a:prstGeom prst="roundRect">
            <a:avLst>
              <a:gd name="adj" fmla="val 8415"/>
            </a:avLst>
          </a:prstGeom>
          <a:solidFill>
            <a:srgbClr val="0F1B2D"/>
          </a:solidFill>
          <a:ln/>
        </p:spPr>
      </p:sp>
      <p:sp>
        <p:nvSpPr>
          <p:cNvPr id="19" name="Shape 16"/>
          <p:cNvSpPr/>
          <p:nvPr/>
        </p:nvSpPr>
        <p:spPr>
          <a:xfrm>
            <a:off x="3873398" y="28254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76395" y="27367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79392" y="28254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83303" y="27367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86300" y="28254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89297" y="27367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92294" y="2825496"/>
            <a:ext cx="25420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73398" y="3111703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76395" y="3022092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79392" y="3111703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3303" y="3022092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86300" y="3111703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89297" y="3022092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92294" y="3111703"/>
            <a:ext cx="25420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873398" y="33969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76395" y="33082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79392" y="33969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83303" y="33082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86300" y="33969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889297" y="33082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092294" y="3396996"/>
            <a:ext cx="25420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746297" y="2324405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파형 (clk + PC)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3746297" y="3797503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트레이스 IP 불필요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460797" y="3016606"/>
            <a:ext cx="508406" cy="254203"/>
          </a:xfrm>
          <a:prstGeom prst="rightArrow">
            <a:avLst/>
          </a:prstGeom>
          <a:solidFill>
            <a:srgbClr val="2FA6A0"/>
          </a:solidFill>
          <a:ln/>
        </p:spPr>
      </p:sp>
      <p:sp>
        <p:nvSpPr>
          <p:cNvPr id="43" name="Shape 40"/>
          <p:cNvSpPr/>
          <p:nvPr/>
        </p:nvSpPr>
        <p:spPr>
          <a:xfrm>
            <a:off x="6159398" y="2698394"/>
            <a:ext cx="2031797" cy="888797"/>
          </a:xfrm>
          <a:prstGeom prst="roundRect">
            <a:avLst>
              <a:gd name="adj" fmla="val 14300"/>
            </a:avLst>
          </a:prstGeom>
          <a:solidFill>
            <a:srgbClr val="2FA6A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159398" y="2698394"/>
            <a:ext cx="203179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WaveScope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6159398" y="3683203"/>
            <a:ext cx="20317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 신호 × ELF 디스어셈블리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수 GB 파형 → 약 3분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8255203" y="3016606"/>
            <a:ext cx="508406" cy="254203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7" name="Shape 44"/>
          <p:cNvSpPr/>
          <p:nvPr/>
        </p:nvSpPr>
        <p:spPr>
          <a:xfrm>
            <a:off x="8952890" y="1714500"/>
            <a:ext cx="2730398" cy="2857500"/>
          </a:xfrm>
          <a:prstGeom prst="roundRect">
            <a:avLst>
              <a:gd name="adj" fmla="val 3717"/>
            </a:avLst>
          </a:prstGeom>
          <a:solidFill>
            <a:srgbClr val="0F1B2D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092794" y="1867205"/>
            <a:ext cx="247619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callgrind · 같은 함수 이름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9092794" y="2171700"/>
            <a:ext cx="24761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5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fir_filter    58,904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5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memcpy        31,878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5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dma_wait      15,488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5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irq_handler    9,134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9092794" y="3429000"/>
            <a:ext cx="24761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Profiler에서 플랫폼 간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함수별로 나란히 비교</a:t>
            </a:r>
            <a:endParaRPr lang="en-US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9092794" y="4127602"/>
            <a:ext cx="2476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(숫자는 형식 예시)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8406" y="5079492"/>
            <a:ext cx="5512003" cy="761695"/>
          </a:xfrm>
          <a:prstGeom prst="roundRect">
            <a:avLst>
              <a:gd name="adj" fmla="val 996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85800" y="5079492"/>
            <a:ext cx="279806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7F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1700" dirty="0"/>
          </a:p>
        </p:txBody>
      </p:sp>
      <p:sp>
        <p:nvSpPr>
          <p:cNvPr id="54" name="Text 51"/>
          <p:cNvSpPr txBox="1"/>
          <p:nvPr/>
        </p:nvSpPr>
        <p:spPr>
          <a:xfrm>
            <a:off x="1041502" y="5079492"/>
            <a:ext cx="4813402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2장의 약속 — TLM에서 찾은 최적점을 RTL·에뮬레이터 파형으로 검증, 모델 정합성을 루프 안에서 관리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6172200" y="5079492"/>
            <a:ext cx="5512003" cy="761695"/>
          </a:xfrm>
          <a:prstGeom prst="roundRect">
            <a:avLst>
              <a:gd name="adj" fmla="val 996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349594" y="5079492"/>
            <a:ext cx="279806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7F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◎</a:t>
            </a:r>
            <a:endParaRPr lang="en-US" sz="1700" dirty="0"/>
          </a:p>
        </p:txBody>
      </p:sp>
      <p:sp>
        <p:nvSpPr>
          <p:cNvPr id="57" name="Text 54"/>
          <p:cNvSpPr txBox="1"/>
          <p:nvPr/>
        </p:nvSpPr>
        <p:spPr>
          <a:xfrm>
            <a:off x="6705295" y="5079492"/>
            <a:ext cx="4813402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단독으로도 사용 — 설계·시뮬레이터 수정 없이 기존 파형에서 바로 프로파일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검증 및 결과 — PoC 구성: Keyword Spotting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PoC: 음성 키워드 인식(KWS)을 세 가지 면적 예산에서 최적화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841602"/>
            <a:ext cx="5333695" cy="3556102"/>
          </a:xfrm>
          <a:prstGeom prst="roundRect">
            <a:avLst>
              <a:gd name="adj" fmla="val 285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8406" y="1841602"/>
            <a:ext cx="5333695" cy="355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[아키텍처 그림 자리]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CM4 + TCM · SRAM 뱅크 · Flash · DMA · MAC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AHB 매트릭스 (직접 삽입)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6305" y="1841602"/>
            <a:ext cx="5587898" cy="1015898"/>
          </a:xfrm>
          <a:prstGeom prst="roundRect">
            <a:avLst>
              <a:gd name="adj" fmla="val 9991"/>
            </a:avLst>
          </a:prstGeom>
          <a:solidFill>
            <a:srgbClr val="0F1B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35294" y="1930298"/>
            <a:ext cx="31747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마이크 · 16 kHz · 1초 클립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flipV="1">
            <a:off x="6349594" y="2253996"/>
            <a:ext cx="114300" cy="15910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3894" y="2253996"/>
            <a:ext cx="114300" cy="15910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78194" y="2413102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692494" y="2413102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806794" y="2214677"/>
            <a:ext cx="114300" cy="198425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21094" y="2214677"/>
            <a:ext cx="114300" cy="198425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35394" y="2413102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7149694" y="2413102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7263994" y="2372868"/>
            <a:ext cx="114300" cy="3931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8294" y="2372868"/>
            <a:ext cx="114300" cy="3931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2594" y="2413102"/>
            <a:ext cx="114300" cy="21854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7606894" y="2413102"/>
            <a:ext cx="114300" cy="21854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7721194" y="2313432"/>
            <a:ext cx="114300" cy="99670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35494" y="2313432"/>
            <a:ext cx="114300" cy="99670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49794" y="2413102"/>
            <a:ext cx="114300" cy="20117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8064094" y="2413102"/>
            <a:ext cx="114300" cy="20117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8178394" y="2253996"/>
            <a:ext cx="114300" cy="15910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92694" y="2253996"/>
            <a:ext cx="114300" cy="15910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06994" y="2413102"/>
            <a:ext cx="114300" cy="5943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8521294" y="2413102"/>
            <a:ext cx="114300" cy="5943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8635594" y="2234794"/>
            <a:ext cx="114300" cy="178308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49894" y="2234794"/>
            <a:ext cx="114300" cy="178308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4194" y="2413102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8978494" y="2413102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9092794" y="2381098"/>
            <a:ext cx="114300" cy="32004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07094" y="2381098"/>
            <a:ext cx="114300" cy="32004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321394" y="2413102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9435694" y="2413102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9549994" y="2365553"/>
            <a:ext cx="114300" cy="4754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64294" y="2365553"/>
            <a:ext cx="114300" cy="4754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78594" y="2413102"/>
            <a:ext cx="114300" cy="198425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9892894" y="2413102"/>
            <a:ext cx="114300" cy="198425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10007194" y="2333549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121494" y="2333549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235794" y="2413102"/>
            <a:ext cx="114300" cy="23774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10350094" y="2413102"/>
            <a:ext cx="114300" cy="23774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10464394" y="2274113"/>
            <a:ext cx="114300" cy="13898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578694" y="2274113"/>
            <a:ext cx="114300" cy="13898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692994" y="2413102"/>
            <a:ext cx="114300" cy="3931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10807294" y="2413102"/>
            <a:ext cx="114300" cy="3931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10921594" y="2294230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035894" y="2294230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150194" y="2413102"/>
            <a:ext cx="114300" cy="4754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V="1">
            <a:off x="11264494" y="2413102"/>
            <a:ext cx="114300" cy="4754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96305" y="3206801"/>
            <a:ext cx="1688897" cy="761695"/>
          </a:xfrm>
          <a:prstGeom prst="roundRect">
            <a:avLst>
              <a:gd name="adj" fmla="val 11645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096305" y="3206801"/>
            <a:ext cx="16888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DMA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ms 프레임 수집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7785202" y="3504895"/>
            <a:ext cx="260604" cy="165506"/>
          </a:xfrm>
          <a:prstGeom prst="rightArrow">
            <a:avLst/>
          </a:prstGeom>
          <a:solidFill>
            <a:srgbClr val="B8791F"/>
          </a:solidFill>
          <a:ln/>
        </p:spPr>
      </p:sp>
      <p:sp>
        <p:nvSpPr>
          <p:cNvPr id="57" name="Shape 54"/>
          <p:cNvSpPr/>
          <p:nvPr/>
        </p:nvSpPr>
        <p:spPr>
          <a:xfrm>
            <a:off x="8044891" y="3206801"/>
            <a:ext cx="1688897" cy="761695"/>
          </a:xfrm>
          <a:prstGeom prst="roundRect">
            <a:avLst>
              <a:gd name="adj" fmla="val 11645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044891" y="3206801"/>
            <a:ext cx="16888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MFCC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FFT → 음향 특징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734702" y="3504895"/>
            <a:ext cx="260604" cy="165506"/>
          </a:xfrm>
          <a:prstGeom prst="rightArrow">
            <a:avLst/>
          </a:prstGeom>
          <a:solidFill>
            <a:srgbClr val="B8791F"/>
          </a:solidFill>
          <a:ln/>
        </p:spPr>
      </p:sp>
      <p:sp>
        <p:nvSpPr>
          <p:cNvPr id="60" name="Shape 57"/>
          <p:cNvSpPr/>
          <p:nvPr/>
        </p:nvSpPr>
        <p:spPr>
          <a:xfrm>
            <a:off x="9994392" y="3206801"/>
            <a:ext cx="1688897" cy="761695"/>
          </a:xfrm>
          <a:prstGeom prst="roundRect">
            <a:avLst>
              <a:gd name="adj" fmla="val 11645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994392" y="3206801"/>
            <a:ext cx="16888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CNN 추론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INT8 · 2.7 M MAC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10839298" y="3968496"/>
            <a:ext cx="0" cy="412394"/>
          </a:xfrm>
          <a:prstGeom prst="line">
            <a:avLst/>
          </a:prstGeom>
          <a:noFill/>
          <a:ln w="63500">
            <a:solidFill>
              <a:srgbClr val="B8791F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6096305" y="4444898"/>
            <a:ext cx="5587898" cy="1079906"/>
          </a:xfrm>
          <a:prstGeom prst="roundRect">
            <a:avLst>
              <a:gd name="adj" fmla="val 9399"/>
            </a:avLst>
          </a:prstGeom>
          <a:solidFill>
            <a:srgbClr val="0F1B2D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6235294" y="4533595"/>
            <a:ext cx="3810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결과: 12개 키워드 중 하나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299302" y="4774997"/>
            <a:ext cx="888797" cy="342900"/>
          </a:xfrm>
          <a:prstGeom prst="roundRect">
            <a:avLst>
              <a:gd name="adj" fmla="val 49867"/>
            </a:avLst>
          </a:prstGeom>
          <a:solidFill>
            <a:srgbClr val="E8A33D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6299302" y="4774997"/>
            <a:ext cx="8887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yes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7302398" y="4813402"/>
            <a:ext cx="4317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· up · down · left · right · on · off · stop · go · silence · unknown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6235294" y="5193792"/>
            <a:ext cx="533369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5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동시에 1 kHz 제어 루프 ISR (응답 ≤ 20 µs)가 돌아야 함</a:t>
            </a:r>
            <a:endParaRPr lang="en-US" sz="1250" dirty="0"/>
          </a:p>
        </p:txBody>
      </p:sp>
      <p:sp>
        <p:nvSpPr>
          <p:cNvPr id="69" name="Shape 66"/>
          <p:cNvSpPr/>
          <p:nvPr/>
        </p:nvSpPr>
        <p:spPr>
          <a:xfrm>
            <a:off x="508406" y="5524805"/>
            <a:ext cx="3606394" cy="444398"/>
          </a:xfrm>
          <a:prstGeom prst="roundRect">
            <a:avLst>
              <a:gd name="adj" fmla="val 14198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08406" y="5524805"/>
            <a:ext cx="51206" cy="44439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98602" y="5524805"/>
            <a:ext cx="3289097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배치 — </a:t>
            </a:r>
            <a:pPr algn="l"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가중치 29 KB + 버퍼가 TCM 16 KB에 다 안 들어감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4292194" y="5524805"/>
            <a:ext cx="3606394" cy="444398"/>
          </a:xfrm>
          <a:prstGeom prst="roundRect">
            <a:avLst>
              <a:gd name="adj" fmla="val 14198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292194" y="5524805"/>
            <a:ext cx="51206" cy="444398"/>
          </a:xfrm>
          <a:prstGeom prst="rect">
            <a:avLst/>
          </a:prstGeom>
          <a:solidFill>
            <a:srgbClr val="2FA6A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4483303" y="5524805"/>
            <a:ext cx="3289097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경합 — </a:t>
            </a:r>
            <a:pPr algn="l"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DMA와 CNN이 같은 SRAM 뱅크를 다툼</a:t>
            </a:r>
            <a:endParaRPr lang="en-US" sz="1250" dirty="0"/>
          </a:p>
        </p:txBody>
      </p:sp>
      <p:sp>
        <p:nvSpPr>
          <p:cNvPr id="75" name="Shape 72"/>
          <p:cNvSpPr/>
          <p:nvPr/>
        </p:nvSpPr>
        <p:spPr>
          <a:xfrm>
            <a:off x="8076895" y="5524805"/>
            <a:ext cx="3606394" cy="444398"/>
          </a:xfrm>
          <a:prstGeom prst="roundRect">
            <a:avLst>
              <a:gd name="adj" fmla="val 14198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076895" y="5524805"/>
            <a:ext cx="51206" cy="44439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8267090" y="5524805"/>
            <a:ext cx="3289097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오프로드 — </a:t>
            </a:r>
            <a:pPr algn="l"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가속기는 큰 레이어만 이득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검증 및 결과 — PoC 결과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[헤드라인 — 예) 예산 280에서 AI가 고른 HW+SW가 예산 470의 사람 출발점보다 빠름: 면적 −40%, 같은 성능]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08406" y="1904695"/>
            <a:ext cx="6096305" cy="3301898"/>
          </a:xfrm>
          <a:prstGeom prst="roundRect">
            <a:avLst>
              <a:gd name="adj" fmla="val 307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4762195"/>
            <a:ext cx="5206594" cy="0"/>
          </a:xfrm>
          <a:prstGeom prst="line">
            <a:avLst/>
          </a:prstGeom>
          <a:noFill/>
          <a:ln w="25400">
            <a:solidFill>
              <a:srgbClr val="B3B9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143000" y="2221992"/>
            <a:ext cx="0" cy="2540203"/>
          </a:xfrm>
          <a:prstGeom prst="line">
            <a:avLst/>
          </a:prstGeom>
          <a:noFill/>
          <a:ln w="25400">
            <a:solidFill>
              <a:srgbClr val="B3B9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13102" y="2286000"/>
            <a:ext cx="0" cy="2476195"/>
          </a:xfrm>
          <a:prstGeom prst="line">
            <a:avLst/>
          </a:prstGeom>
          <a:noFill/>
          <a:ln w="25400">
            <a:solidFill>
              <a:srgbClr val="CBD2DC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683203" y="2286000"/>
            <a:ext cx="0" cy="2476195"/>
          </a:xfrm>
          <a:prstGeom prst="line">
            <a:avLst/>
          </a:prstGeom>
          <a:noFill/>
          <a:ln w="25400">
            <a:solidFill>
              <a:srgbClr val="CBD2DC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778094" y="2286000"/>
            <a:ext cx="0" cy="2476195"/>
          </a:xfrm>
          <a:prstGeom prst="line">
            <a:avLst/>
          </a:prstGeom>
          <a:noFill/>
          <a:ln w="25400">
            <a:solidFill>
              <a:srgbClr val="CBD2DC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197303" y="2768803"/>
            <a:ext cx="177394" cy="17739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Shape 10"/>
          <p:cNvSpPr/>
          <p:nvPr/>
        </p:nvSpPr>
        <p:spPr>
          <a:xfrm>
            <a:off x="3467405" y="3403397"/>
            <a:ext cx="177394" cy="17739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Shape 11"/>
          <p:cNvSpPr/>
          <p:nvPr/>
        </p:nvSpPr>
        <p:spPr>
          <a:xfrm>
            <a:off x="5562295" y="4006901"/>
            <a:ext cx="177394" cy="17739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Shape 12"/>
          <p:cNvSpPr/>
          <p:nvPr/>
        </p:nvSpPr>
        <p:spPr>
          <a:xfrm flipV="1">
            <a:off x="1854403" y="2958998"/>
            <a:ext cx="381305" cy="737006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752905" y="3593592"/>
            <a:ext cx="202997" cy="202997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4"/>
          <p:cNvSpPr/>
          <p:nvPr/>
        </p:nvSpPr>
        <p:spPr>
          <a:xfrm flipV="1">
            <a:off x="3060497" y="3593592"/>
            <a:ext cx="444398" cy="737006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958998" y="4229100"/>
            <a:ext cx="202997" cy="202997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Shape 16"/>
          <p:cNvSpPr/>
          <p:nvPr/>
        </p:nvSpPr>
        <p:spPr>
          <a:xfrm flipV="1">
            <a:off x="5169103" y="4190695"/>
            <a:ext cx="431597" cy="418795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067605" y="4507992"/>
            <a:ext cx="202997" cy="202997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Shape 18"/>
          <p:cNvSpPr/>
          <p:nvPr/>
        </p:nvSpPr>
        <p:spPr>
          <a:xfrm flipV="1">
            <a:off x="3060497" y="4095598"/>
            <a:ext cx="2590495" cy="235001"/>
          </a:xfrm>
          <a:prstGeom prst="line">
            <a:avLst/>
          </a:prstGeom>
          <a:noFill/>
          <a:ln w="31750">
            <a:solidFill>
              <a:srgbClr val="1F7F7A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634594" y="201899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추론 cycle ↑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07992" y="495330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면적 (상대) →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2095805" y="4813402"/>
            <a:ext cx="6345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≤170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364992" y="4813402"/>
            <a:ext cx="6345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≤280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60797" y="4813402"/>
            <a:ext cx="6345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≤470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4317797" y="2286000"/>
            <a:ext cx="2158898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사람이 정한 HW + 기본 SW
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879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 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AI가 HW·SW 함께 선택
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F7F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 - 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같은 성능, 면적 −__%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270102" y="2286000"/>
            <a:ext cx="2540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[예시 — 실측으로 교체]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04695"/>
          <a:ext cx="4826203" cy="914400"/>
        </p:xfrm>
        <a:graphic>
          <a:graphicData uri="http://schemas.openxmlformats.org/drawingml/2006/table">
            <a:tbl>
              <a:tblPr/>
              <a:tblGrid>
                <a:gridCol w="1270102"/>
                <a:gridCol w="1206094"/>
                <a:gridCol w="1047902"/>
                <a:gridCol w="1302106"/>
              </a:tblGrid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면적 예산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사람 HW + 기본 SW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· SW만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· HW+SW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≤ 170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[___] 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−__%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−__% · 면적 [___]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≤ 280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[___]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−__%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−__% · 면적 [___]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≤ 470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[___]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−__%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−__% · 면적 [___]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6858000" y="3492094"/>
            <a:ext cx="4826203" cy="825703"/>
          </a:xfrm>
          <a:prstGeom prst="roundRect">
            <a:avLst>
              <a:gd name="adj" fmla="val 9192"/>
            </a:avLst>
          </a:prstGeom>
          <a:solidFill>
            <a:srgbClr val="0F1B2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035394" y="3593592"/>
            <a:ext cx="44448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AI가 실제로 바꾼 HW (예산 ≤280 예시)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7035394" y="3810305"/>
            <a:ext cx="44448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[SRAM 3뱅크 → 2뱅크 · I-cache 4K → 없음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Flash prefetch on · DMA burst 1 → 8]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6858000" y="4507992"/>
            <a:ext cx="1548994" cy="698602"/>
          </a:xfrm>
          <a:prstGeom prst="roundRect">
            <a:avLst>
              <a:gd name="adj" fmla="val 9031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985102" y="4597603"/>
            <a:ext cx="12957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반복 · 소요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6985102" y="4800600"/>
            <a:ext cx="12957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[__]회 · [_]h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8495690" y="4507992"/>
            <a:ext cx="1548994" cy="698602"/>
          </a:xfrm>
          <a:prstGeom prst="roundRect">
            <a:avLst>
              <a:gd name="adj" fmla="val 9031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622792" y="4597603"/>
            <a:ext cx="12957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사람 대비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8622792" y="4800600"/>
            <a:ext cx="12957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[_]일 → [_]h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10134295" y="4507992"/>
            <a:ext cx="1548994" cy="698602"/>
          </a:xfrm>
          <a:prstGeom prst="roundRect">
            <a:avLst>
              <a:gd name="adj" fmla="val 9031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261397" y="4597603"/>
            <a:ext cx="12957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골든 불일치 폐기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10261397" y="4800600"/>
            <a:ext cx="12957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[__] / [__]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508406" y="5397703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신뢰성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모든 점은 출력 bit-exact · ISR ≤ 20 µs · overrun 0 통과. 모델 정합성 99.7%, 추론 커널 TFLite와 bit-exact, 실험마다 git rev·config 해시 기록. 예산 안의 HW 구성은 AI가 선택.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기대효과 · 마무리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실리콘을 기다리지 않습니다. 돌리고, 읽고, 고칩니다.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8406" y="1904695"/>
            <a:ext cx="3606394" cy="3301898"/>
          </a:xfrm>
          <a:prstGeom prst="roundRect">
            <a:avLst>
              <a:gd name="adj" fmla="val 307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8406" y="1904695"/>
            <a:ext cx="3606394" cy="38405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7006" y="2107692"/>
            <a:ext cx="3149194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정성적 효과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7006" y="2514600"/>
            <a:ext cx="3149194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HW-SW 최적화까지 실리콘 전에 — 기존 FPGA·에뮬 흐름 앞에 추가되는 단계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"왜 느린가"에 근거(프로파일·경합 창)로 답함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결정에 면적 비용이 항상 따라붙음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사람은 검토자로, 반복은 AI로 역할 분리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2194" y="1904695"/>
            <a:ext cx="3606394" cy="3301898"/>
          </a:xfrm>
          <a:prstGeom prst="roundRect">
            <a:avLst>
              <a:gd name="adj" fmla="val 307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2194" y="1904695"/>
            <a:ext cx="3606394" cy="38405"/>
          </a:xfrm>
          <a:prstGeom prst="rect">
            <a:avLst/>
          </a:prstGeom>
          <a:solidFill>
            <a:srgbClr val="2FA6A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0794" y="2107692"/>
            <a:ext cx="3149194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정량적 효과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0794" y="2514600"/>
            <a:ext cx="3149194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탐색 시간 [사람 __일 → AI __시간]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추론 cycle [베이스라인 대비 −__%]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같은 성능에 면적 [−__%]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실험 1회 [__초], 하루 [__]회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76895" y="1904695"/>
            <a:ext cx="3606394" cy="3301898"/>
          </a:xfrm>
          <a:prstGeom prst="roundRect">
            <a:avLst>
              <a:gd name="adj" fmla="val 3074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76895" y="1904695"/>
            <a:ext cx="3606394" cy="3840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05495" y="2107692"/>
            <a:ext cx="3149194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교육 · 실무 연계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05495" y="2514600"/>
            <a:ext cx="3149194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[교과목: 컴퓨터구조 · 임베디드 · SoC 설계 — 메모리 계층·버스 경합을 실험으로 체득]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[실무: 신규 SoC 펌웨어 선개발, RTL 파형(WaveScope) 교차 검증에 즉시 적용]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[다음: RISC-V·멀티코어, 실제 프로젝트 워크로드 투입]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08406" y="5587898"/>
            <a:ext cx="5079492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감사합니다 · Q&amp;A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603797" y="5650992"/>
            <a:ext cx="507949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[발표자 이름] · [이메일]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부록 — 요구사항 분석: 기존 수단과의 비교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초 단위 루프에 필요한 것 다섯 가지, 기존 수단은 하나씩 빠져 있습니다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841602"/>
          <a:ext cx="11175797" cy="914400"/>
        </p:xfrm>
        <a:graphic>
          <a:graphicData uri="http://schemas.openxmlformats.org/drawingml/2006/table">
            <a:tbl>
              <a:tblPr/>
              <a:tblGrid>
                <a:gridCol w="3130906"/>
                <a:gridCol w="2012594"/>
                <a:gridCol w="2012594"/>
                <a:gridCol w="2012594"/>
                <a:gridCol w="2006194"/>
              </a:tblGrid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필요한 것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RTL 시뮬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FPGA · 에뮬레이터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기능(LT) 시뮬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이 과제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R1 · SW를 개발할 수 있는 속도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879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✕ 수 KIPS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 50배+ vs RTL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R2 · cycle 수준 정확도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879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✕ 타이밍 없음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 99.7%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R3 · 원인을 보여주는 분석 데이터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△ 파형뿐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△ 프로브·재합성 필요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△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 callgrind + 파형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R4 · HW 구조를 바꿔 볼 수 있음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879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✕ RTL 재작성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879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✕ 재합성 수 시간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△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 config 한 줄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R5 · 반복을 사람 대신 돌릴 수 있음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–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–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–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○ AI 루프 + 사람 검토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08406" y="5016398"/>
            <a:ext cx="10794492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R1~R4를 한 플랫폼이 동시에 만족해야 R5(자동 최적화 루프)가 가능합니다. FPGA·에뮬레이터는 대체 대상이 아니라 루프 결과의 검증 수단(WaveScope). 공개 도구 참고: gem5는 Cortex-M 미지원, GVSoC는 RISC-V 전용, Arm Fast Model은 기능 수준(LT).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부록 — FPGA · 에뮬레이터 대비 반복 실험 적합성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빠르고 정확한 것만으로는 부족합니다 — 보고 바꾸는 한 바퀴가 초 단위여야 루프가 돕니다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8406" y="2031797"/>
            <a:ext cx="6730898" cy="3683203"/>
          </a:xfrm>
          <a:prstGeom prst="roundRect">
            <a:avLst>
              <a:gd name="adj" fmla="val 2756"/>
            </a:avLst>
          </a:prstGeom>
          <a:solidFill>
            <a:srgbClr val="F2F4F7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0102" y="5079492"/>
            <a:ext cx="5587898" cy="0"/>
          </a:xfrm>
          <a:prstGeom prst="line">
            <a:avLst/>
          </a:prstGeom>
          <a:noFill/>
          <a:ln w="31750">
            <a:solidFill>
              <a:srgbClr val="B3B9C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1270102" y="2349094"/>
            <a:ext cx="0" cy="2730398"/>
          </a:xfrm>
          <a:prstGeom prst="line">
            <a:avLst/>
          </a:prstGeom>
          <a:noFill/>
          <a:ln w="31750">
            <a:solidFill>
              <a:srgbClr val="B3B9C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524305" y="2476195"/>
            <a:ext cx="1397203" cy="1397203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24305" y="2476195"/>
            <a:ext cx="1397203" cy="139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TLM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826203" y="2603297"/>
            <a:ext cx="1206094" cy="1206094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26203" y="2603297"/>
            <a:ext cx="1206094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시뮬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06594" y="3873398"/>
            <a:ext cx="1206094" cy="1206094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06594" y="3873398"/>
            <a:ext cx="1206094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FPGA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에뮬레이터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70102" y="3949294"/>
            <a:ext cx="19046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모든 이벤트 관측 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변경 = config 한 줄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063594" y="2361895"/>
            <a:ext cx="2667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파형 전부 · 그러나 느림 · RTL 수정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174797" y="4127602"/>
            <a:ext cx="19046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FPGA·에뮬: 프로브 · 재합성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신호 수 제한 · 장비 공유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174797" y="361919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C-model: HW가 없어 축 밖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397203" y="5460797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초 (config)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810305" y="5460797"/>
            <a:ext cx="3047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구조 변경 1회 → 시간~일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97103" y="2286000"/>
            <a:ext cx="6345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관측 비용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없음 ↑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97103" y="4736592"/>
            <a:ext cx="6345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프로브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재합성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56602" y="2095805"/>
            <a:ext cx="51206" cy="76169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85202" y="2095805"/>
            <a:ext cx="3899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관측성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785202" y="2387498"/>
            <a:ext cx="3899002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프로브·트레이스 IP를 심고 재합성해야 보임. 신호 수 제한, 스톨 원인은 바로 안 나옴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556602" y="3047695"/>
            <a:ext cx="51206" cy="76169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785202" y="3047695"/>
            <a:ext cx="3899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HW 변경 비용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785202" y="3340303"/>
            <a:ext cx="3899002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RTL이 있어야 하고, 구조를 바꾸면 재합성 수 시간. 하루 수백 회 루프에 들어갈 수 없음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556602" y="4000500"/>
            <a:ext cx="51206" cy="76169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85202" y="4000500"/>
            <a:ext cx="3899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가용 시점 · 비용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785202" y="4292194"/>
            <a:ext cx="3899002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RTL이 어느 정도 완성된 뒤에야 가능. 장비가 비싸 여러 실험을 동시에 돌리기 어려움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556602" y="5016398"/>
            <a:ext cx="4127602" cy="698602"/>
          </a:xfrm>
          <a:prstGeom prst="roundRect">
            <a:avLst>
              <a:gd name="adj" fmla="val 10864"/>
            </a:avLst>
          </a:prstGeom>
          <a:solidFill>
            <a:srgbClr val="0F1B2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721194" y="5016398"/>
            <a:ext cx="381030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그래서 경쟁이 아니라 연동: 이들의 파형을 </a:t>
            </a:r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WaveScope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로 가져와 TLM 결과를 검증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2026-09-30T00:33:52Z</dcterms:created>
  <dcterms:modified xsi:type="dcterms:W3CDTF">2026-09-30T00:33:52Z</dcterms:modified>
</cp:coreProperties>
</file>