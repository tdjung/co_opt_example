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</p:sldIdLst>
  <p:notesMasterIdLst>
    <p:notesMasterId r:id="rId14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notesMaster" Target="notesMasters/notesMaster1.xml"/><Relationship Id="rId15" Type="http://schemas.openxmlformats.org/officeDocument/2006/relationships/presProps" Target="presProps.xml"/><Relationship Id="rId16" Type="http://schemas.openxmlformats.org/officeDocument/2006/relationships/viewProps" Target="viewProps.xml"/><Relationship Id="rId17" Type="http://schemas.openxmlformats.org/officeDocument/2006/relationships/theme" Target="theme/theme1.xml"/><Relationship Id="rId18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템플릿의 표지 레이아웃이 따로 있으면 그쪽을 따르고, 이 장은 제목·부제·배지 문구만 옮긴다.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35초. 첫 문장에서 과제 목표(HW·SW 동시 최적화)를 먼저 말하고, 그 조건으로 문제를 제시. 그림의 빈 가운데를 가리키며 '여기가 비어 있었고 TLM이 채운다'.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50초. 왼쪽 그림: 위는 RTL(클럭마다 신호 다 계산), 아래는 TLM(CPU→SRAM 화살표에 +7 cycle 뱃지). 오른쪽 네 줄이 곧 요구사항.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45초. 세 숫자만 말한다. 모델링 범위는 손으로 훑는 정도. gem5/Fast Model 질문: gem5는 Cortex-M 미지원, Fast Model은 LT라 cycle 분석 불가.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60초. 이 장이 과제의 정의. 점선 되돌이 화살표를 가리키며 '실리콘 없이 HW와 SW를 같이 돌리는 루프'. 아래 두 줄이 신뢰 장치.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45초. '시뮬레이터가 callgrind 하나를 내고, AI는 API로, 사람은 GUI로 같은 파일을 본다.' 왼쪽에 30초 무음 자동재생 영상(반복) 권장.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50초. 이번 과제에서 새로 만든 것. '왼쪽 네 곳 어디서 나온 파형이든 오른쪽 같은 표가 된다'.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50초. 오른쪽: '소리가 들어와서 yes라는 답이 나오는 데 몇 cycle 걸리나'가 측정값. 아래 세 칸이 일부러 심은 상충 관계. 면적 예산 3단계(≤170/≤280/≤470), SW 소스 동일.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60초. 회색 점(사람 출발점)→주황 점(AI 도착점) 화살표가 'AI가 HW도 SW도 바꿨다'는 증거. 점선은 헤드라인. 실측 후 그림 교체. 검은 박스의 HW 변경 목록이 co-optimization의 실체.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45초. 정량 칸은 PoC 수치로. 교육·실무 칸의 대괄호는 제안 — 실제 교과목명·적용 프로젝트로 교체.
제목 후보:
1. 실리콘보다 먼저 — Cycle-level 가상 플랫폼과 파형 기반 프로파일러 위에서 AI가 도는 HW-SW Co-Optimization
2. 파형에서 최적화까지 — 실리콘을 기다리지 않는 HW·SW 공동 최적화 루프
3. 돌리고, 읽고, 고친다 — Pre-Silicon 성능 분석 툴체인과 AI Co-Optimization
4. Shift-Left, Close the Loop — 실리콘 없이 완성하는 HW-SW 최적화
5. 실리콘 없이 답하는 세 가지 질문: 얼마나 느린가, 왜 느린가, 어떻게 고치는가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Q&amp;A 대비용. '왜 기존 도구로 안 되나', '왜 gem5 안 썼나'가 오면 이 장을 띄운다.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Q&amp;A용. 'FPGA나 에뮬레이터 쓰면 되지 않나': 빠르고 정확하지만 안이 안 보이고 HW를 바꾸려면 재합성이 필요해서 하루 수백 번 도는 루프에는 맞지 않습니다. 그 파형은 WaveScope로 가져와 검증에 씁니다.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737006"/>
          </a:xfrm>
          <a:prstGeom prst="rect">
            <a:avLst/>
          </a:prstGeom>
          <a:solidFill>
            <a:srgbClr val="111111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508406" y="0"/>
            <a:ext cx="11175797" cy="73700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[System Expert 현업과제 발표] · [조직] · [발표 일자]</a:t>
            </a:r>
            <a:endParaRPr lang="en-US" sz="1600" dirty="0"/>
          </a:p>
        </p:txBody>
      </p:sp>
      <p:sp>
        <p:nvSpPr>
          <p:cNvPr id="4" name="Text 2"/>
          <p:cNvSpPr txBox="1"/>
          <p:nvPr/>
        </p:nvSpPr>
        <p:spPr>
          <a:xfrm>
            <a:off x="508406" y="1270102"/>
            <a:ext cx="7619695" cy="25420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spc="400" kern="0" dirty="0">
                <a:solidFill>
                  <a:srgbClr val="B8791F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PRE-SILICON · MODEL · PROFILE · OPTIMIZE</a:t>
            </a:r>
            <a:endParaRPr lang="en-US" sz="1300" dirty="0"/>
          </a:p>
        </p:txBody>
      </p:sp>
      <p:sp>
        <p:nvSpPr>
          <p:cNvPr id="5" name="Text 3"/>
          <p:cNvSpPr txBox="1"/>
          <p:nvPr/>
        </p:nvSpPr>
        <p:spPr>
          <a:xfrm>
            <a:off x="508406" y="1651406"/>
            <a:ext cx="10159898" cy="95280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6000" b="1" dirty="0">
                <a:solidFill>
                  <a:srgbClr val="0F1B2D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실리콘보다 먼저</a:t>
            </a:r>
            <a:endParaRPr lang="en-US" sz="6000" dirty="0"/>
          </a:p>
        </p:txBody>
      </p:sp>
      <p:sp>
        <p:nvSpPr>
          <p:cNvPr id="6" name="Text 4"/>
          <p:cNvSpPr txBox="1"/>
          <p:nvPr/>
        </p:nvSpPr>
        <p:spPr>
          <a:xfrm>
            <a:off x="508406" y="2730398"/>
            <a:ext cx="10414102" cy="95280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600" dirty="0">
                <a:solidFill>
                  <a:srgbClr val="4A556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실리콘이 나오기 전에, HW 구조와 SW를 AI가 함께 최적화하는</a:t>
            </a:r>
            <a:endParaRPr lang="en-US" sz="2600" dirty="0"/>
          </a:p>
          <a:p>
            <a:pPr algn="l" indent="0" marL="0">
              <a:lnSpc>
                <a:spcPct val="120000"/>
              </a:lnSpc>
              <a:buNone/>
            </a:pPr>
            <a:r>
              <a:rPr lang="en-US" sz="2600" dirty="0">
                <a:solidFill>
                  <a:srgbClr val="4A556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Cycle-level 가상 플랫폼 루프</a:t>
            </a:r>
            <a:endParaRPr lang="en-US" sz="2600" dirty="0"/>
          </a:p>
        </p:txBody>
      </p:sp>
      <p:sp>
        <p:nvSpPr>
          <p:cNvPr id="7" name="Text 5"/>
          <p:cNvSpPr txBox="1"/>
          <p:nvPr/>
        </p:nvSpPr>
        <p:spPr>
          <a:xfrm>
            <a:off x="508406" y="5715000"/>
            <a:ext cx="5715000" cy="27980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0F1B2D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[발표자 이름] · [소속]</a:t>
            </a:r>
            <a:endParaRPr lang="en-US" sz="1600" dirty="0"/>
          </a:p>
        </p:txBody>
      </p:sp>
      <p:sp>
        <p:nvSpPr>
          <p:cNvPr id="8" name="Text 6"/>
          <p:cNvSpPr txBox="1"/>
          <p:nvPr/>
        </p:nvSpPr>
        <p:spPr>
          <a:xfrm>
            <a:off x="508406" y="6032297"/>
            <a:ext cx="5715000" cy="25420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rgbClr val="6B7280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[행사명]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7492594" y="5905195"/>
            <a:ext cx="1206094" cy="355702"/>
          </a:xfrm>
          <a:prstGeom prst="roundRect">
            <a:avLst>
              <a:gd name="adj" fmla="val 49871"/>
            </a:avLst>
          </a:prstGeom>
          <a:solidFill>
            <a:srgbClr val="E8A33D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7492594" y="5905195"/>
            <a:ext cx="1206094" cy="3557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0F1B2D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CM4 TLM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8801100" y="5905195"/>
            <a:ext cx="1904695" cy="355702"/>
          </a:xfrm>
          <a:prstGeom prst="roundRect">
            <a:avLst>
              <a:gd name="adj" fmla="val 49871"/>
            </a:avLst>
          </a:prstGeom>
          <a:solidFill>
            <a:srgbClr val="2FA6A0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8801100" y="5905195"/>
            <a:ext cx="1904695" cy="3557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0F1B2D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Performance Profiler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10807294" y="5905195"/>
            <a:ext cx="875995" cy="355702"/>
          </a:xfrm>
          <a:prstGeom prst="roundRect">
            <a:avLst>
              <a:gd name="adj" fmla="val 49871"/>
            </a:avLst>
          </a:prstGeom>
          <a:solidFill>
            <a:srgbClr val="0F1B2D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10807294" y="5905195"/>
            <a:ext cx="875995" cy="3557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AI Co-Opt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737006"/>
          </a:xfrm>
          <a:prstGeom prst="rect">
            <a:avLst/>
          </a:prstGeom>
          <a:solidFill>
            <a:srgbClr val="111111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508406" y="0"/>
            <a:ext cx="11175797" cy="73700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1. 과제 배경 — 빠르면서 cycle을 아는 시뮬레이터가 필요했다</a:t>
            </a:r>
            <a:endParaRPr lang="en-US" sz="1600" dirty="0"/>
          </a:p>
        </p:txBody>
      </p:sp>
      <p:sp>
        <p:nvSpPr>
          <p:cNvPr id="5" name="Text 2"/>
          <p:cNvSpPr txBox="1"/>
          <p:nvPr/>
        </p:nvSpPr>
        <p:spPr>
          <a:xfrm>
            <a:off x="508406" y="952805"/>
            <a:ext cx="11175797" cy="82570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2300" b="1" dirty="0">
                <a:solidFill>
                  <a:srgbClr val="0F1B2D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실리콘 전에 HW·SW를 같이 최적화하려면 빠르면서 cycle을 아는 시뮬레이터가 필요한데,</a:t>
            </a:r>
            <a:endParaRPr lang="en-US" sz="2300" dirty="0"/>
          </a:p>
          <a:p>
            <a:pPr algn="l" indent="0" marL="0">
              <a:lnSpc>
                <a:spcPct val="110000"/>
              </a:lnSpc>
              <a:buNone/>
            </a:pPr>
            <a:r>
              <a:rPr lang="en-US" sz="2300" b="1" dirty="0">
                <a:solidFill>
                  <a:srgbClr val="0F1B2D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그 자리가 비어 있었습니다</a:t>
            </a:r>
            <a:endParaRPr lang="en-US" sz="2300" dirty="0"/>
          </a:p>
        </p:txBody>
      </p:sp>
      <p:sp>
        <p:nvSpPr>
          <p:cNvPr id="6" name="Shape 3"/>
          <p:cNvSpPr/>
          <p:nvPr/>
        </p:nvSpPr>
        <p:spPr>
          <a:xfrm>
            <a:off x="508406" y="2221992"/>
            <a:ext cx="6730898" cy="3683203"/>
          </a:xfrm>
          <a:prstGeom prst="roundRect">
            <a:avLst>
              <a:gd name="adj" fmla="val 2756"/>
            </a:avLst>
          </a:prstGeom>
          <a:solidFill>
            <a:srgbClr val="F7F6F1"/>
          </a:solidFill>
          <a:ln w="12700">
            <a:solidFill>
              <a:srgbClr val="DDD9CC"/>
            </a:solidFill>
            <a:prstDash val="solid"/>
          </a:ln>
        </p:spPr>
      </p:sp>
      <p:sp>
        <p:nvSpPr>
          <p:cNvPr id="7" name="Shape 4"/>
          <p:cNvSpPr/>
          <p:nvPr/>
        </p:nvSpPr>
        <p:spPr>
          <a:xfrm>
            <a:off x="1270102" y="5524805"/>
            <a:ext cx="5587898" cy="0"/>
          </a:xfrm>
          <a:prstGeom prst="line">
            <a:avLst/>
          </a:prstGeom>
          <a:noFill/>
          <a:ln w="31750">
            <a:solidFill>
              <a:srgbClr val="B8B4A8"/>
            </a:solidFill>
            <a:prstDash val="solid"/>
            <a:tailEnd type="triangle"/>
          </a:ln>
        </p:spPr>
      </p:sp>
      <p:sp>
        <p:nvSpPr>
          <p:cNvPr id="8" name="Shape 5"/>
          <p:cNvSpPr/>
          <p:nvPr/>
        </p:nvSpPr>
        <p:spPr>
          <a:xfrm flipV="1">
            <a:off x="1270102" y="2603297"/>
            <a:ext cx="0" cy="2920594"/>
          </a:xfrm>
          <a:prstGeom prst="line">
            <a:avLst/>
          </a:prstGeom>
          <a:noFill/>
          <a:ln w="31750">
            <a:solidFill>
              <a:srgbClr val="B8B4A8"/>
            </a:solidFill>
            <a:prstDash val="solid"/>
            <a:tailEnd type="triangle"/>
          </a:ln>
        </p:spPr>
      </p:sp>
      <p:sp>
        <p:nvSpPr>
          <p:cNvPr id="9" name="Shape 6"/>
          <p:cNvSpPr/>
          <p:nvPr/>
        </p:nvSpPr>
        <p:spPr>
          <a:xfrm>
            <a:off x="1524305" y="2730398"/>
            <a:ext cx="1270102" cy="1270102"/>
          </a:xfrm>
          <a:prstGeom prst="ellipse">
            <a:avLst/>
          </a:prstGeom>
          <a:solidFill>
            <a:srgbClr val="0F1B2D"/>
          </a:solidFill>
          <a:ln/>
        </p:spPr>
      </p:sp>
      <p:sp>
        <p:nvSpPr>
          <p:cNvPr id="10" name="Shape 7"/>
          <p:cNvSpPr/>
          <p:nvPr/>
        </p:nvSpPr>
        <p:spPr>
          <a:xfrm>
            <a:off x="5397703" y="4317797"/>
            <a:ext cx="1270102" cy="1270102"/>
          </a:xfrm>
          <a:prstGeom prst="ellipse">
            <a:avLst/>
          </a:prstGeom>
          <a:solidFill>
            <a:srgbClr val="0F1B2D"/>
          </a:solidFill>
          <a:ln/>
        </p:spPr>
      </p:sp>
      <p:sp>
        <p:nvSpPr>
          <p:cNvPr id="11" name="Shape 8"/>
          <p:cNvSpPr/>
          <p:nvPr/>
        </p:nvSpPr>
        <p:spPr>
          <a:xfrm>
            <a:off x="3364992" y="3301898"/>
            <a:ext cx="1460297" cy="1460297"/>
          </a:xfrm>
          <a:prstGeom prst="ellipse">
            <a:avLst/>
          </a:prstGeom>
          <a:solidFill>
            <a:srgbClr val="E8A33D"/>
          </a:solidFill>
          <a:ln/>
        </p:spPr>
      </p:sp>
      <p:sp>
        <p:nvSpPr>
          <p:cNvPr id="12" name="Text 9"/>
          <p:cNvSpPr txBox="1"/>
          <p:nvPr/>
        </p:nvSpPr>
        <p:spPr>
          <a:xfrm>
            <a:off x="1524305" y="2730398"/>
            <a:ext cx="1270102" cy="12701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RTL</a:t>
            </a:r>
            <a:endParaRPr lang="en-US" sz="1700" dirty="0"/>
          </a:p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cycle-level</a:t>
            </a:r>
            <a:endParaRPr lang="en-US" sz="1700" dirty="0"/>
          </a:p>
        </p:txBody>
      </p:sp>
      <p:sp>
        <p:nvSpPr>
          <p:cNvPr id="13" name="Text 10"/>
          <p:cNvSpPr txBox="1"/>
          <p:nvPr/>
        </p:nvSpPr>
        <p:spPr>
          <a:xfrm>
            <a:off x="5397703" y="4317797"/>
            <a:ext cx="1270102" cy="12701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C-model</a:t>
            </a:r>
            <a:endParaRPr lang="en-US" sz="1700" dirty="0"/>
          </a:p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알고리즘</a:t>
            </a:r>
            <a:endParaRPr lang="en-US" sz="1700" dirty="0"/>
          </a:p>
        </p:txBody>
      </p:sp>
      <p:sp>
        <p:nvSpPr>
          <p:cNvPr id="14" name="Text 11"/>
          <p:cNvSpPr txBox="1"/>
          <p:nvPr/>
        </p:nvSpPr>
        <p:spPr>
          <a:xfrm>
            <a:off x="3364992" y="3301898"/>
            <a:ext cx="1460297" cy="146029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0F1B2D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TLM</a:t>
            </a:r>
            <a:endParaRPr lang="en-US" sz="2200" dirty="0"/>
          </a:p>
        </p:txBody>
      </p:sp>
      <p:sp>
        <p:nvSpPr>
          <p:cNvPr id="15" name="Text 12"/>
          <p:cNvSpPr txBox="1"/>
          <p:nvPr/>
        </p:nvSpPr>
        <p:spPr>
          <a:xfrm>
            <a:off x="1333195" y="4063594"/>
            <a:ext cx="1651406" cy="44439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rgbClr val="4A556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수 KIPS</a:t>
            </a:r>
            <a:endParaRPr lang="en-US" sz="1200" dirty="0"/>
          </a:p>
          <a:p>
            <a:pPr algn="ctr" indent="0" marL="0">
              <a:buNone/>
            </a:pPr>
            <a:r>
              <a:rPr lang="en-US" sz="1200" dirty="0">
                <a:solidFill>
                  <a:srgbClr val="4A556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앱 동작을 볼 수 없음</a:t>
            </a:r>
            <a:endParaRPr lang="en-US" sz="1200" dirty="0"/>
          </a:p>
        </p:txBody>
      </p:sp>
      <p:sp>
        <p:nvSpPr>
          <p:cNvPr id="16" name="Text 13"/>
          <p:cNvSpPr txBox="1"/>
          <p:nvPr/>
        </p:nvSpPr>
        <p:spPr>
          <a:xfrm>
            <a:off x="5206594" y="3886200"/>
            <a:ext cx="1651406" cy="44439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rgbClr val="4A556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HW 특성 없음</a:t>
            </a:r>
            <a:endParaRPr lang="en-US" sz="1200" dirty="0"/>
          </a:p>
          <a:p>
            <a:pPr algn="ctr" indent="0" marL="0">
              <a:buNone/>
            </a:pPr>
            <a:r>
              <a:rPr lang="en-US" sz="1200" dirty="0">
                <a:solidFill>
                  <a:srgbClr val="4A556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성능을 볼 수 없음</a:t>
            </a:r>
            <a:endParaRPr lang="en-US" sz="1200" dirty="0"/>
          </a:p>
        </p:txBody>
      </p:sp>
      <p:sp>
        <p:nvSpPr>
          <p:cNvPr id="17" name="Text 14"/>
          <p:cNvSpPr txBox="1"/>
          <p:nvPr/>
        </p:nvSpPr>
        <p:spPr>
          <a:xfrm>
            <a:off x="3047695" y="4839005"/>
            <a:ext cx="2095805" cy="44439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B8791F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수십~수백 배 빠르면서</a:t>
            </a:r>
            <a:endParaRPr lang="en-US" sz="1300" dirty="0"/>
          </a:p>
          <a:p>
            <a:pPr algn="ctr" indent="0" marL="0">
              <a:buNone/>
            </a:pPr>
            <a:r>
              <a:rPr lang="en-US" sz="1300" b="1" dirty="0">
                <a:solidFill>
                  <a:srgbClr val="B8791F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cycle을 안다</a:t>
            </a:r>
            <a:endParaRPr lang="en-US" sz="1300" dirty="0"/>
          </a:p>
        </p:txBody>
      </p:sp>
      <p:sp>
        <p:nvSpPr>
          <p:cNvPr id="18" name="Text 15"/>
          <p:cNvSpPr txBox="1"/>
          <p:nvPr/>
        </p:nvSpPr>
        <p:spPr>
          <a:xfrm>
            <a:off x="1397203" y="5600700"/>
            <a:ext cx="1270102" cy="21579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6B7280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느림</a:t>
            </a:r>
            <a:endParaRPr lang="en-US" sz="1200" dirty="0"/>
          </a:p>
        </p:txBody>
      </p:sp>
      <p:sp>
        <p:nvSpPr>
          <p:cNvPr id="19" name="Text 16"/>
          <p:cNvSpPr txBox="1"/>
          <p:nvPr/>
        </p:nvSpPr>
        <p:spPr>
          <a:xfrm>
            <a:off x="4699102" y="5600700"/>
            <a:ext cx="2158898" cy="21579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200" dirty="0">
                <a:solidFill>
                  <a:srgbClr val="6B7280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시뮬레이션 속도 → 빠름</a:t>
            </a:r>
            <a:endParaRPr lang="en-US" sz="1200" dirty="0"/>
          </a:p>
        </p:txBody>
      </p:sp>
      <p:sp>
        <p:nvSpPr>
          <p:cNvPr id="20" name="Text 17"/>
          <p:cNvSpPr txBox="1"/>
          <p:nvPr/>
        </p:nvSpPr>
        <p:spPr>
          <a:xfrm>
            <a:off x="634594" y="2540203"/>
            <a:ext cx="609905" cy="21579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200" dirty="0">
                <a:solidFill>
                  <a:srgbClr val="6B7280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정확</a:t>
            </a:r>
            <a:endParaRPr lang="en-US" sz="1200" dirty="0"/>
          </a:p>
        </p:txBody>
      </p:sp>
      <p:sp>
        <p:nvSpPr>
          <p:cNvPr id="21" name="Text 18"/>
          <p:cNvSpPr txBox="1"/>
          <p:nvPr/>
        </p:nvSpPr>
        <p:spPr>
          <a:xfrm>
            <a:off x="634594" y="5206594"/>
            <a:ext cx="609905" cy="21579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200" dirty="0">
                <a:solidFill>
                  <a:srgbClr val="6B7280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HW 없음</a:t>
            </a:r>
            <a:endParaRPr lang="en-US" sz="1200" dirty="0"/>
          </a:p>
        </p:txBody>
      </p:sp>
      <p:sp>
        <p:nvSpPr>
          <p:cNvPr id="22" name="Shape 19"/>
          <p:cNvSpPr/>
          <p:nvPr/>
        </p:nvSpPr>
        <p:spPr>
          <a:xfrm>
            <a:off x="7556602" y="2603297"/>
            <a:ext cx="51206" cy="825703"/>
          </a:xfrm>
          <a:prstGeom prst="rect">
            <a:avLst/>
          </a:prstGeom>
          <a:solidFill>
            <a:srgbClr val="0F1B2D"/>
          </a:solidFill>
          <a:ln/>
        </p:spPr>
      </p:sp>
      <p:sp>
        <p:nvSpPr>
          <p:cNvPr id="23" name="Text 20"/>
          <p:cNvSpPr txBox="1"/>
          <p:nvPr/>
        </p:nvSpPr>
        <p:spPr>
          <a:xfrm>
            <a:off x="7759598" y="2603297"/>
            <a:ext cx="3924605" cy="29169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0F1B2D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RTL 시뮬레이션</a:t>
            </a:r>
            <a:endParaRPr lang="en-US" sz="1800" dirty="0"/>
          </a:p>
        </p:txBody>
      </p:sp>
      <p:sp>
        <p:nvSpPr>
          <p:cNvPr id="24" name="Text 21"/>
          <p:cNvSpPr txBox="1"/>
          <p:nvPr/>
        </p:nvSpPr>
        <p:spPr>
          <a:xfrm>
            <a:off x="7759598" y="2933395"/>
            <a:ext cx="3924605" cy="50840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400" dirty="0">
                <a:solidFill>
                  <a:srgbClr val="4A556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정확하지만 너무 느려 애플리케이션 동작을 제대로 보기 어렵다</a:t>
            </a:r>
            <a:endParaRPr lang="en-US" sz="1400" dirty="0"/>
          </a:p>
        </p:txBody>
      </p:sp>
      <p:sp>
        <p:nvSpPr>
          <p:cNvPr id="25" name="Shape 22"/>
          <p:cNvSpPr/>
          <p:nvPr/>
        </p:nvSpPr>
        <p:spPr>
          <a:xfrm>
            <a:off x="7556602" y="3651199"/>
            <a:ext cx="51206" cy="825703"/>
          </a:xfrm>
          <a:prstGeom prst="rect">
            <a:avLst/>
          </a:prstGeom>
          <a:solidFill>
            <a:srgbClr val="0F1B2D"/>
          </a:solidFill>
          <a:ln/>
        </p:spPr>
      </p:sp>
      <p:sp>
        <p:nvSpPr>
          <p:cNvPr id="26" name="Text 23"/>
          <p:cNvSpPr txBox="1"/>
          <p:nvPr/>
        </p:nvSpPr>
        <p:spPr>
          <a:xfrm>
            <a:off x="7759598" y="3651199"/>
            <a:ext cx="3924605" cy="29169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0F1B2D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C-model</a:t>
            </a:r>
            <a:endParaRPr lang="en-US" sz="1800" dirty="0"/>
          </a:p>
        </p:txBody>
      </p:sp>
      <p:sp>
        <p:nvSpPr>
          <p:cNvPr id="27" name="Text 24"/>
          <p:cNvSpPr txBox="1"/>
          <p:nvPr/>
        </p:nvSpPr>
        <p:spPr>
          <a:xfrm>
            <a:off x="7759598" y="3981298"/>
            <a:ext cx="3924605" cy="50840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400" dirty="0">
                <a:solidFill>
                  <a:srgbClr val="4A556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알고리즘만 있고 하드웨어 특성이 없어 성능을 볼 수 없다</a:t>
            </a:r>
            <a:endParaRPr lang="en-US" sz="1400" dirty="0"/>
          </a:p>
        </p:txBody>
      </p:sp>
      <p:sp>
        <p:nvSpPr>
          <p:cNvPr id="28" name="Shape 25"/>
          <p:cNvSpPr/>
          <p:nvPr/>
        </p:nvSpPr>
        <p:spPr>
          <a:xfrm>
            <a:off x="7556602" y="4699102"/>
            <a:ext cx="51206" cy="825703"/>
          </a:xfrm>
          <a:prstGeom prst="rect">
            <a:avLst/>
          </a:prstGeom>
          <a:solidFill>
            <a:srgbClr val="E8A33D"/>
          </a:solidFill>
          <a:ln/>
        </p:spPr>
      </p:sp>
      <p:sp>
        <p:nvSpPr>
          <p:cNvPr id="29" name="Text 26"/>
          <p:cNvSpPr txBox="1"/>
          <p:nvPr/>
        </p:nvSpPr>
        <p:spPr>
          <a:xfrm>
            <a:off x="7759598" y="4699102"/>
            <a:ext cx="3924605" cy="29169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B8791F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TLM 모델</a:t>
            </a:r>
            <a:endParaRPr lang="en-US" sz="1800" dirty="0"/>
          </a:p>
        </p:txBody>
      </p:sp>
      <p:sp>
        <p:nvSpPr>
          <p:cNvPr id="30" name="Text 27"/>
          <p:cNvSpPr txBox="1"/>
          <p:nvPr/>
        </p:nvSpPr>
        <p:spPr>
          <a:xfrm>
            <a:off x="7759598" y="5029200"/>
            <a:ext cx="3924605" cy="50840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400" dirty="0">
                <a:solidFill>
                  <a:srgbClr val="4A556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그 사이를 메운다 — 실리콘 전에 SW를 개발하면서 성능까지 본다</a:t>
            </a:r>
            <a:endParaRPr lang="en-US" sz="14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737006"/>
          </a:xfrm>
          <a:prstGeom prst="rect">
            <a:avLst/>
          </a:prstGeom>
          <a:solidFill>
            <a:srgbClr val="111111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508406" y="0"/>
            <a:ext cx="11175797" cy="73700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1. 과제 배경 — TLM 모델이란</a:t>
            </a:r>
            <a:endParaRPr lang="en-US" sz="1600" dirty="0"/>
          </a:p>
        </p:txBody>
      </p:sp>
      <p:sp>
        <p:nvSpPr>
          <p:cNvPr id="5" name="Text 2"/>
          <p:cNvSpPr txBox="1"/>
          <p:nvPr/>
        </p:nvSpPr>
        <p:spPr>
          <a:xfrm>
            <a:off x="508406" y="1015898"/>
            <a:ext cx="11175797" cy="50840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3000" b="1" dirty="0">
                <a:solidFill>
                  <a:srgbClr val="0F1B2D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신호를 흉내 내지 않고, 트랜잭션에 시간을 붙입니다</a:t>
            </a:r>
            <a:endParaRPr lang="en-US" sz="3000" dirty="0"/>
          </a:p>
        </p:txBody>
      </p:sp>
      <p:sp>
        <p:nvSpPr>
          <p:cNvPr id="6" name="Shape 3"/>
          <p:cNvSpPr/>
          <p:nvPr/>
        </p:nvSpPr>
        <p:spPr>
          <a:xfrm>
            <a:off x="508406" y="1841602"/>
            <a:ext cx="6349594" cy="3936492"/>
          </a:xfrm>
          <a:prstGeom prst="roundRect">
            <a:avLst>
              <a:gd name="adj" fmla="val 2578"/>
            </a:avLst>
          </a:prstGeom>
          <a:solidFill>
            <a:srgbClr val="0F1B2D"/>
          </a:solidFill>
          <a:ln/>
        </p:spPr>
      </p:sp>
      <p:sp>
        <p:nvSpPr>
          <p:cNvPr id="7" name="Text 4"/>
          <p:cNvSpPr txBox="1"/>
          <p:nvPr/>
        </p:nvSpPr>
        <p:spPr>
          <a:xfrm>
            <a:off x="737006" y="1994306"/>
            <a:ext cx="3810305" cy="21579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8FA3B8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RTL · 클럭마다 모든 신호를 계산</a:t>
            </a:r>
            <a:endParaRPr lang="en-US" sz="1200" dirty="0"/>
          </a:p>
        </p:txBody>
      </p:sp>
      <p:sp>
        <p:nvSpPr>
          <p:cNvPr id="8" name="Text 5"/>
          <p:cNvSpPr txBox="1"/>
          <p:nvPr/>
        </p:nvSpPr>
        <p:spPr>
          <a:xfrm>
            <a:off x="952805" y="2298802"/>
            <a:ext cx="888797" cy="21579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5F7390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clk</a:t>
            </a:r>
            <a:endParaRPr lang="en-US" sz="1200" dirty="0"/>
          </a:p>
        </p:txBody>
      </p:sp>
      <p:sp>
        <p:nvSpPr>
          <p:cNvPr id="9" name="Text 6"/>
          <p:cNvSpPr txBox="1"/>
          <p:nvPr/>
        </p:nvSpPr>
        <p:spPr>
          <a:xfrm>
            <a:off x="952805" y="2628900"/>
            <a:ext cx="888797" cy="21579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5F7390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HADDR</a:t>
            </a:r>
            <a:endParaRPr lang="en-US" sz="1200" dirty="0"/>
          </a:p>
        </p:txBody>
      </p:sp>
      <p:sp>
        <p:nvSpPr>
          <p:cNvPr id="10" name="Text 7"/>
          <p:cNvSpPr txBox="1"/>
          <p:nvPr/>
        </p:nvSpPr>
        <p:spPr>
          <a:xfrm>
            <a:off x="952805" y="2958998"/>
            <a:ext cx="888797" cy="21579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5F7390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HWDATA</a:t>
            </a:r>
            <a:endParaRPr lang="en-US" sz="1200" dirty="0"/>
          </a:p>
        </p:txBody>
      </p:sp>
      <p:sp>
        <p:nvSpPr>
          <p:cNvPr id="11" name="Text 8"/>
          <p:cNvSpPr txBox="1"/>
          <p:nvPr/>
        </p:nvSpPr>
        <p:spPr>
          <a:xfrm>
            <a:off x="952805" y="3289097"/>
            <a:ext cx="888797" cy="21579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5F7390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HREADY</a:t>
            </a:r>
            <a:endParaRPr lang="en-US" sz="1200" dirty="0"/>
          </a:p>
        </p:txBody>
      </p:sp>
      <p:sp>
        <p:nvSpPr>
          <p:cNvPr id="12" name="Shape 9"/>
          <p:cNvSpPr/>
          <p:nvPr/>
        </p:nvSpPr>
        <p:spPr>
          <a:xfrm>
            <a:off x="1841602" y="2286000"/>
            <a:ext cx="215798" cy="0"/>
          </a:xfrm>
          <a:prstGeom prst="line">
            <a:avLst/>
          </a:prstGeom>
          <a:noFill/>
          <a:ln w="31750">
            <a:solidFill>
              <a:srgbClr val="8FA3B8"/>
            </a:solidFill>
            <a:prstDash val="solid"/>
          </a:ln>
        </p:spPr>
      </p:sp>
      <p:sp>
        <p:nvSpPr>
          <p:cNvPr id="13" name="Shape 10"/>
          <p:cNvSpPr/>
          <p:nvPr/>
        </p:nvSpPr>
        <p:spPr>
          <a:xfrm>
            <a:off x="2057400" y="2286000"/>
            <a:ext cx="0" cy="139903"/>
          </a:xfrm>
          <a:prstGeom prst="line">
            <a:avLst/>
          </a:prstGeom>
          <a:noFill/>
          <a:ln w="31750">
            <a:solidFill>
              <a:srgbClr val="8FA3B8"/>
            </a:solidFill>
            <a:prstDash val="solid"/>
          </a:ln>
        </p:spPr>
      </p:sp>
      <p:sp>
        <p:nvSpPr>
          <p:cNvPr id="14" name="Shape 11"/>
          <p:cNvSpPr/>
          <p:nvPr/>
        </p:nvSpPr>
        <p:spPr>
          <a:xfrm>
            <a:off x="2057400" y="2425903"/>
            <a:ext cx="215798" cy="0"/>
          </a:xfrm>
          <a:prstGeom prst="line">
            <a:avLst/>
          </a:prstGeom>
          <a:noFill/>
          <a:ln w="31750">
            <a:solidFill>
              <a:srgbClr val="8FA3B8"/>
            </a:solidFill>
            <a:prstDash val="solid"/>
          </a:ln>
        </p:spPr>
      </p:sp>
      <p:sp>
        <p:nvSpPr>
          <p:cNvPr id="15" name="Shape 12"/>
          <p:cNvSpPr/>
          <p:nvPr/>
        </p:nvSpPr>
        <p:spPr>
          <a:xfrm>
            <a:off x="2273198" y="2286000"/>
            <a:ext cx="0" cy="139903"/>
          </a:xfrm>
          <a:prstGeom prst="line">
            <a:avLst/>
          </a:prstGeom>
          <a:noFill/>
          <a:ln w="31750">
            <a:solidFill>
              <a:srgbClr val="8FA3B8"/>
            </a:solidFill>
            <a:prstDash val="solid"/>
          </a:ln>
        </p:spPr>
      </p:sp>
      <p:sp>
        <p:nvSpPr>
          <p:cNvPr id="16" name="Shape 13"/>
          <p:cNvSpPr/>
          <p:nvPr/>
        </p:nvSpPr>
        <p:spPr>
          <a:xfrm>
            <a:off x="2273198" y="2286000"/>
            <a:ext cx="215798" cy="0"/>
          </a:xfrm>
          <a:prstGeom prst="line">
            <a:avLst/>
          </a:prstGeom>
          <a:noFill/>
          <a:ln w="31750">
            <a:solidFill>
              <a:srgbClr val="8FA3B8"/>
            </a:solidFill>
            <a:prstDash val="solid"/>
          </a:ln>
        </p:spPr>
      </p:sp>
      <p:sp>
        <p:nvSpPr>
          <p:cNvPr id="17" name="Shape 14"/>
          <p:cNvSpPr/>
          <p:nvPr/>
        </p:nvSpPr>
        <p:spPr>
          <a:xfrm>
            <a:off x="2488997" y="2286000"/>
            <a:ext cx="0" cy="139903"/>
          </a:xfrm>
          <a:prstGeom prst="line">
            <a:avLst/>
          </a:prstGeom>
          <a:noFill/>
          <a:ln w="31750">
            <a:solidFill>
              <a:srgbClr val="8FA3B8"/>
            </a:solidFill>
            <a:prstDash val="solid"/>
          </a:ln>
        </p:spPr>
      </p:sp>
      <p:sp>
        <p:nvSpPr>
          <p:cNvPr id="18" name="Shape 15"/>
          <p:cNvSpPr/>
          <p:nvPr/>
        </p:nvSpPr>
        <p:spPr>
          <a:xfrm>
            <a:off x="2488997" y="2425903"/>
            <a:ext cx="215798" cy="0"/>
          </a:xfrm>
          <a:prstGeom prst="line">
            <a:avLst/>
          </a:prstGeom>
          <a:noFill/>
          <a:ln w="31750">
            <a:solidFill>
              <a:srgbClr val="8FA3B8"/>
            </a:solidFill>
            <a:prstDash val="solid"/>
          </a:ln>
        </p:spPr>
      </p:sp>
      <p:sp>
        <p:nvSpPr>
          <p:cNvPr id="19" name="Shape 16"/>
          <p:cNvSpPr/>
          <p:nvPr/>
        </p:nvSpPr>
        <p:spPr>
          <a:xfrm>
            <a:off x="2704795" y="2286000"/>
            <a:ext cx="0" cy="139903"/>
          </a:xfrm>
          <a:prstGeom prst="line">
            <a:avLst/>
          </a:prstGeom>
          <a:noFill/>
          <a:ln w="31750">
            <a:solidFill>
              <a:srgbClr val="8FA3B8"/>
            </a:solidFill>
            <a:prstDash val="solid"/>
          </a:ln>
        </p:spPr>
      </p:sp>
      <p:sp>
        <p:nvSpPr>
          <p:cNvPr id="20" name="Shape 17"/>
          <p:cNvSpPr/>
          <p:nvPr/>
        </p:nvSpPr>
        <p:spPr>
          <a:xfrm>
            <a:off x="2704795" y="2286000"/>
            <a:ext cx="215798" cy="0"/>
          </a:xfrm>
          <a:prstGeom prst="line">
            <a:avLst/>
          </a:prstGeom>
          <a:noFill/>
          <a:ln w="31750">
            <a:solidFill>
              <a:srgbClr val="8FA3B8"/>
            </a:solidFill>
            <a:prstDash val="solid"/>
          </a:ln>
        </p:spPr>
      </p:sp>
      <p:sp>
        <p:nvSpPr>
          <p:cNvPr id="21" name="Shape 18"/>
          <p:cNvSpPr/>
          <p:nvPr/>
        </p:nvSpPr>
        <p:spPr>
          <a:xfrm>
            <a:off x="2920594" y="2286000"/>
            <a:ext cx="0" cy="139903"/>
          </a:xfrm>
          <a:prstGeom prst="line">
            <a:avLst/>
          </a:prstGeom>
          <a:noFill/>
          <a:ln w="31750">
            <a:solidFill>
              <a:srgbClr val="8FA3B8"/>
            </a:solidFill>
            <a:prstDash val="solid"/>
          </a:ln>
        </p:spPr>
      </p:sp>
      <p:sp>
        <p:nvSpPr>
          <p:cNvPr id="22" name="Shape 19"/>
          <p:cNvSpPr/>
          <p:nvPr/>
        </p:nvSpPr>
        <p:spPr>
          <a:xfrm>
            <a:off x="2920594" y="2425903"/>
            <a:ext cx="215798" cy="0"/>
          </a:xfrm>
          <a:prstGeom prst="line">
            <a:avLst/>
          </a:prstGeom>
          <a:noFill/>
          <a:ln w="31750">
            <a:solidFill>
              <a:srgbClr val="8FA3B8"/>
            </a:solidFill>
            <a:prstDash val="solid"/>
          </a:ln>
        </p:spPr>
      </p:sp>
      <p:sp>
        <p:nvSpPr>
          <p:cNvPr id="23" name="Shape 20"/>
          <p:cNvSpPr/>
          <p:nvPr/>
        </p:nvSpPr>
        <p:spPr>
          <a:xfrm>
            <a:off x="3136392" y="2286000"/>
            <a:ext cx="0" cy="139903"/>
          </a:xfrm>
          <a:prstGeom prst="line">
            <a:avLst/>
          </a:prstGeom>
          <a:noFill/>
          <a:ln w="31750">
            <a:solidFill>
              <a:srgbClr val="8FA3B8"/>
            </a:solidFill>
            <a:prstDash val="solid"/>
          </a:ln>
        </p:spPr>
      </p:sp>
      <p:sp>
        <p:nvSpPr>
          <p:cNvPr id="24" name="Shape 21"/>
          <p:cNvSpPr/>
          <p:nvPr/>
        </p:nvSpPr>
        <p:spPr>
          <a:xfrm>
            <a:off x="3136392" y="2286000"/>
            <a:ext cx="215798" cy="0"/>
          </a:xfrm>
          <a:prstGeom prst="line">
            <a:avLst/>
          </a:prstGeom>
          <a:noFill/>
          <a:ln w="31750">
            <a:solidFill>
              <a:srgbClr val="8FA3B8"/>
            </a:solidFill>
            <a:prstDash val="solid"/>
          </a:ln>
        </p:spPr>
      </p:sp>
      <p:sp>
        <p:nvSpPr>
          <p:cNvPr id="25" name="Shape 22"/>
          <p:cNvSpPr/>
          <p:nvPr/>
        </p:nvSpPr>
        <p:spPr>
          <a:xfrm>
            <a:off x="3353105" y="2286000"/>
            <a:ext cx="0" cy="139903"/>
          </a:xfrm>
          <a:prstGeom prst="line">
            <a:avLst/>
          </a:prstGeom>
          <a:noFill/>
          <a:ln w="31750">
            <a:solidFill>
              <a:srgbClr val="8FA3B8"/>
            </a:solidFill>
            <a:prstDash val="solid"/>
          </a:ln>
        </p:spPr>
      </p:sp>
      <p:sp>
        <p:nvSpPr>
          <p:cNvPr id="26" name="Shape 23"/>
          <p:cNvSpPr/>
          <p:nvPr/>
        </p:nvSpPr>
        <p:spPr>
          <a:xfrm>
            <a:off x="3353105" y="2425903"/>
            <a:ext cx="215798" cy="0"/>
          </a:xfrm>
          <a:prstGeom prst="line">
            <a:avLst/>
          </a:prstGeom>
          <a:noFill/>
          <a:ln w="31750">
            <a:solidFill>
              <a:srgbClr val="8FA3B8"/>
            </a:solidFill>
            <a:prstDash val="solid"/>
          </a:ln>
        </p:spPr>
      </p:sp>
      <p:sp>
        <p:nvSpPr>
          <p:cNvPr id="27" name="Shape 24"/>
          <p:cNvSpPr/>
          <p:nvPr/>
        </p:nvSpPr>
        <p:spPr>
          <a:xfrm>
            <a:off x="3568903" y="2286000"/>
            <a:ext cx="0" cy="139903"/>
          </a:xfrm>
          <a:prstGeom prst="line">
            <a:avLst/>
          </a:prstGeom>
          <a:noFill/>
          <a:ln w="31750">
            <a:solidFill>
              <a:srgbClr val="8FA3B8"/>
            </a:solidFill>
            <a:prstDash val="solid"/>
          </a:ln>
        </p:spPr>
      </p:sp>
      <p:sp>
        <p:nvSpPr>
          <p:cNvPr id="28" name="Shape 25"/>
          <p:cNvSpPr/>
          <p:nvPr/>
        </p:nvSpPr>
        <p:spPr>
          <a:xfrm>
            <a:off x="3568903" y="2286000"/>
            <a:ext cx="215798" cy="0"/>
          </a:xfrm>
          <a:prstGeom prst="line">
            <a:avLst/>
          </a:prstGeom>
          <a:noFill/>
          <a:ln w="31750">
            <a:solidFill>
              <a:srgbClr val="8FA3B8"/>
            </a:solidFill>
            <a:prstDash val="solid"/>
          </a:ln>
        </p:spPr>
      </p:sp>
      <p:sp>
        <p:nvSpPr>
          <p:cNvPr id="29" name="Shape 26"/>
          <p:cNvSpPr/>
          <p:nvPr/>
        </p:nvSpPr>
        <p:spPr>
          <a:xfrm>
            <a:off x="3784702" y="2286000"/>
            <a:ext cx="0" cy="139903"/>
          </a:xfrm>
          <a:prstGeom prst="line">
            <a:avLst/>
          </a:prstGeom>
          <a:noFill/>
          <a:ln w="31750">
            <a:solidFill>
              <a:srgbClr val="8FA3B8"/>
            </a:solidFill>
            <a:prstDash val="solid"/>
          </a:ln>
        </p:spPr>
      </p:sp>
      <p:sp>
        <p:nvSpPr>
          <p:cNvPr id="30" name="Shape 27"/>
          <p:cNvSpPr/>
          <p:nvPr/>
        </p:nvSpPr>
        <p:spPr>
          <a:xfrm>
            <a:off x="3784702" y="2425903"/>
            <a:ext cx="215798" cy="0"/>
          </a:xfrm>
          <a:prstGeom prst="line">
            <a:avLst/>
          </a:prstGeom>
          <a:noFill/>
          <a:ln w="31750">
            <a:solidFill>
              <a:srgbClr val="8FA3B8"/>
            </a:solidFill>
            <a:prstDash val="solid"/>
          </a:ln>
        </p:spPr>
      </p:sp>
      <p:sp>
        <p:nvSpPr>
          <p:cNvPr id="31" name="Shape 28"/>
          <p:cNvSpPr/>
          <p:nvPr/>
        </p:nvSpPr>
        <p:spPr>
          <a:xfrm>
            <a:off x="4000500" y="2286000"/>
            <a:ext cx="0" cy="139903"/>
          </a:xfrm>
          <a:prstGeom prst="line">
            <a:avLst/>
          </a:prstGeom>
          <a:noFill/>
          <a:ln w="31750">
            <a:solidFill>
              <a:srgbClr val="8FA3B8"/>
            </a:solidFill>
            <a:prstDash val="solid"/>
          </a:ln>
        </p:spPr>
      </p:sp>
      <p:sp>
        <p:nvSpPr>
          <p:cNvPr id="32" name="Shape 29"/>
          <p:cNvSpPr/>
          <p:nvPr/>
        </p:nvSpPr>
        <p:spPr>
          <a:xfrm>
            <a:off x="4000500" y="2286000"/>
            <a:ext cx="215798" cy="0"/>
          </a:xfrm>
          <a:prstGeom prst="line">
            <a:avLst/>
          </a:prstGeom>
          <a:noFill/>
          <a:ln w="31750">
            <a:solidFill>
              <a:srgbClr val="8FA3B8"/>
            </a:solidFill>
            <a:prstDash val="solid"/>
          </a:ln>
        </p:spPr>
      </p:sp>
      <p:sp>
        <p:nvSpPr>
          <p:cNvPr id="33" name="Shape 30"/>
          <p:cNvSpPr/>
          <p:nvPr/>
        </p:nvSpPr>
        <p:spPr>
          <a:xfrm>
            <a:off x="4216298" y="2286000"/>
            <a:ext cx="0" cy="139903"/>
          </a:xfrm>
          <a:prstGeom prst="line">
            <a:avLst/>
          </a:prstGeom>
          <a:noFill/>
          <a:ln w="31750">
            <a:solidFill>
              <a:srgbClr val="8FA3B8"/>
            </a:solidFill>
            <a:prstDash val="solid"/>
          </a:ln>
        </p:spPr>
      </p:sp>
      <p:sp>
        <p:nvSpPr>
          <p:cNvPr id="34" name="Shape 31"/>
          <p:cNvSpPr/>
          <p:nvPr/>
        </p:nvSpPr>
        <p:spPr>
          <a:xfrm>
            <a:off x="4216298" y="2425903"/>
            <a:ext cx="215798" cy="0"/>
          </a:xfrm>
          <a:prstGeom prst="line">
            <a:avLst/>
          </a:prstGeom>
          <a:noFill/>
          <a:ln w="31750">
            <a:solidFill>
              <a:srgbClr val="8FA3B8"/>
            </a:solidFill>
            <a:prstDash val="solid"/>
          </a:ln>
        </p:spPr>
      </p:sp>
      <p:sp>
        <p:nvSpPr>
          <p:cNvPr id="35" name="Shape 32"/>
          <p:cNvSpPr/>
          <p:nvPr/>
        </p:nvSpPr>
        <p:spPr>
          <a:xfrm>
            <a:off x="4432097" y="2286000"/>
            <a:ext cx="0" cy="139903"/>
          </a:xfrm>
          <a:prstGeom prst="line">
            <a:avLst/>
          </a:prstGeom>
          <a:noFill/>
          <a:ln w="31750">
            <a:solidFill>
              <a:srgbClr val="8FA3B8"/>
            </a:solidFill>
            <a:prstDash val="solid"/>
          </a:ln>
        </p:spPr>
      </p:sp>
      <p:sp>
        <p:nvSpPr>
          <p:cNvPr id="36" name="Shape 33"/>
          <p:cNvSpPr/>
          <p:nvPr/>
        </p:nvSpPr>
        <p:spPr>
          <a:xfrm>
            <a:off x="4432097" y="2286000"/>
            <a:ext cx="215798" cy="0"/>
          </a:xfrm>
          <a:prstGeom prst="line">
            <a:avLst/>
          </a:prstGeom>
          <a:noFill/>
          <a:ln w="31750">
            <a:solidFill>
              <a:srgbClr val="8FA3B8"/>
            </a:solidFill>
            <a:prstDash val="solid"/>
          </a:ln>
        </p:spPr>
      </p:sp>
      <p:sp>
        <p:nvSpPr>
          <p:cNvPr id="37" name="Shape 34"/>
          <p:cNvSpPr/>
          <p:nvPr/>
        </p:nvSpPr>
        <p:spPr>
          <a:xfrm>
            <a:off x="4647895" y="2286000"/>
            <a:ext cx="0" cy="139903"/>
          </a:xfrm>
          <a:prstGeom prst="line">
            <a:avLst/>
          </a:prstGeom>
          <a:noFill/>
          <a:ln w="31750">
            <a:solidFill>
              <a:srgbClr val="8FA3B8"/>
            </a:solidFill>
            <a:prstDash val="solid"/>
          </a:ln>
        </p:spPr>
      </p:sp>
      <p:sp>
        <p:nvSpPr>
          <p:cNvPr id="38" name="Shape 35"/>
          <p:cNvSpPr/>
          <p:nvPr/>
        </p:nvSpPr>
        <p:spPr>
          <a:xfrm>
            <a:off x="4647895" y="2425903"/>
            <a:ext cx="215798" cy="0"/>
          </a:xfrm>
          <a:prstGeom prst="line">
            <a:avLst/>
          </a:prstGeom>
          <a:noFill/>
          <a:ln w="31750">
            <a:solidFill>
              <a:srgbClr val="8FA3B8"/>
            </a:solidFill>
            <a:prstDash val="solid"/>
          </a:ln>
        </p:spPr>
      </p:sp>
      <p:sp>
        <p:nvSpPr>
          <p:cNvPr id="39" name="Shape 36"/>
          <p:cNvSpPr/>
          <p:nvPr/>
        </p:nvSpPr>
        <p:spPr>
          <a:xfrm>
            <a:off x="4863694" y="2286000"/>
            <a:ext cx="0" cy="139903"/>
          </a:xfrm>
          <a:prstGeom prst="line">
            <a:avLst/>
          </a:prstGeom>
          <a:noFill/>
          <a:ln w="31750">
            <a:solidFill>
              <a:srgbClr val="8FA3B8"/>
            </a:solidFill>
            <a:prstDash val="solid"/>
          </a:ln>
        </p:spPr>
      </p:sp>
      <p:sp>
        <p:nvSpPr>
          <p:cNvPr id="40" name="Shape 37"/>
          <p:cNvSpPr/>
          <p:nvPr/>
        </p:nvSpPr>
        <p:spPr>
          <a:xfrm>
            <a:off x="4863694" y="2286000"/>
            <a:ext cx="215798" cy="0"/>
          </a:xfrm>
          <a:prstGeom prst="line">
            <a:avLst/>
          </a:prstGeom>
          <a:noFill/>
          <a:ln w="31750">
            <a:solidFill>
              <a:srgbClr val="8FA3B8"/>
            </a:solidFill>
            <a:prstDash val="solid"/>
          </a:ln>
        </p:spPr>
      </p:sp>
      <p:sp>
        <p:nvSpPr>
          <p:cNvPr id="41" name="Shape 38"/>
          <p:cNvSpPr/>
          <p:nvPr/>
        </p:nvSpPr>
        <p:spPr>
          <a:xfrm>
            <a:off x="5079492" y="2286000"/>
            <a:ext cx="0" cy="139903"/>
          </a:xfrm>
          <a:prstGeom prst="line">
            <a:avLst/>
          </a:prstGeom>
          <a:noFill/>
          <a:ln w="31750">
            <a:solidFill>
              <a:srgbClr val="8FA3B8"/>
            </a:solidFill>
            <a:prstDash val="solid"/>
          </a:ln>
        </p:spPr>
      </p:sp>
      <p:sp>
        <p:nvSpPr>
          <p:cNvPr id="42" name="Shape 39"/>
          <p:cNvSpPr/>
          <p:nvPr/>
        </p:nvSpPr>
        <p:spPr>
          <a:xfrm>
            <a:off x="5079492" y="2425903"/>
            <a:ext cx="215798" cy="0"/>
          </a:xfrm>
          <a:prstGeom prst="line">
            <a:avLst/>
          </a:prstGeom>
          <a:noFill/>
          <a:ln w="31750">
            <a:solidFill>
              <a:srgbClr val="8FA3B8"/>
            </a:solidFill>
            <a:prstDash val="solid"/>
          </a:ln>
        </p:spPr>
      </p:sp>
      <p:sp>
        <p:nvSpPr>
          <p:cNvPr id="43" name="Shape 40"/>
          <p:cNvSpPr/>
          <p:nvPr/>
        </p:nvSpPr>
        <p:spPr>
          <a:xfrm>
            <a:off x="5296205" y="2286000"/>
            <a:ext cx="0" cy="139903"/>
          </a:xfrm>
          <a:prstGeom prst="line">
            <a:avLst/>
          </a:prstGeom>
          <a:noFill/>
          <a:ln w="31750">
            <a:solidFill>
              <a:srgbClr val="8FA3B8"/>
            </a:solidFill>
            <a:prstDash val="solid"/>
          </a:ln>
        </p:spPr>
      </p:sp>
      <p:sp>
        <p:nvSpPr>
          <p:cNvPr id="44" name="Shape 41"/>
          <p:cNvSpPr/>
          <p:nvPr/>
        </p:nvSpPr>
        <p:spPr>
          <a:xfrm>
            <a:off x="5296205" y="2286000"/>
            <a:ext cx="215798" cy="0"/>
          </a:xfrm>
          <a:prstGeom prst="line">
            <a:avLst/>
          </a:prstGeom>
          <a:noFill/>
          <a:ln w="31750">
            <a:solidFill>
              <a:srgbClr val="8FA3B8"/>
            </a:solidFill>
            <a:prstDash val="solid"/>
          </a:ln>
        </p:spPr>
      </p:sp>
      <p:sp>
        <p:nvSpPr>
          <p:cNvPr id="45" name="Shape 42"/>
          <p:cNvSpPr/>
          <p:nvPr/>
        </p:nvSpPr>
        <p:spPr>
          <a:xfrm>
            <a:off x="5512003" y="2286000"/>
            <a:ext cx="0" cy="139903"/>
          </a:xfrm>
          <a:prstGeom prst="line">
            <a:avLst/>
          </a:prstGeom>
          <a:noFill/>
          <a:ln w="31750">
            <a:solidFill>
              <a:srgbClr val="8FA3B8"/>
            </a:solidFill>
            <a:prstDash val="solid"/>
          </a:ln>
        </p:spPr>
      </p:sp>
      <p:sp>
        <p:nvSpPr>
          <p:cNvPr id="46" name="Shape 43"/>
          <p:cNvSpPr/>
          <p:nvPr/>
        </p:nvSpPr>
        <p:spPr>
          <a:xfrm>
            <a:off x="5512003" y="2425903"/>
            <a:ext cx="215798" cy="0"/>
          </a:xfrm>
          <a:prstGeom prst="line">
            <a:avLst/>
          </a:prstGeom>
          <a:noFill/>
          <a:ln w="31750">
            <a:solidFill>
              <a:srgbClr val="8FA3B8"/>
            </a:solidFill>
            <a:prstDash val="solid"/>
          </a:ln>
        </p:spPr>
      </p:sp>
      <p:sp>
        <p:nvSpPr>
          <p:cNvPr id="47" name="Shape 44"/>
          <p:cNvSpPr/>
          <p:nvPr/>
        </p:nvSpPr>
        <p:spPr>
          <a:xfrm>
            <a:off x="5727802" y="2286000"/>
            <a:ext cx="0" cy="139903"/>
          </a:xfrm>
          <a:prstGeom prst="line">
            <a:avLst/>
          </a:prstGeom>
          <a:noFill/>
          <a:ln w="31750">
            <a:solidFill>
              <a:srgbClr val="8FA3B8"/>
            </a:solidFill>
            <a:prstDash val="solid"/>
          </a:ln>
        </p:spPr>
      </p:sp>
      <p:sp>
        <p:nvSpPr>
          <p:cNvPr id="48" name="Shape 45"/>
          <p:cNvSpPr/>
          <p:nvPr/>
        </p:nvSpPr>
        <p:spPr>
          <a:xfrm>
            <a:off x="5727802" y="2286000"/>
            <a:ext cx="215798" cy="0"/>
          </a:xfrm>
          <a:prstGeom prst="line">
            <a:avLst/>
          </a:prstGeom>
          <a:noFill/>
          <a:ln w="31750">
            <a:solidFill>
              <a:srgbClr val="8FA3B8"/>
            </a:solidFill>
            <a:prstDash val="solid"/>
          </a:ln>
        </p:spPr>
      </p:sp>
      <p:sp>
        <p:nvSpPr>
          <p:cNvPr id="49" name="Shape 46"/>
          <p:cNvSpPr/>
          <p:nvPr/>
        </p:nvSpPr>
        <p:spPr>
          <a:xfrm>
            <a:off x="5943600" y="2286000"/>
            <a:ext cx="0" cy="139903"/>
          </a:xfrm>
          <a:prstGeom prst="line">
            <a:avLst/>
          </a:prstGeom>
          <a:noFill/>
          <a:ln w="31750">
            <a:solidFill>
              <a:srgbClr val="8FA3B8"/>
            </a:solidFill>
            <a:prstDash val="solid"/>
          </a:ln>
        </p:spPr>
      </p:sp>
      <p:sp>
        <p:nvSpPr>
          <p:cNvPr id="50" name="Shape 47"/>
          <p:cNvSpPr/>
          <p:nvPr/>
        </p:nvSpPr>
        <p:spPr>
          <a:xfrm>
            <a:off x="5943600" y="2425903"/>
            <a:ext cx="215798" cy="0"/>
          </a:xfrm>
          <a:prstGeom prst="line">
            <a:avLst/>
          </a:prstGeom>
          <a:noFill/>
          <a:ln w="31750">
            <a:solidFill>
              <a:srgbClr val="8FA3B8"/>
            </a:solidFill>
            <a:prstDash val="solid"/>
          </a:ln>
        </p:spPr>
      </p:sp>
      <p:sp>
        <p:nvSpPr>
          <p:cNvPr id="51" name="Shape 48"/>
          <p:cNvSpPr/>
          <p:nvPr/>
        </p:nvSpPr>
        <p:spPr>
          <a:xfrm>
            <a:off x="6159398" y="2286000"/>
            <a:ext cx="0" cy="139903"/>
          </a:xfrm>
          <a:prstGeom prst="line">
            <a:avLst/>
          </a:prstGeom>
          <a:noFill/>
          <a:ln w="31750">
            <a:solidFill>
              <a:srgbClr val="8FA3B8"/>
            </a:solidFill>
            <a:prstDash val="solid"/>
          </a:ln>
        </p:spPr>
      </p:sp>
      <p:sp>
        <p:nvSpPr>
          <p:cNvPr id="52" name="Shape 49"/>
          <p:cNvSpPr/>
          <p:nvPr/>
        </p:nvSpPr>
        <p:spPr>
          <a:xfrm>
            <a:off x="1841602" y="2756002"/>
            <a:ext cx="502006" cy="0"/>
          </a:xfrm>
          <a:prstGeom prst="line">
            <a:avLst/>
          </a:prstGeom>
          <a:noFill/>
          <a:ln w="31750">
            <a:solidFill>
              <a:srgbClr val="8FA3B8"/>
            </a:solidFill>
            <a:prstDash val="solid"/>
          </a:ln>
        </p:spPr>
      </p:sp>
      <p:sp>
        <p:nvSpPr>
          <p:cNvPr id="53" name="Shape 50"/>
          <p:cNvSpPr/>
          <p:nvPr/>
        </p:nvSpPr>
        <p:spPr>
          <a:xfrm>
            <a:off x="2342693" y="2641702"/>
            <a:ext cx="0" cy="114300"/>
          </a:xfrm>
          <a:prstGeom prst="line">
            <a:avLst/>
          </a:prstGeom>
          <a:noFill/>
          <a:ln w="31750">
            <a:solidFill>
              <a:srgbClr val="8FA3B8"/>
            </a:solidFill>
            <a:prstDash val="solid"/>
          </a:ln>
        </p:spPr>
      </p:sp>
      <p:sp>
        <p:nvSpPr>
          <p:cNvPr id="54" name="Shape 51"/>
          <p:cNvSpPr/>
          <p:nvPr/>
        </p:nvSpPr>
        <p:spPr>
          <a:xfrm>
            <a:off x="2342693" y="2641702"/>
            <a:ext cx="755294" cy="0"/>
          </a:xfrm>
          <a:prstGeom prst="line">
            <a:avLst/>
          </a:prstGeom>
          <a:noFill/>
          <a:ln w="31750">
            <a:solidFill>
              <a:srgbClr val="8FA3B8"/>
            </a:solidFill>
            <a:prstDash val="solid"/>
          </a:ln>
        </p:spPr>
      </p:sp>
      <p:sp>
        <p:nvSpPr>
          <p:cNvPr id="55" name="Shape 52"/>
          <p:cNvSpPr/>
          <p:nvPr/>
        </p:nvSpPr>
        <p:spPr>
          <a:xfrm>
            <a:off x="3098902" y="2641702"/>
            <a:ext cx="0" cy="114300"/>
          </a:xfrm>
          <a:prstGeom prst="line">
            <a:avLst/>
          </a:prstGeom>
          <a:noFill/>
          <a:ln w="31750">
            <a:solidFill>
              <a:srgbClr val="8FA3B8"/>
            </a:solidFill>
            <a:prstDash val="solid"/>
          </a:ln>
        </p:spPr>
      </p:sp>
      <p:sp>
        <p:nvSpPr>
          <p:cNvPr id="56" name="Shape 53"/>
          <p:cNvSpPr/>
          <p:nvPr/>
        </p:nvSpPr>
        <p:spPr>
          <a:xfrm>
            <a:off x="3098902" y="2756002"/>
            <a:ext cx="374904" cy="0"/>
          </a:xfrm>
          <a:prstGeom prst="line">
            <a:avLst/>
          </a:prstGeom>
          <a:noFill/>
          <a:ln w="31750">
            <a:solidFill>
              <a:srgbClr val="8FA3B8"/>
            </a:solidFill>
            <a:prstDash val="solid"/>
          </a:ln>
        </p:spPr>
      </p:sp>
      <p:sp>
        <p:nvSpPr>
          <p:cNvPr id="57" name="Shape 54"/>
          <p:cNvSpPr/>
          <p:nvPr/>
        </p:nvSpPr>
        <p:spPr>
          <a:xfrm>
            <a:off x="3473806" y="2641702"/>
            <a:ext cx="0" cy="114300"/>
          </a:xfrm>
          <a:prstGeom prst="line">
            <a:avLst/>
          </a:prstGeom>
          <a:noFill/>
          <a:ln w="31750">
            <a:solidFill>
              <a:srgbClr val="8FA3B8"/>
            </a:solidFill>
            <a:prstDash val="solid"/>
          </a:ln>
        </p:spPr>
      </p:sp>
      <p:sp>
        <p:nvSpPr>
          <p:cNvPr id="58" name="Shape 55"/>
          <p:cNvSpPr/>
          <p:nvPr/>
        </p:nvSpPr>
        <p:spPr>
          <a:xfrm>
            <a:off x="3473806" y="2641702"/>
            <a:ext cx="1003097" cy="0"/>
          </a:xfrm>
          <a:prstGeom prst="line">
            <a:avLst/>
          </a:prstGeom>
          <a:noFill/>
          <a:ln w="31750">
            <a:solidFill>
              <a:srgbClr val="8FA3B8"/>
            </a:solidFill>
            <a:prstDash val="solid"/>
          </a:ln>
        </p:spPr>
      </p:sp>
      <p:sp>
        <p:nvSpPr>
          <p:cNvPr id="59" name="Shape 56"/>
          <p:cNvSpPr/>
          <p:nvPr/>
        </p:nvSpPr>
        <p:spPr>
          <a:xfrm>
            <a:off x="4476902" y="2641702"/>
            <a:ext cx="0" cy="114300"/>
          </a:xfrm>
          <a:prstGeom prst="line">
            <a:avLst/>
          </a:prstGeom>
          <a:noFill/>
          <a:ln w="31750">
            <a:solidFill>
              <a:srgbClr val="8FA3B8"/>
            </a:solidFill>
            <a:prstDash val="solid"/>
          </a:ln>
        </p:spPr>
      </p:sp>
      <p:sp>
        <p:nvSpPr>
          <p:cNvPr id="60" name="Shape 57"/>
          <p:cNvSpPr/>
          <p:nvPr/>
        </p:nvSpPr>
        <p:spPr>
          <a:xfrm>
            <a:off x="4476902" y="2756002"/>
            <a:ext cx="628193" cy="0"/>
          </a:xfrm>
          <a:prstGeom prst="line">
            <a:avLst/>
          </a:prstGeom>
          <a:noFill/>
          <a:ln w="31750">
            <a:solidFill>
              <a:srgbClr val="8FA3B8"/>
            </a:solidFill>
            <a:prstDash val="solid"/>
          </a:ln>
        </p:spPr>
      </p:sp>
      <p:sp>
        <p:nvSpPr>
          <p:cNvPr id="61" name="Shape 58"/>
          <p:cNvSpPr/>
          <p:nvPr/>
        </p:nvSpPr>
        <p:spPr>
          <a:xfrm>
            <a:off x="5105095" y="2641702"/>
            <a:ext cx="0" cy="114300"/>
          </a:xfrm>
          <a:prstGeom prst="line">
            <a:avLst/>
          </a:prstGeom>
          <a:noFill/>
          <a:ln w="31750">
            <a:solidFill>
              <a:srgbClr val="8FA3B8"/>
            </a:solidFill>
            <a:prstDash val="solid"/>
          </a:ln>
        </p:spPr>
      </p:sp>
      <p:sp>
        <p:nvSpPr>
          <p:cNvPr id="62" name="Shape 59"/>
          <p:cNvSpPr/>
          <p:nvPr/>
        </p:nvSpPr>
        <p:spPr>
          <a:xfrm>
            <a:off x="5105095" y="2641702"/>
            <a:ext cx="502006" cy="0"/>
          </a:xfrm>
          <a:prstGeom prst="line">
            <a:avLst/>
          </a:prstGeom>
          <a:noFill/>
          <a:ln w="31750">
            <a:solidFill>
              <a:srgbClr val="8FA3B8"/>
            </a:solidFill>
            <a:prstDash val="solid"/>
          </a:ln>
        </p:spPr>
      </p:sp>
      <p:sp>
        <p:nvSpPr>
          <p:cNvPr id="63" name="Shape 60"/>
          <p:cNvSpPr/>
          <p:nvPr/>
        </p:nvSpPr>
        <p:spPr>
          <a:xfrm>
            <a:off x="5607101" y="2641702"/>
            <a:ext cx="0" cy="114300"/>
          </a:xfrm>
          <a:prstGeom prst="line">
            <a:avLst/>
          </a:prstGeom>
          <a:noFill/>
          <a:ln w="31750">
            <a:solidFill>
              <a:srgbClr val="8FA3B8"/>
            </a:solidFill>
            <a:prstDash val="solid"/>
          </a:ln>
        </p:spPr>
      </p:sp>
      <p:sp>
        <p:nvSpPr>
          <p:cNvPr id="64" name="Shape 61"/>
          <p:cNvSpPr/>
          <p:nvPr/>
        </p:nvSpPr>
        <p:spPr>
          <a:xfrm>
            <a:off x="5607101" y="2756002"/>
            <a:ext cx="1257300" cy="0"/>
          </a:xfrm>
          <a:prstGeom prst="line">
            <a:avLst/>
          </a:prstGeom>
          <a:noFill/>
          <a:ln w="31750">
            <a:solidFill>
              <a:srgbClr val="8FA3B8"/>
            </a:solidFill>
            <a:prstDash val="solid"/>
          </a:ln>
        </p:spPr>
      </p:sp>
      <p:sp>
        <p:nvSpPr>
          <p:cNvPr id="65" name="Shape 62"/>
          <p:cNvSpPr/>
          <p:nvPr/>
        </p:nvSpPr>
        <p:spPr>
          <a:xfrm>
            <a:off x="1841602" y="3086100"/>
            <a:ext cx="882396" cy="0"/>
          </a:xfrm>
          <a:prstGeom prst="line">
            <a:avLst/>
          </a:prstGeom>
          <a:noFill/>
          <a:ln w="31750">
            <a:solidFill>
              <a:srgbClr val="8FA3B8"/>
            </a:solidFill>
            <a:prstDash val="solid"/>
          </a:ln>
        </p:spPr>
      </p:sp>
      <p:sp>
        <p:nvSpPr>
          <p:cNvPr id="66" name="Shape 63"/>
          <p:cNvSpPr/>
          <p:nvPr/>
        </p:nvSpPr>
        <p:spPr>
          <a:xfrm>
            <a:off x="2723998" y="2971800"/>
            <a:ext cx="0" cy="114300"/>
          </a:xfrm>
          <a:prstGeom prst="line">
            <a:avLst/>
          </a:prstGeom>
          <a:noFill/>
          <a:ln w="31750">
            <a:solidFill>
              <a:srgbClr val="8FA3B8"/>
            </a:solidFill>
            <a:prstDash val="solid"/>
          </a:ln>
        </p:spPr>
      </p:sp>
      <p:sp>
        <p:nvSpPr>
          <p:cNvPr id="67" name="Shape 64"/>
          <p:cNvSpPr/>
          <p:nvPr/>
        </p:nvSpPr>
        <p:spPr>
          <a:xfrm>
            <a:off x="2723998" y="2971800"/>
            <a:ext cx="374904" cy="0"/>
          </a:xfrm>
          <a:prstGeom prst="line">
            <a:avLst/>
          </a:prstGeom>
          <a:noFill/>
          <a:ln w="31750">
            <a:solidFill>
              <a:srgbClr val="8FA3B8"/>
            </a:solidFill>
            <a:prstDash val="solid"/>
          </a:ln>
        </p:spPr>
      </p:sp>
      <p:sp>
        <p:nvSpPr>
          <p:cNvPr id="68" name="Shape 65"/>
          <p:cNvSpPr/>
          <p:nvPr/>
        </p:nvSpPr>
        <p:spPr>
          <a:xfrm>
            <a:off x="3098902" y="2971800"/>
            <a:ext cx="0" cy="114300"/>
          </a:xfrm>
          <a:prstGeom prst="line">
            <a:avLst/>
          </a:prstGeom>
          <a:noFill/>
          <a:ln w="31750">
            <a:solidFill>
              <a:srgbClr val="8FA3B8"/>
            </a:solidFill>
            <a:prstDash val="solid"/>
          </a:ln>
        </p:spPr>
      </p:sp>
      <p:sp>
        <p:nvSpPr>
          <p:cNvPr id="69" name="Shape 66"/>
          <p:cNvSpPr/>
          <p:nvPr/>
        </p:nvSpPr>
        <p:spPr>
          <a:xfrm>
            <a:off x="3098902" y="3086100"/>
            <a:ext cx="1384402" cy="0"/>
          </a:xfrm>
          <a:prstGeom prst="line">
            <a:avLst/>
          </a:prstGeom>
          <a:noFill/>
          <a:ln w="31750">
            <a:solidFill>
              <a:srgbClr val="8FA3B8"/>
            </a:solidFill>
            <a:prstDash val="solid"/>
          </a:ln>
        </p:spPr>
      </p:sp>
      <p:sp>
        <p:nvSpPr>
          <p:cNvPr id="70" name="Shape 67"/>
          <p:cNvSpPr/>
          <p:nvPr/>
        </p:nvSpPr>
        <p:spPr>
          <a:xfrm>
            <a:off x="4483303" y="2971800"/>
            <a:ext cx="0" cy="114300"/>
          </a:xfrm>
          <a:prstGeom prst="line">
            <a:avLst/>
          </a:prstGeom>
          <a:noFill/>
          <a:ln w="31750">
            <a:solidFill>
              <a:srgbClr val="8FA3B8"/>
            </a:solidFill>
            <a:prstDash val="solid"/>
          </a:ln>
        </p:spPr>
      </p:sp>
      <p:sp>
        <p:nvSpPr>
          <p:cNvPr id="71" name="Shape 68"/>
          <p:cNvSpPr/>
          <p:nvPr/>
        </p:nvSpPr>
        <p:spPr>
          <a:xfrm>
            <a:off x="4483303" y="2971800"/>
            <a:ext cx="628193" cy="0"/>
          </a:xfrm>
          <a:prstGeom prst="line">
            <a:avLst/>
          </a:prstGeom>
          <a:noFill/>
          <a:ln w="31750">
            <a:solidFill>
              <a:srgbClr val="8FA3B8"/>
            </a:solidFill>
            <a:prstDash val="solid"/>
          </a:ln>
        </p:spPr>
      </p:sp>
      <p:sp>
        <p:nvSpPr>
          <p:cNvPr id="72" name="Shape 69"/>
          <p:cNvSpPr/>
          <p:nvPr/>
        </p:nvSpPr>
        <p:spPr>
          <a:xfrm>
            <a:off x="5111496" y="2971800"/>
            <a:ext cx="0" cy="114300"/>
          </a:xfrm>
          <a:prstGeom prst="line">
            <a:avLst/>
          </a:prstGeom>
          <a:noFill/>
          <a:ln w="31750">
            <a:solidFill>
              <a:srgbClr val="8FA3B8"/>
            </a:solidFill>
            <a:prstDash val="solid"/>
          </a:ln>
        </p:spPr>
      </p:sp>
      <p:sp>
        <p:nvSpPr>
          <p:cNvPr id="73" name="Shape 70"/>
          <p:cNvSpPr/>
          <p:nvPr/>
        </p:nvSpPr>
        <p:spPr>
          <a:xfrm>
            <a:off x="5111496" y="3086100"/>
            <a:ext cx="374904" cy="0"/>
          </a:xfrm>
          <a:prstGeom prst="line">
            <a:avLst/>
          </a:prstGeom>
          <a:noFill/>
          <a:ln w="31750">
            <a:solidFill>
              <a:srgbClr val="8FA3B8"/>
            </a:solidFill>
            <a:prstDash val="solid"/>
          </a:ln>
        </p:spPr>
      </p:sp>
      <p:sp>
        <p:nvSpPr>
          <p:cNvPr id="74" name="Shape 71"/>
          <p:cNvSpPr/>
          <p:nvPr/>
        </p:nvSpPr>
        <p:spPr>
          <a:xfrm>
            <a:off x="5486400" y="2971800"/>
            <a:ext cx="0" cy="114300"/>
          </a:xfrm>
          <a:prstGeom prst="line">
            <a:avLst/>
          </a:prstGeom>
          <a:noFill/>
          <a:ln w="31750">
            <a:solidFill>
              <a:srgbClr val="8FA3B8"/>
            </a:solidFill>
            <a:prstDash val="solid"/>
          </a:ln>
        </p:spPr>
      </p:sp>
      <p:sp>
        <p:nvSpPr>
          <p:cNvPr id="75" name="Shape 72"/>
          <p:cNvSpPr/>
          <p:nvPr/>
        </p:nvSpPr>
        <p:spPr>
          <a:xfrm>
            <a:off x="5486400" y="2971800"/>
            <a:ext cx="1384402" cy="0"/>
          </a:xfrm>
          <a:prstGeom prst="line">
            <a:avLst/>
          </a:prstGeom>
          <a:noFill/>
          <a:ln w="31750">
            <a:solidFill>
              <a:srgbClr val="8FA3B8"/>
            </a:solidFill>
            <a:prstDash val="solid"/>
          </a:ln>
        </p:spPr>
      </p:sp>
      <p:sp>
        <p:nvSpPr>
          <p:cNvPr id="76" name="Shape 73"/>
          <p:cNvSpPr/>
          <p:nvPr/>
        </p:nvSpPr>
        <p:spPr>
          <a:xfrm>
            <a:off x="1841602" y="3416198"/>
            <a:ext cx="374904" cy="0"/>
          </a:xfrm>
          <a:prstGeom prst="line">
            <a:avLst/>
          </a:prstGeom>
          <a:noFill/>
          <a:ln w="31750">
            <a:solidFill>
              <a:srgbClr val="8FA3B8"/>
            </a:solidFill>
            <a:prstDash val="solid"/>
          </a:ln>
        </p:spPr>
      </p:sp>
      <p:sp>
        <p:nvSpPr>
          <p:cNvPr id="77" name="Shape 74"/>
          <p:cNvSpPr/>
          <p:nvPr/>
        </p:nvSpPr>
        <p:spPr>
          <a:xfrm>
            <a:off x="2216506" y="3301898"/>
            <a:ext cx="0" cy="114300"/>
          </a:xfrm>
          <a:prstGeom prst="line">
            <a:avLst/>
          </a:prstGeom>
          <a:noFill/>
          <a:ln w="31750">
            <a:solidFill>
              <a:srgbClr val="8FA3B8"/>
            </a:solidFill>
            <a:prstDash val="solid"/>
          </a:ln>
        </p:spPr>
      </p:sp>
      <p:sp>
        <p:nvSpPr>
          <p:cNvPr id="78" name="Shape 75"/>
          <p:cNvSpPr/>
          <p:nvPr/>
        </p:nvSpPr>
        <p:spPr>
          <a:xfrm>
            <a:off x="2216506" y="3301898"/>
            <a:ext cx="1003097" cy="0"/>
          </a:xfrm>
          <a:prstGeom prst="line">
            <a:avLst/>
          </a:prstGeom>
          <a:noFill/>
          <a:ln w="31750">
            <a:solidFill>
              <a:srgbClr val="8FA3B8"/>
            </a:solidFill>
            <a:prstDash val="solid"/>
          </a:ln>
        </p:spPr>
      </p:sp>
      <p:sp>
        <p:nvSpPr>
          <p:cNvPr id="79" name="Shape 76"/>
          <p:cNvSpPr/>
          <p:nvPr/>
        </p:nvSpPr>
        <p:spPr>
          <a:xfrm>
            <a:off x="3219602" y="3301898"/>
            <a:ext cx="0" cy="114300"/>
          </a:xfrm>
          <a:prstGeom prst="line">
            <a:avLst/>
          </a:prstGeom>
          <a:noFill/>
          <a:ln w="31750">
            <a:solidFill>
              <a:srgbClr val="8FA3B8"/>
            </a:solidFill>
            <a:prstDash val="solid"/>
          </a:ln>
        </p:spPr>
      </p:sp>
      <p:sp>
        <p:nvSpPr>
          <p:cNvPr id="80" name="Shape 77"/>
          <p:cNvSpPr/>
          <p:nvPr/>
        </p:nvSpPr>
        <p:spPr>
          <a:xfrm>
            <a:off x="3219602" y="3416198"/>
            <a:ext cx="755294" cy="0"/>
          </a:xfrm>
          <a:prstGeom prst="line">
            <a:avLst/>
          </a:prstGeom>
          <a:noFill/>
          <a:ln w="31750">
            <a:solidFill>
              <a:srgbClr val="8FA3B8"/>
            </a:solidFill>
            <a:prstDash val="solid"/>
          </a:ln>
        </p:spPr>
      </p:sp>
      <p:sp>
        <p:nvSpPr>
          <p:cNvPr id="81" name="Shape 78"/>
          <p:cNvSpPr/>
          <p:nvPr/>
        </p:nvSpPr>
        <p:spPr>
          <a:xfrm>
            <a:off x="3974897" y="3301898"/>
            <a:ext cx="0" cy="114300"/>
          </a:xfrm>
          <a:prstGeom prst="line">
            <a:avLst/>
          </a:prstGeom>
          <a:noFill/>
          <a:ln w="31750">
            <a:solidFill>
              <a:srgbClr val="8FA3B8"/>
            </a:solidFill>
            <a:prstDash val="solid"/>
          </a:ln>
        </p:spPr>
      </p:sp>
      <p:sp>
        <p:nvSpPr>
          <p:cNvPr id="82" name="Shape 79"/>
          <p:cNvSpPr/>
          <p:nvPr/>
        </p:nvSpPr>
        <p:spPr>
          <a:xfrm>
            <a:off x="3974897" y="3301898"/>
            <a:ext cx="374904" cy="0"/>
          </a:xfrm>
          <a:prstGeom prst="line">
            <a:avLst/>
          </a:prstGeom>
          <a:noFill/>
          <a:ln w="31750">
            <a:solidFill>
              <a:srgbClr val="8FA3B8"/>
            </a:solidFill>
            <a:prstDash val="solid"/>
          </a:ln>
        </p:spPr>
      </p:sp>
      <p:sp>
        <p:nvSpPr>
          <p:cNvPr id="83" name="Shape 80"/>
          <p:cNvSpPr/>
          <p:nvPr/>
        </p:nvSpPr>
        <p:spPr>
          <a:xfrm>
            <a:off x="4349801" y="3301898"/>
            <a:ext cx="0" cy="114300"/>
          </a:xfrm>
          <a:prstGeom prst="line">
            <a:avLst/>
          </a:prstGeom>
          <a:noFill/>
          <a:ln w="31750">
            <a:solidFill>
              <a:srgbClr val="8FA3B8"/>
            </a:solidFill>
            <a:prstDash val="solid"/>
          </a:ln>
        </p:spPr>
      </p:sp>
      <p:sp>
        <p:nvSpPr>
          <p:cNvPr id="84" name="Shape 81"/>
          <p:cNvSpPr/>
          <p:nvPr/>
        </p:nvSpPr>
        <p:spPr>
          <a:xfrm>
            <a:off x="4349801" y="3416198"/>
            <a:ext cx="1257300" cy="0"/>
          </a:xfrm>
          <a:prstGeom prst="line">
            <a:avLst/>
          </a:prstGeom>
          <a:noFill/>
          <a:ln w="31750">
            <a:solidFill>
              <a:srgbClr val="8FA3B8"/>
            </a:solidFill>
            <a:prstDash val="solid"/>
          </a:ln>
        </p:spPr>
      </p:sp>
      <p:sp>
        <p:nvSpPr>
          <p:cNvPr id="85" name="Shape 82"/>
          <p:cNvSpPr/>
          <p:nvPr/>
        </p:nvSpPr>
        <p:spPr>
          <a:xfrm>
            <a:off x="5607101" y="3301898"/>
            <a:ext cx="0" cy="114300"/>
          </a:xfrm>
          <a:prstGeom prst="line">
            <a:avLst/>
          </a:prstGeom>
          <a:noFill/>
          <a:ln w="31750">
            <a:solidFill>
              <a:srgbClr val="8FA3B8"/>
            </a:solidFill>
            <a:prstDash val="solid"/>
          </a:ln>
        </p:spPr>
      </p:sp>
      <p:sp>
        <p:nvSpPr>
          <p:cNvPr id="86" name="Shape 83"/>
          <p:cNvSpPr/>
          <p:nvPr/>
        </p:nvSpPr>
        <p:spPr>
          <a:xfrm>
            <a:off x="5607101" y="3301898"/>
            <a:ext cx="502006" cy="0"/>
          </a:xfrm>
          <a:prstGeom prst="line">
            <a:avLst/>
          </a:prstGeom>
          <a:noFill/>
          <a:ln w="31750">
            <a:solidFill>
              <a:srgbClr val="8FA3B8"/>
            </a:solidFill>
            <a:prstDash val="solid"/>
          </a:ln>
        </p:spPr>
      </p:sp>
      <p:sp>
        <p:nvSpPr>
          <p:cNvPr id="87" name="Shape 84"/>
          <p:cNvSpPr/>
          <p:nvPr/>
        </p:nvSpPr>
        <p:spPr>
          <a:xfrm>
            <a:off x="6108192" y="3301898"/>
            <a:ext cx="0" cy="114300"/>
          </a:xfrm>
          <a:prstGeom prst="line">
            <a:avLst/>
          </a:prstGeom>
          <a:noFill/>
          <a:ln w="31750">
            <a:solidFill>
              <a:srgbClr val="8FA3B8"/>
            </a:solidFill>
            <a:prstDash val="solid"/>
          </a:ln>
        </p:spPr>
      </p:sp>
      <p:sp>
        <p:nvSpPr>
          <p:cNvPr id="88" name="Shape 85"/>
          <p:cNvSpPr/>
          <p:nvPr/>
        </p:nvSpPr>
        <p:spPr>
          <a:xfrm>
            <a:off x="6108192" y="3416198"/>
            <a:ext cx="755294" cy="0"/>
          </a:xfrm>
          <a:prstGeom prst="line">
            <a:avLst/>
          </a:prstGeom>
          <a:noFill/>
          <a:ln w="31750">
            <a:solidFill>
              <a:srgbClr val="8FA3B8"/>
            </a:solidFill>
            <a:prstDash val="solid"/>
          </a:ln>
        </p:spPr>
      </p:sp>
      <p:sp>
        <p:nvSpPr>
          <p:cNvPr id="89" name="Shape 86"/>
          <p:cNvSpPr/>
          <p:nvPr/>
        </p:nvSpPr>
        <p:spPr>
          <a:xfrm>
            <a:off x="888797" y="3746297"/>
            <a:ext cx="5587898" cy="0"/>
          </a:xfrm>
          <a:prstGeom prst="line">
            <a:avLst/>
          </a:prstGeom>
          <a:noFill/>
          <a:ln w="19050">
            <a:solidFill>
              <a:srgbClr val="2A3B55"/>
            </a:solidFill>
            <a:prstDash val="solid"/>
          </a:ln>
        </p:spPr>
      </p:sp>
      <p:sp>
        <p:nvSpPr>
          <p:cNvPr id="90" name="Text 87"/>
          <p:cNvSpPr txBox="1"/>
          <p:nvPr/>
        </p:nvSpPr>
        <p:spPr>
          <a:xfrm>
            <a:off x="737006" y="3860597"/>
            <a:ext cx="4444898" cy="21579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2FA6A0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TLM · 트랜잭션 하나 + cycle 숫자</a:t>
            </a:r>
            <a:endParaRPr lang="en-US" sz="1200" dirty="0"/>
          </a:p>
        </p:txBody>
      </p:sp>
      <p:sp>
        <p:nvSpPr>
          <p:cNvPr id="91" name="Shape 88"/>
          <p:cNvSpPr/>
          <p:nvPr/>
        </p:nvSpPr>
        <p:spPr>
          <a:xfrm>
            <a:off x="952805" y="4254703"/>
            <a:ext cx="1524305" cy="761695"/>
          </a:xfrm>
          <a:prstGeom prst="roundRect">
            <a:avLst>
              <a:gd name="adj" fmla="val 9964"/>
            </a:avLst>
          </a:prstGeom>
          <a:solidFill>
            <a:srgbClr val="16263D"/>
          </a:solidFill>
          <a:ln w="31750">
            <a:solidFill>
              <a:srgbClr val="2FA6A0"/>
            </a:solidFill>
            <a:prstDash val="solid"/>
          </a:ln>
        </p:spPr>
      </p:sp>
      <p:sp>
        <p:nvSpPr>
          <p:cNvPr id="92" name="Text 89"/>
          <p:cNvSpPr txBox="1"/>
          <p:nvPr/>
        </p:nvSpPr>
        <p:spPr>
          <a:xfrm>
            <a:off x="952805" y="4254703"/>
            <a:ext cx="1524305" cy="76169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5F4EE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CPU</a:t>
            </a:r>
            <a:endParaRPr lang="en-US" sz="1700" dirty="0"/>
          </a:p>
        </p:txBody>
      </p:sp>
      <p:sp>
        <p:nvSpPr>
          <p:cNvPr id="93" name="Shape 90"/>
          <p:cNvSpPr/>
          <p:nvPr/>
        </p:nvSpPr>
        <p:spPr>
          <a:xfrm>
            <a:off x="4889297" y="4254703"/>
            <a:ext cx="1524305" cy="761695"/>
          </a:xfrm>
          <a:prstGeom prst="roundRect">
            <a:avLst>
              <a:gd name="adj" fmla="val 9964"/>
            </a:avLst>
          </a:prstGeom>
          <a:solidFill>
            <a:srgbClr val="16263D"/>
          </a:solidFill>
          <a:ln w="31750">
            <a:solidFill>
              <a:srgbClr val="2FA6A0"/>
            </a:solidFill>
            <a:prstDash val="solid"/>
          </a:ln>
        </p:spPr>
      </p:sp>
      <p:sp>
        <p:nvSpPr>
          <p:cNvPr id="94" name="Text 91"/>
          <p:cNvSpPr txBox="1"/>
          <p:nvPr/>
        </p:nvSpPr>
        <p:spPr>
          <a:xfrm>
            <a:off x="4889297" y="4254703"/>
            <a:ext cx="1524305" cy="76169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5F4EE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SRAM</a:t>
            </a:r>
            <a:endParaRPr lang="en-US" sz="1700" dirty="0"/>
          </a:p>
        </p:txBody>
      </p:sp>
      <p:sp>
        <p:nvSpPr>
          <p:cNvPr id="95" name="Shape 92"/>
          <p:cNvSpPr/>
          <p:nvPr/>
        </p:nvSpPr>
        <p:spPr>
          <a:xfrm>
            <a:off x="2476195" y="4635094"/>
            <a:ext cx="2413102" cy="0"/>
          </a:xfrm>
          <a:prstGeom prst="line">
            <a:avLst/>
          </a:prstGeom>
          <a:noFill/>
          <a:ln w="63500">
            <a:solidFill>
              <a:srgbClr val="E8A33D"/>
            </a:solidFill>
            <a:prstDash val="solid"/>
            <a:tailEnd type="triangle"/>
          </a:ln>
        </p:spPr>
      </p:sp>
      <p:sp>
        <p:nvSpPr>
          <p:cNvPr id="96" name="Shape 93"/>
          <p:cNvSpPr/>
          <p:nvPr/>
        </p:nvSpPr>
        <p:spPr>
          <a:xfrm>
            <a:off x="2920594" y="4336999"/>
            <a:ext cx="1397203" cy="597103"/>
          </a:xfrm>
          <a:prstGeom prst="roundRect">
            <a:avLst>
              <a:gd name="adj" fmla="val 49923"/>
            </a:avLst>
          </a:prstGeom>
          <a:solidFill>
            <a:srgbClr val="E8A33D"/>
          </a:solidFill>
          <a:ln/>
        </p:spPr>
      </p:sp>
      <p:sp>
        <p:nvSpPr>
          <p:cNvPr id="97" name="Text 94"/>
          <p:cNvSpPr txBox="1"/>
          <p:nvPr/>
        </p:nvSpPr>
        <p:spPr>
          <a:xfrm>
            <a:off x="2920594" y="4336999"/>
            <a:ext cx="1397203" cy="59710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0F1B2D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+7 cycle</a:t>
            </a:r>
            <a:endParaRPr lang="en-US" sz="1200" dirty="0"/>
          </a:p>
        </p:txBody>
      </p:sp>
      <p:sp>
        <p:nvSpPr>
          <p:cNvPr id="98" name="Text 95"/>
          <p:cNvSpPr txBox="1"/>
          <p:nvPr/>
        </p:nvSpPr>
        <p:spPr>
          <a:xfrm>
            <a:off x="888797" y="5206594"/>
            <a:ext cx="5587898" cy="25420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dirty="0">
                <a:solidFill>
                  <a:srgbClr val="BFD8D5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write(0x2400_0010, data)  →  버스 대기 2 + 메모리 5</a:t>
            </a:r>
            <a:endParaRPr lang="en-US" sz="1300" dirty="0"/>
          </a:p>
        </p:txBody>
      </p:sp>
      <p:sp>
        <p:nvSpPr>
          <p:cNvPr id="99" name="Shape 96"/>
          <p:cNvSpPr/>
          <p:nvPr/>
        </p:nvSpPr>
        <p:spPr>
          <a:xfrm>
            <a:off x="7162495" y="1904695"/>
            <a:ext cx="685800" cy="685800"/>
          </a:xfrm>
          <a:prstGeom prst="roundRect">
            <a:avLst>
              <a:gd name="adj" fmla="val 20400"/>
            </a:avLst>
          </a:prstGeom>
          <a:solidFill>
            <a:srgbClr val="0F1B2D"/>
          </a:solidFill>
          <a:ln/>
        </p:spPr>
      </p:sp>
      <p:sp>
        <p:nvSpPr>
          <p:cNvPr id="100" name="Text 97"/>
          <p:cNvSpPr txBox="1"/>
          <p:nvPr/>
        </p:nvSpPr>
        <p:spPr>
          <a:xfrm>
            <a:off x="7162495" y="1904695"/>
            <a:ext cx="6858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dirty="0">
                <a:solidFill>
                  <a:srgbClr val="E8A33D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»</a:t>
            </a:r>
            <a:endParaRPr lang="en-US" sz="2600" dirty="0"/>
          </a:p>
        </p:txBody>
      </p:sp>
      <p:sp>
        <p:nvSpPr>
          <p:cNvPr id="101" name="Text 98"/>
          <p:cNvSpPr txBox="1"/>
          <p:nvPr/>
        </p:nvSpPr>
        <p:spPr>
          <a:xfrm>
            <a:off x="8001000" y="1930298"/>
            <a:ext cx="3683203" cy="29169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0F1B2D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RTL보다 수십~수백 배 빠르다</a:t>
            </a:r>
            <a:endParaRPr lang="en-US" sz="1800" dirty="0"/>
          </a:p>
        </p:txBody>
      </p:sp>
      <p:sp>
        <p:nvSpPr>
          <p:cNvPr id="102" name="Text 99"/>
          <p:cNvSpPr txBox="1"/>
          <p:nvPr/>
        </p:nvSpPr>
        <p:spPr>
          <a:xfrm>
            <a:off x="8001000" y="2260397"/>
            <a:ext cx="3683203" cy="38130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4A556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애플리케이션은 물론 RTOS까지 함께 개발할 수 있는 속도</a:t>
            </a:r>
            <a:endParaRPr lang="en-US" sz="1300" dirty="0"/>
          </a:p>
        </p:txBody>
      </p:sp>
      <p:sp>
        <p:nvSpPr>
          <p:cNvPr id="103" name="Shape 100"/>
          <p:cNvSpPr/>
          <p:nvPr/>
        </p:nvSpPr>
        <p:spPr>
          <a:xfrm>
            <a:off x="7162495" y="2907792"/>
            <a:ext cx="685800" cy="685800"/>
          </a:xfrm>
          <a:prstGeom prst="roundRect">
            <a:avLst>
              <a:gd name="adj" fmla="val 20400"/>
            </a:avLst>
          </a:prstGeom>
          <a:solidFill>
            <a:srgbClr val="0F1B2D"/>
          </a:solidFill>
          <a:ln/>
        </p:spPr>
      </p:sp>
      <p:sp>
        <p:nvSpPr>
          <p:cNvPr id="104" name="Text 101"/>
          <p:cNvSpPr txBox="1"/>
          <p:nvPr/>
        </p:nvSpPr>
        <p:spPr>
          <a:xfrm>
            <a:off x="7162495" y="2907792"/>
            <a:ext cx="6858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dirty="0">
                <a:solidFill>
                  <a:srgbClr val="E8A33D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○</a:t>
            </a:r>
            <a:endParaRPr lang="en-US" sz="2600" dirty="0"/>
          </a:p>
        </p:txBody>
      </p:sp>
      <p:sp>
        <p:nvSpPr>
          <p:cNvPr id="105" name="Text 102"/>
          <p:cNvSpPr txBox="1"/>
          <p:nvPr/>
        </p:nvSpPr>
        <p:spPr>
          <a:xfrm>
            <a:off x="8001000" y="2933395"/>
            <a:ext cx="3683203" cy="29169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0F1B2D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그래도 cycle을 안다</a:t>
            </a:r>
            <a:endParaRPr lang="en-US" sz="1800" dirty="0"/>
          </a:p>
        </p:txBody>
      </p:sp>
      <p:sp>
        <p:nvSpPr>
          <p:cNvPr id="106" name="Text 103"/>
          <p:cNvSpPr txBox="1"/>
          <p:nvPr/>
        </p:nvSpPr>
        <p:spPr>
          <a:xfrm>
            <a:off x="8001000" y="3263494"/>
            <a:ext cx="3683203" cy="38130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4A556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기능만 맞추는 모델과 달리 "얼마나 느린가"에 답함</a:t>
            </a:r>
            <a:endParaRPr lang="en-US" sz="1300" dirty="0"/>
          </a:p>
        </p:txBody>
      </p:sp>
      <p:sp>
        <p:nvSpPr>
          <p:cNvPr id="107" name="Shape 104"/>
          <p:cNvSpPr/>
          <p:nvPr/>
        </p:nvSpPr>
        <p:spPr>
          <a:xfrm>
            <a:off x="7162495" y="3911803"/>
            <a:ext cx="685800" cy="685800"/>
          </a:xfrm>
          <a:prstGeom prst="roundRect">
            <a:avLst>
              <a:gd name="adj" fmla="val 20400"/>
            </a:avLst>
          </a:prstGeom>
          <a:solidFill>
            <a:srgbClr val="0F1B2D"/>
          </a:solidFill>
          <a:ln/>
        </p:spPr>
      </p:sp>
      <p:sp>
        <p:nvSpPr>
          <p:cNvPr id="108" name="Text 105"/>
          <p:cNvSpPr txBox="1"/>
          <p:nvPr/>
        </p:nvSpPr>
        <p:spPr>
          <a:xfrm>
            <a:off x="7162495" y="3911803"/>
            <a:ext cx="6858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dirty="0">
                <a:solidFill>
                  <a:srgbClr val="E8A33D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✱</a:t>
            </a:r>
            <a:endParaRPr lang="en-US" sz="2600" dirty="0"/>
          </a:p>
        </p:txBody>
      </p:sp>
      <p:sp>
        <p:nvSpPr>
          <p:cNvPr id="109" name="Text 106"/>
          <p:cNvSpPr txBox="1"/>
          <p:nvPr/>
        </p:nvSpPr>
        <p:spPr>
          <a:xfrm>
            <a:off x="8001000" y="3936492"/>
            <a:ext cx="3683203" cy="29169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0F1B2D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HW 구조가 파라미터다</a:t>
            </a:r>
            <a:endParaRPr lang="en-US" sz="1800" dirty="0"/>
          </a:p>
        </p:txBody>
      </p:sp>
      <p:sp>
        <p:nvSpPr>
          <p:cNvPr id="110" name="Text 107"/>
          <p:cNvSpPr txBox="1"/>
          <p:nvPr/>
        </p:nvSpPr>
        <p:spPr>
          <a:xfrm>
            <a:off x="8001000" y="4267505"/>
            <a:ext cx="3683203" cy="38130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4A556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TCM·캐시·버스·DMA를 config로 바꿔 실험</a:t>
            </a:r>
            <a:endParaRPr lang="en-US" sz="1300" dirty="0"/>
          </a:p>
        </p:txBody>
      </p:sp>
      <p:sp>
        <p:nvSpPr>
          <p:cNvPr id="111" name="Shape 108"/>
          <p:cNvSpPr/>
          <p:nvPr/>
        </p:nvSpPr>
        <p:spPr>
          <a:xfrm>
            <a:off x="7162495" y="4914900"/>
            <a:ext cx="685800" cy="685800"/>
          </a:xfrm>
          <a:prstGeom prst="roundRect">
            <a:avLst>
              <a:gd name="adj" fmla="val 20400"/>
            </a:avLst>
          </a:prstGeom>
          <a:solidFill>
            <a:srgbClr val="0F1B2D"/>
          </a:solidFill>
          <a:ln/>
        </p:spPr>
      </p:sp>
      <p:sp>
        <p:nvSpPr>
          <p:cNvPr id="112" name="Text 109"/>
          <p:cNvSpPr txBox="1"/>
          <p:nvPr/>
        </p:nvSpPr>
        <p:spPr>
          <a:xfrm>
            <a:off x="7162495" y="4914900"/>
            <a:ext cx="6858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dirty="0">
                <a:solidFill>
                  <a:srgbClr val="E8A33D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◎</a:t>
            </a:r>
            <a:endParaRPr lang="en-US" sz="2600" dirty="0"/>
          </a:p>
        </p:txBody>
      </p:sp>
      <p:sp>
        <p:nvSpPr>
          <p:cNvPr id="113" name="Text 110"/>
          <p:cNvSpPr txBox="1"/>
          <p:nvPr/>
        </p:nvSpPr>
        <p:spPr>
          <a:xfrm>
            <a:off x="8001000" y="4940503"/>
            <a:ext cx="3683203" cy="29169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0F1B2D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안이 전부 보인다</a:t>
            </a:r>
            <a:endParaRPr lang="en-US" sz="1800" dirty="0"/>
          </a:p>
        </p:txBody>
      </p:sp>
      <p:sp>
        <p:nvSpPr>
          <p:cNvPr id="114" name="Text 111"/>
          <p:cNvSpPr txBox="1"/>
          <p:nvPr/>
        </p:nvSpPr>
        <p:spPr>
          <a:xfrm>
            <a:off x="8001000" y="5270602"/>
            <a:ext cx="3683203" cy="38130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4A556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C++ SW 플랫폼 — 분석 데이터를 원하는 형태·양으로</a:t>
            </a:r>
            <a:endParaRPr lang="en-US" sz="13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737006"/>
          </a:xfrm>
          <a:prstGeom prst="rect">
            <a:avLst/>
          </a:prstGeom>
          <a:solidFill>
            <a:srgbClr val="111111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508406" y="0"/>
            <a:ext cx="11175797" cy="73700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2. 개발 및 설계 — Cortex-M4 TLM 가상 플랫폼</a:t>
            </a:r>
            <a:endParaRPr lang="en-US" sz="1600" dirty="0"/>
          </a:p>
        </p:txBody>
      </p:sp>
      <p:sp>
        <p:nvSpPr>
          <p:cNvPr id="5" name="Text 2"/>
          <p:cNvSpPr txBox="1"/>
          <p:nvPr/>
        </p:nvSpPr>
        <p:spPr>
          <a:xfrm>
            <a:off x="508406" y="1015898"/>
            <a:ext cx="11175797" cy="50840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3000" b="1" dirty="0">
                <a:solidFill>
                  <a:srgbClr val="0F1B2D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TLM으로 만든 Cortex-M4 SoC: 빠르고, 정확하고, 간편합니다</a:t>
            </a:r>
            <a:endParaRPr lang="en-US" sz="3000" dirty="0"/>
          </a:p>
        </p:txBody>
      </p:sp>
      <p:sp>
        <p:nvSpPr>
          <p:cNvPr id="6" name="Shape 3"/>
          <p:cNvSpPr/>
          <p:nvPr/>
        </p:nvSpPr>
        <p:spPr>
          <a:xfrm>
            <a:off x="508406" y="1841602"/>
            <a:ext cx="3606394" cy="1904695"/>
          </a:xfrm>
          <a:prstGeom prst="roundRect">
            <a:avLst>
              <a:gd name="adj" fmla="val 5329"/>
            </a:avLst>
          </a:prstGeom>
          <a:solidFill>
            <a:srgbClr val="0F1B2D"/>
          </a:solidFill>
          <a:ln/>
        </p:spPr>
      </p:sp>
      <p:sp>
        <p:nvSpPr>
          <p:cNvPr id="7" name="Text 4"/>
          <p:cNvSpPr txBox="1"/>
          <p:nvPr/>
        </p:nvSpPr>
        <p:spPr>
          <a:xfrm>
            <a:off x="787298" y="2031797"/>
            <a:ext cx="3047695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dirty="0">
                <a:solidFill>
                  <a:srgbClr val="8FA3B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빠르다</a:t>
            </a:r>
            <a:endParaRPr lang="en-US" sz="1400" dirty="0"/>
          </a:p>
        </p:txBody>
      </p:sp>
      <p:sp>
        <p:nvSpPr>
          <p:cNvPr id="8" name="Text 5"/>
          <p:cNvSpPr txBox="1"/>
          <p:nvPr/>
        </p:nvSpPr>
        <p:spPr>
          <a:xfrm>
            <a:off x="787298" y="2286000"/>
            <a:ext cx="3047695" cy="82570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5600" b="1" dirty="0">
                <a:solidFill>
                  <a:srgbClr val="2FA6A0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50배+</a:t>
            </a:r>
            <a:endParaRPr lang="en-US" sz="5600" dirty="0"/>
          </a:p>
        </p:txBody>
      </p:sp>
      <p:sp>
        <p:nvSpPr>
          <p:cNvPr id="9" name="Text 6"/>
          <p:cNvSpPr txBox="1"/>
          <p:nvPr/>
        </p:nvSpPr>
        <p:spPr>
          <a:xfrm>
            <a:off x="787298" y="3174797"/>
            <a:ext cx="3047695" cy="44439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1300" dirty="0">
                <a:solidFill>
                  <a:srgbClr val="BFD8D5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RTL 시뮬 대비 (벤치마크) · 실제 워크로드 수백 배 예상</a:t>
            </a:r>
            <a:endParaRPr lang="en-US" sz="1300" dirty="0"/>
          </a:p>
        </p:txBody>
      </p:sp>
      <p:sp>
        <p:nvSpPr>
          <p:cNvPr id="10" name="Shape 7"/>
          <p:cNvSpPr/>
          <p:nvPr/>
        </p:nvSpPr>
        <p:spPr>
          <a:xfrm>
            <a:off x="4292194" y="1841602"/>
            <a:ext cx="3606394" cy="1904695"/>
          </a:xfrm>
          <a:prstGeom prst="roundRect">
            <a:avLst>
              <a:gd name="adj" fmla="val 5329"/>
            </a:avLst>
          </a:prstGeom>
          <a:solidFill>
            <a:srgbClr val="0F1B2D"/>
          </a:solidFill>
          <a:ln/>
        </p:spPr>
      </p:sp>
      <p:sp>
        <p:nvSpPr>
          <p:cNvPr id="11" name="Text 8"/>
          <p:cNvSpPr txBox="1"/>
          <p:nvPr/>
        </p:nvSpPr>
        <p:spPr>
          <a:xfrm>
            <a:off x="4572000" y="2031797"/>
            <a:ext cx="3047695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dirty="0">
                <a:solidFill>
                  <a:srgbClr val="8FA3B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정확하다</a:t>
            </a:r>
            <a:endParaRPr lang="en-US" sz="1400" dirty="0"/>
          </a:p>
        </p:txBody>
      </p:sp>
      <p:sp>
        <p:nvSpPr>
          <p:cNvPr id="12" name="Text 9"/>
          <p:cNvSpPr txBox="1"/>
          <p:nvPr/>
        </p:nvSpPr>
        <p:spPr>
          <a:xfrm>
            <a:off x="4572000" y="2286000"/>
            <a:ext cx="3047695" cy="82570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5600" b="1" dirty="0">
                <a:solidFill>
                  <a:srgbClr val="E8A33D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99.7%</a:t>
            </a:r>
            <a:endParaRPr lang="en-US" sz="5600" dirty="0"/>
          </a:p>
        </p:txBody>
      </p:sp>
      <p:sp>
        <p:nvSpPr>
          <p:cNvPr id="13" name="Text 10"/>
          <p:cNvSpPr txBox="1"/>
          <p:nvPr/>
        </p:nvSpPr>
        <p:spPr>
          <a:xfrm>
            <a:off x="4572000" y="3174797"/>
            <a:ext cx="3047695" cy="44439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1300" dirty="0">
                <a:solidFill>
                  <a:srgbClr val="BFD8D5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cycle 정합성, RTL 시뮬 대비</a:t>
            </a:r>
            <a:endParaRPr lang="en-US" sz="1300" dirty="0"/>
          </a:p>
        </p:txBody>
      </p:sp>
      <p:sp>
        <p:nvSpPr>
          <p:cNvPr id="14" name="Shape 11"/>
          <p:cNvSpPr/>
          <p:nvPr/>
        </p:nvSpPr>
        <p:spPr>
          <a:xfrm>
            <a:off x="8076895" y="1841602"/>
            <a:ext cx="3606394" cy="1904695"/>
          </a:xfrm>
          <a:prstGeom prst="roundRect">
            <a:avLst>
              <a:gd name="adj" fmla="val 5329"/>
            </a:avLst>
          </a:prstGeom>
          <a:solidFill>
            <a:srgbClr val="0F1B2D"/>
          </a:solidFill>
          <a:ln/>
        </p:spPr>
      </p:sp>
      <p:sp>
        <p:nvSpPr>
          <p:cNvPr id="15" name="Text 12"/>
          <p:cNvSpPr txBox="1"/>
          <p:nvPr/>
        </p:nvSpPr>
        <p:spPr>
          <a:xfrm>
            <a:off x="8356702" y="2031797"/>
            <a:ext cx="3047695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dirty="0">
                <a:solidFill>
                  <a:srgbClr val="8FA3B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간편하다</a:t>
            </a:r>
            <a:endParaRPr lang="en-US" sz="1400" dirty="0"/>
          </a:p>
        </p:txBody>
      </p:sp>
      <p:sp>
        <p:nvSpPr>
          <p:cNvPr id="16" name="Text 13"/>
          <p:cNvSpPr txBox="1"/>
          <p:nvPr/>
        </p:nvSpPr>
        <p:spPr>
          <a:xfrm>
            <a:off x="8356702" y="2286000"/>
            <a:ext cx="3047695" cy="82570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4200" b="1" dirty="0">
                <a:solidFill>
                  <a:srgbClr val="FFFFFF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JSON 1장</a:t>
            </a:r>
            <a:endParaRPr lang="en-US" sz="4200" dirty="0"/>
          </a:p>
        </p:txBody>
      </p:sp>
      <p:sp>
        <p:nvSpPr>
          <p:cNvPr id="17" name="Text 14"/>
          <p:cNvSpPr txBox="1"/>
          <p:nvPr/>
        </p:nvSpPr>
        <p:spPr>
          <a:xfrm>
            <a:off x="8356702" y="3174797"/>
            <a:ext cx="3047695" cy="44439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1300" dirty="0">
                <a:solidFill>
                  <a:srgbClr val="BFD8D5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모델을 조립해 SoC 구성</a:t>
            </a:r>
            <a:endParaRPr lang="en-US" sz="1300" dirty="0"/>
          </a:p>
        </p:txBody>
      </p:sp>
      <p:sp>
        <p:nvSpPr>
          <p:cNvPr id="18" name="Text 15"/>
          <p:cNvSpPr txBox="1"/>
          <p:nvPr/>
        </p:nvSpPr>
        <p:spPr>
          <a:xfrm>
            <a:off x="508406" y="4000500"/>
            <a:ext cx="3810305" cy="25420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4A556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모델링 범위</a:t>
            </a:r>
            <a:endParaRPr lang="en-US" sz="1500" dirty="0"/>
          </a:p>
        </p:txBody>
      </p:sp>
      <p:sp>
        <p:nvSpPr>
          <p:cNvPr id="19" name="Shape 16"/>
          <p:cNvSpPr/>
          <p:nvPr/>
        </p:nvSpPr>
        <p:spPr>
          <a:xfrm>
            <a:off x="508406" y="4381805"/>
            <a:ext cx="2679192" cy="1587398"/>
          </a:xfrm>
          <a:prstGeom prst="roundRect">
            <a:avLst>
              <a:gd name="adj" fmla="val 5588"/>
            </a:avLst>
          </a:prstGeom>
          <a:solidFill>
            <a:srgbClr val="F7F6F1"/>
          </a:solidFill>
          <a:ln w="12700">
            <a:solidFill>
              <a:srgbClr val="DDD9CC"/>
            </a:solidFill>
            <a:prstDash val="solid"/>
          </a:ln>
        </p:spPr>
      </p:sp>
      <p:sp>
        <p:nvSpPr>
          <p:cNvPr id="20" name="Shape 17"/>
          <p:cNvSpPr/>
          <p:nvPr/>
        </p:nvSpPr>
        <p:spPr>
          <a:xfrm>
            <a:off x="685800" y="4546397"/>
            <a:ext cx="254203" cy="254203"/>
          </a:xfrm>
          <a:prstGeom prst="ellipse">
            <a:avLst/>
          </a:prstGeom>
          <a:solidFill>
            <a:srgbClr val="B8791F"/>
          </a:solidFill>
          <a:ln/>
        </p:spPr>
      </p:sp>
      <p:sp>
        <p:nvSpPr>
          <p:cNvPr id="21" name="Text 18"/>
          <p:cNvSpPr txBox="1"/>
          <p:nvPr/>
        </p:nvSpPr>
        <p:spPr>
          <a:xfrm>
            <a:off x="1028700" y="4533595"/>
            <a:ext cx="2044598" cy="27980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0F1B2D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코어</a:t>
            </a:r>
            <a:endParaRPr lang="en-US" sz="1600" dirty="0"/>
          </a:p>
        </p:txBody>
      </p:sp>
      <p:sp>
        <p:nvSpPr>
          <p:cNvPr id="22" name="Text 19"/>
          <p:cNvSpPr txBox="1"/>
          <p:nvPr/>
        </p:nvSpPr>
        <p:spPr>
          <a:xfrm>
            <a:off x="685800" y="4927702"/>
            <a:ext cx="2324405" cy="88879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250" dirty="0">
                <a:solidFill>
                  <a:srgbClr val="4A556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CM4 3단 인오더 파이프라인, 명령어별 cycle, NVIC, FPU</a:t>
            </a:r>
            <a:endParaRPr lang="en-US" sz="1250" dirty="0"/>
          </a:p>
        </p:txBody>
      </p:sp>
      <p:sp>
        <p:nvSpPr>
          <p:cNvPr id="23" name="Shape 20"/>
          <p:cNvSpPr/>
          <p:nvPr/>
        </p:nvSpPr>
        <p:spPr>
          <a:xfrm>
            <a:off x="3340303" y="4381805"/>
            <a:ext cx="2679192" cy="1587398"/>
          </a:xfrm>
          <a:prstGeom prst="roundRect">
            <a:avLst>
              <a:gd name="adj" fmla="val 5588"/>
            </a:avLst>
          </a:prstGeom>
          <a:solidFill>
            <a:srgbClr val="F7F6F1"/>
          </a:solidFill>
          <a:ln w="12700">
            <a:solidFill>
              <a:srgbClr val="DDD9CC"/>
            </a:solidFill>
            <a:prstDash val="solid"/>
          </a:ln>
        </p:spPr>
      </p:sp>
      <p:sp>
        <p:nvSpPr>
          <p:cNvPr id="24" name="Shape 21"/>
          <p:cNvSpPr/>
          <p:nvPr/>
        </p:nvSpPr>
        <p:spPr>
          <a:xfrm>
            <a:off x="3517697" y="4546397"/>
            <a:ext cx="254203" cy="254203"/>
          </a:xfrm>
          <a:prstGeom prst="ellipse">
            <a:avLst/>
          </a:prstGeom>
          <a:solidFill>
            <a:srgbClr val="B8791F"/>
          </a:solidFill>
          <a:ln/>
        </p:spPr>
      </p:sp>
      <p:sp>
        <p:nvSpPr>
          <p:cNvPr id="25" name="Text 22"/>
          <p:cNvSpPr txBox="1"/>
          <p:nvPr/>
        </p:nvSpPr>
        <p:spPr>
          <a:xfrm>
            <a:off x="3860597" y="4533595"/>
            <a:ext cx="2044598" cy="27980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0F1B2D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메모리</a:t>
            </a:r>
            <a:endParaRPr lang="en-US" sz="1600" dirty="0"/>
          </a:p>
        </p:txBody>
      </p:sp>
      <p:sp>
        <p:nvSpPr>
          <p:cNvPr id="26" name="Text 23"/>
          <p:cNvSpPr txBox="1"/>
          <p:nvPr/>
        </p:nvSpPr>
        <p:spPr>
          <a:xfrm>
            <a:off x="3517697" y="4927702"/>
            <a:ext cx="2324405" cy="88879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250" dirty="0">
                <a:solidFill>
                  <a:srgbClr val="4A556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TCM, 독립 SRAM 뱅크, Flash wait state·prefetch, I-Cache</a:t>
            </a:r>
            <a:endParaRPr lang="en-US" sz="1250" dirty="0"/>
          </a:p>
        </p:txBody>
      </p:sp>
      <p:sp>
        <p:nvSpPr>
          <p:cNvPr id="27" name="Shape 24"/>
          <p:cNvSpPr/>
          <p:nvPr/>
        </p:nvSpPr>
        <p:spPr>
          <a:xfrm>
            <a:off x="6172200" y="4381805"/>
            <a:ext cx="2679192" cy="1587398"/>
          </a:xfrm>
          <a:prstGeom prst="roundRect">
            <a:avLst>
              <a:gd name="adj" fmla="val 5588"/>
            </a:avLst>
          </a:prstGeom>
          <a:solidFill>
            <a:srgbClr val="F7F6F1"/>
          </a:solidFill>
          <a:ln w="12700">
            <a:solidFill>
              <a:srgbClr val="DDD9CC"/>
            </a:solidFill>
            <a:prstDash val="solid"/>
          </a:ln>
        </p:spPr>
      </p:sp>
      <p:sp>
        <p:nvSpPr>
          <p:cNvPr id="28" name="Shape 25"/>
          <p:cNvSpPr/>
          <p:nvPr/>
        </p:nvSpPr>
        <p:spPr>
          <a:xfrm>
            <a:off x="6349594" y="4546397"/>
            <a:ext cx="254203" cy="254203"/>
          </a:xfrm>
          <a:prstGeom prst="ellipse">
            <a:avLst/>
          </a:prstGeom>
          <a:solidFill>
            <a:srgbClr val="B8791F"/>
          </a:solidFill>
          <a:ln/>
        </p:spPr>
      </p:sp>
      <p:sp>
        <p:nvSpPr>
          <p:cNvPr id="29" name="Text 26"/>
          <p:cNvSpPr txBox="1"/>
          <p:nvPr/>
        </p:nvSpPr>
        <p:spPr>
          <a:xfrm>
            <a:off x="6692494" y="4533595"/>
            <a:ext cx="2044598" cy="27980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0F1B2D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버스</a:t>
            </a:r>
            <a:endParaRPr lang="en-US" sz="1600" dirty="0"/>
          </a:p>
        </p:txBody>
      </p:sp>
      <p:sp>
        <p:nvSpPr>
          <p:cNvPr id="30" name="Text 27"/>
          <p:cNvSpPr txBox="1"/>
          <p:nvPr/>
        </p:nvSpPr>
        <p:spPr>
          <a:xfrm>
            <a:off x="6349594" y="4927702"/>
            <a:ext cx="2324405" cy="88879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250" dirty="0">
                <a:solidFill>
                  <a:srgbClr val="4A556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AHB 매트릭스, 마스터 간 실제 경합 지연</a:t>
            </a:r>
            <a:endParaRPr lang="en-US" sz="1250" dirty="0"/>
          </a:p>
        </p:txBody>
      </p:sp>
      <p:sp>
        <p:nvSpPr>
          <p:cNvPr id="31" name="Shape 28"/>
          <p:cNvSpPr/>
          <p:nvPr/>
        </p:nvSpPr>
        <p:spPr>
          <a:xfrm>
            <a:off x="9004097" y="4381805"/>
            <a:ext cx="2679192" cy="1587398"/>
          </a:xfrm>
          <a:prstGeom prst="roundRect">
            <a:avLst>
              <a:gd name="adj" fmla="val 5588"/>
            </a:avLst>
          </a:prstGeom>
          <a:solidFill>
            <a:srgbClr val="F7F6F1"/>
          </a:solidFill>
          <a:ln w="12700">
            <a:solidFill>
              <a:srgbClr val="DDD9CC"/>
            </a:solidFill>
            <a:prstDash val="solid"/>
          </a:ln>
        </p:spPr>
      </p:sp>
      <p:sp>
        <p:nvSpPr>
          <p:cNvPr id="32" name="Shape 29"/>
          <p:cNvSpPr/>
          <p:nvPr/>
        </p:nvSpPr>
        <p:spPr>
          <a:xfrm>
            <a:off x="9181490" y="4546397"/>
            <a:ext cx="254203" cy="254203"/>
          </a:xfrm>
          <a:prstGeom prst="ellipse">
            <a:avLst/>
          </a:prstGeom>
          <a:solidFill>
            <a:srgbClr val="B8791F"/>
          </a:solidFill>
          <a:ln/>
        </p:spPr>
      </p:sp>
      <p:sp>
        <p:nvSpPr>
          <p:cNvPr id="33" name="Text 30"/>
          <p:cNvSpPr txBox="1"/>
          <p:nvPr/>
        </p:nvSpPr>
        <p:spPr>
          <a:xfrm>
            <a:off x="9524390" y="4533595"/>
            <a:ext cx="2044598" cy="27980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0F1B2D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주변장치</a:t>
            </a:r>
            <a:endParaRPr lang="en-US" sz="1600" dirty="0"/>
          </a:p>
        </p:txBody>
      </p:sp>
      <p:sp>
        <p:nvSpPr>
          <p:cNvPr id="34" name="Text 31"/>
          <p:cNvSpPr txBox="1"/>
          <p:nvPr/>
        </p:nvSpPr>
        <p:spPr>
          <a:xfrm>
            <a:off x="9181490" y="4927702"/>
            <a:ext cx="2324405" cy="88879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250" dirty="0">
                <a:solidFill>
                  <a:srgbClr val="4A556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DMA(burst), Timer, 오디오 입력, 센서·액추에이터, MAC 가속기</a:t>
            </a:r>
            <a:endParaRPr lang="en-US" sz="12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737006"/>
          </a:xfrm>
          <a:prstGeom prst="rect">
            <a:avLst/>
          </a:prstGeom>
          <a:solidFill>
            <a:srgbClr val="111111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508406" y="0"/>
            <a:ext cx="11175797" cy="73700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2. 개발 및 설계 — Pre-Silicon Co-Optimization 루프</a:t>
            </a:r>
            <a:endParaRPr lang="en-US" sz="1600" dirty="0"/>
          </a:p>
        </p:txBody>
      </p:sp>
      <p:sp>
        <p:nvSpPr>
          <p:cNvPr id="5" name="Text 2"/>
          <p:cNvSpPr txBox="1"/>
          <p:nvPr/>
        </p:nvSpPr>
        <p:spPr>
          <a:xfrm>
            <a:off x="508406" y="1015898"/>
            <a:ext cx="11175797" cy="50840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3000" b="1" dirty="0">
                <a:solidFill>
                  <a:srgbClr val="0F1B2D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그래서 하나의 루프가 됩니다: 돌리고, 읽고, 고치고, 다시</a:t>
            </a:r>
            <a:endParaRPr lang="en-US" sz="3000" dirty="0"/>
          </a:p>
        </p:txBody>
      </p:sp>
      <p:sp>
        <p:nvSpPr>
          <p:cNvPr id="6" name="Text 3"/>
          <p:cNvSpPr txBox="1"/>
          <p:nvPr/>
        </p:nvSpPr>
        <p:spPr>
          <a:xfrm>
            <a:off x="508406" y="1587398"/>
            <a:ext cx="11175797" cy="25420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dirty="0">
                <a:solidFill>
                  <a:srgbClr val="4A556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사람이 며칠 걸릴 HW·SW 시행착오를 AI가 하루에 수백 번 — 사람은 검토와 승인</a:t>
            </a:r>
            <a:endParaRPr lang="en-US" sz="1500" dirty="0"/>
          </a:p>
        </p:txBody>
      </p:sp>
      <p:sp>
        <p:nvSpPr>
          <p:cNvPr id="7" name="Shape 4"/>
          <p:cNvSpPr/>
          <p:nvPr/>
        </p:nvSpPr>
        <p:spPr>
          <a:xfrm>
            <a:off x="508406" y="2031797"/>
            <a:ext cx="3301898" cy="1904695"/>
          </a:xfrm>
          <a:prstGeom prst="roundRect">
            <a:avLst>
              <a:gd name="adj" fmla="val 6673"/>
            </a:avLst>
          </a:prstGeom>
          <a:solidFill>
            <a:srgbClr val="F7F6F1"/>
          </a:solidFill>
          <a:ln w="38100">
            <a:solidFill>
              <a:srgbClr val="E8A33D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787298" y="2210105"/>
            <a:ext cx="2793492" cy="20299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B8791F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돌린다</a:t>
            </a:r>
            <a:endParaRPr lang="en-US" sz="1200" dirty="0"/>
          </a:p>
        </p:txBody>
      </p:sp>
      <p:sp>
        <p:nvSpPr>
          <p:cNvPr id="9" name="Text 6"/>
          <p:cNvSpPr txBox="1"/>
          <p:nvPr/>
        </p:nvSpPr>
        <p:spPr>
          <a:xfrm>
            <a:off x="787298" y="2463394"/>
            <a:ext cx="2793492" cy="35570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100" b="1" dirty="0">
                <a:solidFill>
                  <a:srgbClr val="0F1B2D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CM4 가상 플랫폼</a:t>
            </a:r>
            <a:endParaRPr lang="en-US" sz="2100" dirty="0"/>
          </a:p>
        </p:txBody>
      </p:sp>
      <p:sp>
        <p:nvSpPr>
          <p:cNvPr id="10" name="Text 7"/>
          <p:cNvSpPr txBox="1"/>
          <p:nvPr/>
        </p:nvSpPr>
        <p:spPr>
          <a:xfrm>
            <a:off x="787298" y="2920594"/>
            <a:ext cx="2793492" cy="82570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5000"/>
              </a:lnSpc>
              <a:buNone/>
            </a:pPr>
            <a:r>
              <a:rPr lang="en-US" sz="1350" dirty="0">
                <a:solidFill>
                  <a:srgbClr val="4A556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config + 펌웨어를 실행하면</a:t>
            </a:r>
            <a:endParaRPr lang="en-US" sz="1350" dirty="0"/>
          </a:p>
          <a:p>
            <a:pPr algn="l" indent="0" marL="0">
              <a:lnSpc>
                <a:spcPct val="135000"/>
              </a:lnSpc>
              <a:buNone/>
            </a:pPr>
            <a:r>
              <a:rPr lang="en-US" sz="1350" dirty="0">
                <a:solidFill>
                  <a:srgbClr val="4A556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프로파일(callgrind)과</a:t>
            </a:r>
            <a:endParaRPr lang="en-US" sz="1350" dirty="0"/>
          </a:p>
          <a:p>
            <a:pPr algn="l" indent="0" marL="0">
              <a:lnSpc>
                <a:spcPct val="135000"/>
              </a:lnSpc>
              <a:buNone/>
            </a:pPr>
            <a:r>
              <a:rPr lang="en-US" sz="1350" dirty="0">
                <a:solidFill>
                  <a:srgbClr val="4A556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파형(FST)이 나온다</a:t>
            </a:r>
            <a:endParaRPr lang="en-US" sz="1350" dirty="0"/>
          </a:p>
        </p:txBody>
      </p:sp>
      <p:sp>
        <p:nvSpPr>
          <p:cNvPr id="11" name="Shape 8"/>
          <p:cNvSpPr/>
          <p:nvPr/>
        </p:nvSpPr>
        <p:spPr>
          <a:xfrm>
            <a:off x="4444898" y="2031797"/>
            <a:ext cx="3301898" cy="1904695"/>
          </a:xfrm>
          <a:prstGeom prst="roundRect">
            <a:avLst>
              <a:gd name="adj" fmla="val 6673"/>
            </a:avLst>
          </a:prstGeom>
          <a:solidFill>
            <a:srgbClr val="F7F6F1"/>
          </a:solidFill>
          <a:ln w="38100">
            <a:solidFill>
              <a:srgbClr val="2FA6A0"/>
            </a:solidFill>
            <a:prstDash val="solid"/>
          </a:ln>
        </p:spPr>
      </p:sp>
      <p:sp>
        <p:nvSpPr>
          <p:cNvPr id="12" name="Text 9"/>
          <p:cNvSpPr txBox="1"/>
          <p:nvPr/>
        </p:nvSpPr>
        <p:spPr>
          <a:xfrm>
            <a:off x="4724705" y="2210105"/>
            <a:ext cx="2793492" cy="20299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1F7F7A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읽는다</a:t>
            </a:r>
            <a:endParaRPr lang="en-US" sz="1200" dirty="0"/>
          </a:p>
        </p:txBody>
      </p:sp>
      <p:sp>
        <p:nvSpPr>
          <p:cNvPr id="13" name="Text 10"/>
          <p:cNvSpPr txBox="1"/>
          <p:nvPr/>
        </p:nvSpPr>
        <p:spPr>
          <a:xfrm>
            <a:off x="4724705" y="2463394"/>
            <a:ext cx="2793492" cy="35570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100" b="1" dirty="0">
                <a:solidFill>
                  <a:srgbClr val="0F1B2D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AI 분석 + 사람 검토</a:t>
            </a:r>
            <a:endParaRPr lang="en-US" sz="2100" dirty="0"/>
          </a:p>
        </p:txBody>
      </p:sp>
      <p:sp>
        <p:nvSpPr>
          <p:cNvPr id="14" name="Text 11"/>
          <p:cNvSpPr txBox="1"/>
          <p:nvPr/>
        </p:nvSpPr>
        <p:spPr>
          <a:xfrm>
            <a:off x="4724705" y="2920594"/>
            <a:ext cx="2793492" cy="82570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5000"/>
              </a:lnSpc>
              <a:buNone/>
            </a:pPr>
            <a:r>
              <a:rPr lang="en-US" sz="1350" dirty="0">
                <a:solidFill>
                  <a:srgbClr val="4A556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AI는 API로 병목·원인을 읽고</a:t>
            </a:r>
            <a:endParaRPr lang="en-US" sz="1350" dirty="0"/>
          </a:p>
          <a:p>
            <a:pPr algn="l" indent="0" marL="0">
              <a:lnSpc>
                <a:spcPct val="135000"/>
              </a:lnSpc>
              <a:buNone/>
            </a:pPr>
            <a:r>
              <a:rPr lang="en-US" sz="1350" dirty="0">
                <a:solidFill>
                  <a:srgbClr val="4A556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가설을 세운다. 사람은</a:t>
            </a:r>
            <a:endParaRPr lang="en-US" sz="1350" dirty="0"/>
          </a:p>
          <a:p>
            <a:pPr algn="l" indent="0" marL="0">
              <a:lnSpc>
                <a:spcPct val="135000"/>
              </a:lnSpc>
              <a:buNone/>
            </a:pPr>
            <a:r>
              <a:rPr lang="en-US" sz="1350" dirty="0">
                <a:solidFill>
                  <a:srgbClr val="4A556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Performance Profiler로 검토</a:t>
            </a:r>
            <a:endParaRPr lang="en-US" sz="1350" dirty="0"/>
          </a:p>
        </p:txBody>
      </p:sp>
      <p:sp>
        <p:nvSpPr>
          <p:cNvPr id="15" name="Shape 12"/>
          <p:cNvSpPr/>
          <p:nvPr/>
        </p:nvSpPr>
        <p:spPr>
          <a:xfrm>
            <a:off x="8381390" y="2031797"/>
            <a:ext cx="3301898" cy="1904695"/>
          </a:xfrm>
          <a:prstGeom prst="roundRect">
            <a:avLst>
              <a:gd name="adj" fmla="val 6673"/>
            </a:avLst>
          </a:prstGeom>
          <a:solidFill>
            <a:srgbClr val="F7F6F1"/>
          </a:solidFill>
          <a:ln w="38100">
            <a:solidFill>
              <a:srgbClr val="0F1B2D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8661197" y="2210105"/>
            <a:ext cx="2793492" cy="20299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B2D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고친다</a:t>
            </a:r>
            <a:endParaRPr lang="en-US" sz="1200" dirty="0"/>
          </a:p>
        </p:txBody>
      </p:sp>
      <p:sp>
        <p:nvSpPr>
          <p:cNvPr id="17" name="Text 14"/>
          <p:cNvSpPr txBox="1"/>
          <p:nvPr/>
        </p:nvSpPr>
        <p:spPr>
          <a:xfrm>
            <a:off x="8661197" y="2463394"/>
            <a:ext cx="2793492" cy="35570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100" b="1" dirty="0">
                <a:solidFill>
                  <a:srgbClr val="0F1B2D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SW knob · HW knob</a:t>
            </a:r>
            <a:endParaRPr lang="en-US" sz="2100" dirty="0"/>
          </a:p>
        </p:txBody>
      </p:sp>
      <p:sp>
        <p:nvSpPr>
          <p:cNvPr id="18" name="Text 15"/>
          <p:cNvSpPr txBox="1"/>
          <p:nvPr/>
        </p:nvSpPr>
        <p:spPr>
          <a:xfrm>
            <a:off x="8661197" y="2920594"/>
            <a:ext cx="2793492" cy="82570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5000"/>
              </a:lnSpc>
              <a:buNone/>
            </a:pPr>
            <a:r>
              <a:rPr lang="en-US" sz="1350" dirty="0">
                <a:solidFill>
                  <a:srgbClr val="4A556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데이터 배치, DMA, 오프로드,</a:t>
            </a:r>
            <a:endParaRPr lang="en-US" sz="1350" dirty="0"/>
          </a:p>
          <a:p>
            <a:pPr algn="l" indent="0" marL="0">
              <a:lnSpc>
                <a:spcPct val="135000"/>
              </a:lnSpc>
              <a:buNone/>
            </a:pPr>
            <a:r>
              <a:rPr lang="en-US" sz="1350" dirty="0">
                <a:solidFill>
                  <a:srgbClr val="4A556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메모리·캐시·버스 파라미터.</a:t>
            </a:r>
            <a:endParaRPr lang="en-US" sz="1350" dirty="0"/>
          </a:p>
          <a:p>
            <a:pPr algn="l" indent="0" marL="0">
              <a:lnSpc>
                <a:spcPct val="135000"/>
              </a:lnSpc>
              <a:buNone/>
            </a:pPr>
            <a:r>
              <a:rPr lang="en-US" sz="1350" dirty="0">
                <a:solidFill>
                  <a:srgbClr val="4A556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소스가 아닌 config를 바꾼다</a:t>
            </a:r>
            <a:endParaRPr lang="en-US" sz="1350" dirty="0"/>
          </a:p>
        </p:txBody>
      </p:sp>
      <p:sp>
        <p:nvSpPr>
          <p:cNvPr id="19" name="Shape 16"/>
          <p:cNvSpPr/>
          <p:nvPr/>
        </p:nvSpPr>
        <p:spPr>
          <a:xfrm>
            <a:off x="3873398" y="2857500"/>
            <a:ext cx="508406" cy="254203"/>
          </a:xfrm>
          <a:prstGeom prst="rightArrow">
            <a:avLst/>
          </a:prstGeom>
          <a:solidFill>
            <a:srgbClr val="E8A33D"/>
          </a:solidFill>
          <a:ln/>
        </p:spPr>
      </p:sp>
      <p:sp>
        <p:nvSpPr>
          <p:cNvPr id="20" name="Shape 17"/>
          <p:cNvSpPr/>
          <p:nvPr/>
        </p:nvSpPr>
        <p:spPr>
          <a:xfrm>
            <a:off x="7809890" y="2857500"/>
            <a:ext cx="508406" cy="254203"/>
          </a:xfrm>
          <a:prstGeom prst="rightArrow">
            <a:avLst/>
          </a:prstGeom>
          <a:solidFill>
            <a:srgbClr val="2FA6A0"/>
          </a:solidFill>
          <a:ln/>
        </p:spPr>
      </p:sp>
      <p:sp>
        <p:nvSpPr>
          <p:cNvPr id="21" name="Shape 18"/>
          <p:cNvSpPr/>
          <p:nvPr/>
        </p:nvSpPr>
        <p:spPr>
          <a:xfrm>
            <a:off x="10032797" y="3936492"/>
            <a:ext cx="0" cy="761695"/>
          </a:xfrm>
          <a:prstGeom prst="line">
            <a:avLst/>
          </a:prstGeom>
          <a:noFill/>
          <a:ln w="63500">
            <a:solidFill>
              <a:srgbClr val="E8A33D"/>
            </a:solidFill>
            <a:prstDash val="dash"/>
          </a:ln>
        </p:spPr>
      </p:sp>
      <p:sp>
        <p:nvSpPr>
          <p:cNvPr id="22" name="Shape 19"/>
          <p:cNvSpPr/>
          <p:nvPr/>
        </p:nvSpPr>
        <p:spPr>
          <a:xfrm flipV="1">
            <a:off x="2158898" y="4699102"/>
            <a:ext cx="7873898" cy="0"/>
          </a:xfrm>
          <a:prstGeom prst="line">
            <a:avLst/>
          </a:prstGeom>
          <a:noFill/>
          <a:ln w="63500">
            <a:solidFill>
              <a:srgbClr val="E8A33D"/>
            </a:solidFill>
            <a:prstDash val="dash"/>
          </a:ln>
        </p:spPr>
      </p:sp>
      <p:sp>
        <p:nvSpPr>
          <p:cNvPr id="23" name="Shape 20"/>
          <p:cNvSpPr/>
          <p:nvPr/>
        </p:nvSpPr>
        <p:spPr>
          <a:xfrm flipV="1">
            <a:off x="2158898" y="3936492"/>
            <a:ext cx="0" cy="761695"/>
          </a:xfrm>
          <a:prstGeom prst="line">
            <a:avLst/>
          </a:prstGeom>
          <a:noFill/>
          <a:ln w="63500">
            <a:solidFill>
              <a:srgbClr val="E8A33D"/>
            </a:solidFill>
            <a:prstDash val="dash"/>
            <a:tailEnd type="triangle"/>
          </a:ln>
        </p:spPr>
      </p:sp>
      <p:sp>
        <p:nvSpPr>
          <p:cNvPr id="24" name="Text 21"/>
          <p:cNvSpPr txBox="1"/>
          <p:nvPr/>
        </p:nvSpPr>
        <p:spPr>
          <a:xfrm>
            <a:off x="4190695" y="4559198"/>
            <a:ext cx="3810305" cy="279806"/>
          </a:xfrm>
          <a:prstGeom prst="rect">
            <a:avLst/>
          </a:prstGeom>
          <a:solidFill>
            <a:srgbClr val="FFFFFF"/>
          </a:solidFill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B8791F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한 바퀴 수 초~수십 초 · 하루 수백 회</a:t>
            </a:r>
            <a:endParaRPr lang="en-US" sz="1400" dirty="0"/>
          </a:p>
        </p:txBody>
      </p:sp>
      <p:sp>
        <p:nvSpPr>
          <p:cNvPr id="25" name="Shape 22"/>
          <p:cNvSpPr/>
          <p:nvPr/>
        </p:nvSpPr>
        <p:spPr>
          <a:xfrm>
            <a:off x="508406" y="5143500"/>
            <a:ext cx="5512003" cy="698602"/>
          </a:xfrm>
          <a:prstGeom prst="roundRect">
            <a:avLst>
              <a:gd name="adj" fmla="val 14529"/>
            </a:avLst>
          </a:prstGeom>
          <a:solidFill>
            <a:srgbClr val="F7F6F1"/>
          </a:solidFill>
          <a:ln w="12700">
            <a:solidFill>
              <a:srgbClr val="DDD9CC"/>
            </a:solidFill>
            <a:prstDash val="solid"/>
          </a:ln>
        </p:spPr>
      </p:sp>
      <p:sp>
        <p:nvSpPr>
          <p:cNvPr id="26" name="Text 23"/>
          <p:cNvSpPr txBox="1"/>
          <p:nvPr/>
        </p:nvSpPr>
        <p:spPr>
          <a:xfrm>
            <a:off x="685800" y="5143500"/>
            <a:ext cx="279806" cy="6986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dirty="0">
                <a:solidFill>
                  <a:srgbClr val="0F1B2D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◉</a:t>
            </a:r>
            <a:endParaRPr lang="en-US" sz="1800" dirty="0"/>
          </a:p>
        </p:txBody>
      </p:sp>
      <p:sp>
        <p:nvSpPr>
          <p:cNvPr id="27" name="Text 24"/>
          <p:cNvSpPr txBox="1"/>
          <p:nvPr/>
        </p:nvSpPr>
        <p:spPr>
          <a:xfrm>
            <a:off x="1041502" y="5143500"/>
            <a:ext cx="4813402" cy="6986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0F1B2D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Human-on-the-loop: 5회마다 근거와 함께 보고, HW 변경은 항상 사람이 승인</a:t>
            </a:r>
            <a:endParaRPr lang="en-US" sz="1300" dirty="0"/>
          </a:p>
        </p:txBody>
      </p:sp>
      <p:sp>
        <p:nvSpPr>
          <p:cNvPr id="28" name="Shape 25"/>
          <p:cNvSpPr/>
          <p:nvPr/>
        </p:nvSpPr>
        <p:spPr>
          <a:xfrm>
            <a:off x="6172200" y="5143500"/>
            <a:ext cx="5512003" cy="698602"/>
          </a:xfrm>
          <a:prstGeom prst="roundRect">
            <a:avLst>
              <a:gd name="adj" fmla="val 14529"/>
            </a:avLst>
          </a:prstGeom>
          <a:solidFill>
            <a:srgbClr val="F7F6F1"/>
          </a:solidFill>
          <a:ln w="12700">
            <a:solidFill>
              <a:srgbClr val="DDD9CC"/>
            </a:solidFill>
            <a:prstDash val="solid"/>
          </a:ln>
        </p:spPr>
      </p:sp>
      <p:sp>
        <p:nvSpPr>
          <p:cNvPr id="29" name="Text 26"/>
          <p:cNvSpPr txBox="1"/>
          <p:nvPr/>
        </p:nvSpPr>
        <p:spPr>
          <a:xfrm>
            <a:off x="6349594" y="5143500"/>
            <a:ext cx="279806" cy="6986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dirty="0">
                <a:solidFill>
                  <a:srgbClr val="0F1B2D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■</a:t>
            </a:r>
            <a:endParaRPr lang="en-US" sz="1800" dirty="0"/>
          </a:p>
        </p:txBody>
      </p:sp>
      <p:sp>
        <p:nvSpPr>
          <p:cNvPr id="30" name="Text 27"/>
          <p:cNvSpPr txBox="1"/>
          <p:nvPr/>
        </p:nvSpPr>
        <p:spPr>
          <a:xfrm>
            <a:off x="6705295" y="5143500"/>
            <a:ext cx="4813402" cy="6986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0F1B2D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출력이 골든과 한 비트라도 다르면 실험 무효 — 정확도를 깎아 빨라질 수 없다</a:t>
            </a:r>
            <a:endParaRPr lang="en-US" sz="13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737006"/>
          </a:xfrm>
          <a:prstGeom prst="rect">
            <a:avLst/>
          </a:prstGeom>
          <a:solidFill>
            <a:srgbClr val="111111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508406" y="0"/>
            <a:ext cx="11175797" cy="73700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2. 개발 및 설계 — Performance Profiler (Human-on-the-loop)</a:t>
            </a:r>
            <a:endParaRPr lang="en-US" sz="1600" dirty="0"/>
          </a:p>
        </p:txBody>
      </p:sp>
      <p:sp>
        <p:nvSpPr>
          <p:cNvPr id="5" name="Text 2"/>
          <p:cNvSpPr txBox="1"/>
          <p:nvPr/>
        </p:nvSpPr>
        <p:spPr>
          <a:xfrm>
            <a:off x="508406" y="1015898"/>
            <a:ext cx="11175797" cy="50840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3000" b="1" dirty="0">
                <a:solidFill>
                  <a:srgbClr val="0F1B2D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하나의 프로파일을 AI와 사람이 같이 읽습니다</a:t>
            </a:r>
            <a:endParaRPr lang="en-US" sz="3000" dirty="0"/>
          </a:p>
        </p:txBody>
      </p:sp>
      <p:sp>
        <p:nvSpPr>
          <p:cNvPr id="6" name="Shape 3"/>
          <p:cNvSpPr/>
          <p:nvPr/>
        </p:nvSpPr>
        <p:spPr>
          <a:xfrm>
            <a:off x="508406" y="1841602"/>
            <a:ext cx="6858000" cy="3174797"/>
          </a:xfrm>
          <a:prstGeom prst="roundRect">
            <a:avLst>
              <a:gd name="adj" fmla="val 3197"/>
            </a:avLst>
          </a:prstGeom>
          <a:solidFill>
            <a:srgbClr val="0F1B2D"/>
          </a:solidFill>
          <a:ln/>
        </p:spPr>
      </p:sp>
      <p:sp>
        <p:nvSpPr>
          <p:cNvPr id="7" name="Text 4"/>
          <p:cNvSpPr txBox="1"/>
          <p:nvPr/>
        </p:nvSpPr>
        <p:spPr>
          <a:xfrm>
            <a:off x="1524305" y="1841602"/>
            <a:ext cx="4826203" cy="317479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40000"/>
              </a:lnSpc>
              <a:buNone/>
            </a:pPr>
            <a:r>
              <a:rPr lang="en-US" sz="1500" dirty="0">
                <a:solidFill>
                  <a:srgbClr val="8FA3B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[스크린샷 또는 30초 자동재생 영상 — Performance Profiler</a:t>
            </a:r>
            <a:endParaRPr lang="en-US" sz="1500" dirty="0"/>
          </a:p>
          <a:p>
            <a:pPr algn="ctr" indent="0" marL="0">
              <a:lnSpc>
                <a:spcPct val="140000"/>
              </a:lnSpc>
              <a:buNone/>
            </a:pPr>
            <a:r>
              <a:rPr lang="en-US" sz="1500" dirty="0">
                <a:solidFill>
                  <a:srgbClr val="8FA3B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함수 목록 → 라인 분석 + 점프 화살표 → 어셈블리 → 시나리오 비교]</a:t>
            </a:r>
            <a:endParaRPr lang="en-US" sz="1500" dirty="0"/>
          </a:p>
        </p:txBody>
      </p:sp>
      <p:sp>
        <p:nvSpPr>
          <p:cNvPr id="8" name="Shape 5"/>
          <p:cNvSpPr/>
          <p:nvPr/>
        </p:nvSpPr>
        <p:spPr>
          <a:xfrm>
            <a:off x="8635594" y="1841602"/>
            <a:ext cx="2031797" cy="761695"/>
          </a:xfrm>
          <a:prstGeom prst="roundRect">
            <a:avLst>
              <a:gd name="adj" fmla="val 13325"/>
            </a:avLst>
          </a:prstGeom>
          <a:solidFill>
            <a:srgbClr val="0F1B2D"/>
          </a:solidFill>
          <a:ln/>
        </p:spPr>
      </p:sp>
      <p:sp>
        <p:nvSpPr>
          <p:cNvPr id="9" name="Text 6"/>
          <p:cNvSpPr txBox="1"/>
          <p:nvPr/>
        </p:nvSpPr>
        <p:spPr>
          <a:xfrm>
            <a:off x="8635594" y="1841602"/>
            <a:ext cx="2031797" cy="76169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5F4EE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CM4 가상 플랫폼</a:t>
            </a:r>
            <a:endParaRPr lang="en-US" sz="1500" dirty="0"/>
          </a:p>
          <a:p>
            <a:pPr algn="ctr" indent="0" marL="0">
              <a:buNone/>
            </a:pPr>
            <a:r>
              <a:rPr lang="en-US" sz="1500" b="1" dirty="0">
                <a:solidFill>
                  <a:srgbClr val="F5F4EE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실행 1회</a:t>
            </a:r>
            <a:endParaRPr lang="en-US" sz="1500" dirty="0"/>
          </a:p>
        </p:txBody>
      </p:sp>
      <p:sp>
        <p:nvSpPr>
          <p:cNvPr id="10" name="Shape 7"/>
          <p:cNvSpPr/>
          <p:nvPr/>
        </p:nvSpPr>
        <p:spPr>
          <a:xfrm>
            <a:off x="9651492" y="2603297"/>
            <a:ext cx="0" cy="571500"/>
          </a:xfrm>
          <a:prstGeom prst="line">
            <a:avLst/>
          </a:prstGeom>
          <a:noFill/>
          <a:ln w="63500">
            <a:solidFill>
              <a:srgbClr val="0F1B2D"/>
            </a:solidFill>
            <a:prstDash val="solid"/>
          </a:ln>
        </p:spPr>
      </p:sp>
      <p:sp>
        <p:nvSpPr>
          <p:cNvPr id="11" name="Shape 8"/>
          <p:cNvSpPr/>
          <p:nvPr/>
        </p:nvSpPr>
        <p:spPr>
          <a:xfrm>
            <a:off x="8762695" y="3174797"/>
            <a:ext cx="1777594" cy="609905"/>
          </a:xfrm>
          <a:prstGeom prst="roundRect">
            <a:avLst>
              <a:gd name="adj" fmla="val 49925"/>
            </a:avLst>
          </a:prstGeom>
          <a:solidFill>
            <a:srgbClr val="E8A33D"/>
          </a:solidFill>
          <a:ln/>
        </p:spPr>
      </p:sp>
      <p:sp>
        <p:nvSpPr>
          <p:cNvPr id="12" name="Text 9"/>
          <p:cNvSpPr txBox="1"/>
          <p:nvPr/>
        </p:nvSpPr>
        <p:spPr>
          <a:xfrm>
            <a:off x="8762695" y="3174797"/>
            <a:ext cx="1777594" cy="60990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0F1B2D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callgrind</a:t>
            </a:r>
            <a:endParaRPr lang="en-US" sz="1200" dirty="0"/>
          </a:p>
        </p:txBody>
      </p:sp>
      <p:sp>
        <p:nvSpPr>
          <p:cNvPr id="13" name="Shape 10"/>
          <p:cNvSpPr/>
          <p:nvPr/>
        </p:nvSpPr>
        <p:spPr>
          <a:xfrm flipV="1">
            <a:off x="8318297" y="3784702"/>
            <a:ext cx="825703" cy="977494"/>
          </a:xfrm>
          <a:prstGeom prst="line">
            <a:avLst/>
          </a:prstGeom>
          <a:noFill/>
          <a:ln w="63500">
            <a:solidFill>
              <a:srgbClr val="2FA6A0"/>
            </a:solidFill>
            <a:prstDash val="solid"/>
            <a:tailEnd type="triangle"/>
          </a:ln>
        </p:spPr>
      </p:sp>
      <p:sp>
        <p:nvSpPr>
          <p:cNvPr id="14" name="Shape 11"/>
          <p:cNvSpPr/>
          <p:nvPr/>
        </p:nvSpPr>
        <p:spPr>
          <a:xfrm>
            <a:off x="10159898" y="3784702"/>
            <a:ext cx="825703" cy="977494"/>
          </a:xfrm>
          <a:prstGeom prst="line">
            <a:avLst/>
          </a:prstGeom>
          <a:noFill/>
          <a:ln w="63500">
            <a:solidFill>
              <a:srgbClr val="2FA6A0"/>
            </a:solidFill>
            <a:prstDash val="solid"/>
            <a:tailEnd type="triangle"/>
          </a:ln>
        </p:spPr>
      </p:sp>
      <p:sp>
        <p:nvSpPr>
          <p:cNvPr id="15" name="Shape 12"/>
          <p:cNvSpPr/>
          <p:nvPr/>
        </p:nvSpPr>
        <p:spPr>
          <a:xfrm>
            <a:off x="7619695" y="4762195"/>
            <a:ext cx="1524305" cy="634594"/>
          </a:xfrm>
          <a:prstGeom prst="roundRect">
            <a:avLst>
              <a:gd name="adj" fmla="val 15994"/>
            </a:avLst>
          </a:prstGeom>
          <a:solidFill>
            <a:srgbClr val="F7F6F1"/>
          </a:solidFill>
          <a:ln w="12700">
            <a:solidFill>
              <a:srgbClr val="DDD9CC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7619695" y="4762195"/>
            <a:ext cx="1524305" cy="63459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F1B2D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AI</a:t>
            </a:r>
            <a:endParaRPr lang="en-US" sz="1400" dirty="0"/>
          </a:p>
          <a:p>
            <a:pPr algn="ctr" indent="0" marL="0">
              <a:buNone/>
            </a:pPr>
            <a:r>
              <a:rPr lang="en-US" sz="1400" b="1" dirty="0">
                <a:solidFill>
                  <a:srgbClr val="0F1B2D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질의 API</a:t>
            </a:r>
            <a:endParaRPr lang="en-US" sz="1400" dirty="0"/>
          </a:p>
        </p:txBody>
      </p:sp>
      <p:sp>
        <p:nvSpPr>
          <p:cNvPr id="17" name="Shape 14"/>
          <p:cNvSpPr/>
          <p:nvPr/>
        </p:nvSpPr>
        <p:spPr>
          <a:xfrm>
            <a:off x="10159898" y="4762195"/>
            <a:ext cx="1524305" cy="634594"/>
          </a:xfrm>
          <a:prstGeom prst="roundRect">
            <a:avLst>
              <a:gd name="adj" fmla="val 15994"/>
            </a:avLst>
          </a:prstGeom>
          <a:solidFill>
            <a:srgbClr val="F7F6F1"/>
          </a:solidFill>
          <a:ln w="12700">
            <a:solidFill>
              <a:srgbClr val="DDD9CC"/>
            </a:solidFill>
            <a:prstDash val="solid"/>
          </a:ln>
        </p:spPr>
      </p:sp>
      <p:sp>
        <p:nvSpPr>
          <p:cNvPr id="18" name="Text 15"/>
          <p:cNvSpPr txBox="1"/>
          <p:nvPr/>
        </p:nvSpPr>
        <p:spPr>
          <a:xfrm>
            <a:off x="10159898" y="4762195"/>
            <a:ext cx="1524305" cy="63459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F1B2D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사람</a:t>
            </a:r>
            <a:endParaRPr lang="en-US" sz="1400" dirty="0"/>
          </a:p>
          <a:p>
            <a:pPr algn="ctr" indent="0" marL="0">
              <a:buNone/>
            </a:pPr>
            <a:r>
              <a:rPr lang="en-US" sz="1400" b="1" dirty="0">
                <a:solidFill>
                  <a:srgbClr val="0F1B2D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Profiler GUI</a:t>
            </a:r>
            <a:endParaRPr lang="en-US" sz="1400" dirty="0"/>
          </a:p>
        </p:txBody>
      </p:sp>
      <p:sp>
        <p:nvSpPr>
          <p:cNvPr id="19" name="Text 16"/>
          <p:cNvSpPr txBox="1"/>
          <p:nvPr/>
        </p:nvSpPr>
        <p:spPr>
          <a:xfrm>
            <a:off x="7619695" y="4000500"/>
            <a:ext cx="952805" cy="44439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rgbClr val="4A556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summary · stalls</a:t>
            </a:r>
            <a:endParaRPr lang="en-US" sz="1100" dirty="0"/>
          </a:p>
          <a:p>
            <a:pPr algn="ctr" indent="0" marL="0">
              <a:buNone/>
            </a:pPr>
            <a:r>
              <a:rPr lang="en-US" sz="1100" dirty="0">
                <a:solidFill>
                  <a:srgbClr val="4A556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regions · diff</a:t>
            </a:r>
            <a:endParaRPr lang="en-US" sz="1100" dirty="0"/>
          </a:p>
        </p:txBody>
      </p:sp>
      <p:sp>
        <p:nvSpPr>
          <p:cNvPr id="20" name="Text 17"/>
          <p:cNvSpPr txBox="1"/>
          <p:nvPr/>
        </p:nvSpPr>
        <p:spPr>
          <a:xfrm>
            <a:off x="10731398" y="4000500"/>
            <a:ext cx="952805" cy="44439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rgbClr val="4A556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함수 · 줄 · 콜 트리</a:t>
            </a:r>
            <a:endParaRPr lang="en-US" sz="1100" dirty="0"/>
          </a:p>
          <a:p>
            <a:pPr algn="ctr" indent="0" marL="0">
              <a:buNone/>
            </a:pPr>
            <a:r>
              <a:rPr lang="en-US" sz="1100" dirty="0">
                <a:solidFill>
                  <a:srgbClr val="4A556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시나리오 비교</a:t>
            </a:r>
            <a:endParaRPr lang="en-US" sz="1100" dirty="0"/>
          </a:p>
        </p:txBody>
      </p:sp>
      <p:sp>
        <p:nvSpPr>
          <p:cNvPr id="21" name="Shape 18"/>
          <p:cNvSpPr/>
          <p:nvPr/>
        </p:nvSpPr>
        <p:spPr>
          <a:xfrm>
            <a:off x="508406" y="5244998"/>
            <a:ext cx="3606394" cy="634594"/>
          </a:xfrm>
          <a:prstGeom prst="roundRect">
            <a:avLst>
              <a:gd name="adj" fmla="val 11960"/>
            </a:avLst>
          </a:prstGeom>
          <a:solidFill>
            <a:srgbClr val="F7F6F1"/>
          </a:solidFill>
          <a:ln w="12700">
            <a:solidFill>
              <a:srgbClr val="DDD9CC"/>
            </a:solidFill>
            <a:prstDash val="solid"/>
          </a:ln>
        </p:spPr>
      </p:sp>
      <p:sp>
        <p:nvSpPr>
          <p:cNvPr id="22" name="Text 19"/>
          <p:cNvSpPr txBox="1"/>
          <p:nvPr/>
        </p:nvSpPr>
        <p:spPr>
          <a:xfrm>
            <a:off x="660197" y="5244998"/>
            <a:ext cx="254203" cy="63459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dirty="0">
                <a:solidFill>
                  <a:srgbClr val="1F7F7A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✓</a:t>
            </a:r>
            <a:endParaRPr lang="en-US" sz="1600" dirty="0"/>
          </a:p>
        </p:txBody>
      </p:sp>
      <p:sp>
        <p:nvSpPr>
          <p:cNvPr id="23" name="Text 20"/>
          <p:cNvSpPr txBox="1"/>
          <p:nvPr/>
        </p:nvSpPr>
        <p:spPr>
          <a:xfrm>
            <a:off x="965606" y="5244998"/>
            <a:ext cx="2997403" cy="63459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250" dirty="0">
                <a:solidFill>
                  <a:srgbClr val="0F1B2D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callgrind는 정립된 공개 포맷 — AI도 사람도 새 파서 없이 바로 읽음</a:t>
            </a:r>
            <a:endParaRPr lang="en-US" sz="1250" dirty="0"/>
          </a:p>
        </p:txBody>
      </p:sp>
      <p:sp>
        <p:nvSpPr>
          <p:cNvPr id="24" name="Shape 21"/>
          <p:cNvSpPr/>
          <p:nvPr/>
        </p:nvSpPr>
        <p:spPr>
          <a:xfrm>
            <a:off x="4292194" y="5244998"/>
            <a:ext cx="3606394" cy="634594"/>
          </a:xfrm>
          <a:prstGeom prst="roundRect">
            <a:avLst>
              <a:gd name="adj" fmla="val 11960"/>
            </a:avLst>
          </a:prstGeom>
          <a:solidFill>
            <a:srgbClr val="F7F6F1"/>
          </a:solidFill>
          <a:ln w="12700">
            <a:solidFill>
              <a:srgbClr val="DDD9CC"/>
            </a:solidFill>
            <a:prstDash val="solid"/>
          </a:ln>
        </p:spPr>
      </p:sp>
      <p:sp>
        <p:nvSpPr>
          <p:cNvPr id="25" name="Text 22"/>
          <p:cNvSpPr txBox="1"/>
          <p:nvPr/>
        </p:nvSpPr>
        <p:spPr>
          <a:xfrm>
            <a:off x="4444898" y="5244998"/>
            <a:ext cx="254203" cy="63459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dirty="0">
                <a:solidFill>
                  <a:srgbClr val="1F7F7A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◉</a:t>
            </a:r>
            <a:endParaRPr lang="en-US" sz="1600" dirty="0"/>
          </a:p>
        </p:txBody>
      </p:sp>
      <p:sp>
        <p:nvSpPr>
          <p:cNvPr id="26" name="Text 23"/>
          <p:cNvSpPr txBox="1"/>
          <p:nvPr/>
        </p:nvSpPr>
        <p:spPr>
          <a:xfrm>
            <a:off x="4749394" y="5244998"/>
            <a:ext cx="2997403" cy="63459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250" dirty="0">
                <a:solidFill>
                  <a:srgbClr val="0F1B2D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AI의 결정을 사람이 같은 데이터로 검토 → human-on-the-loop</a:t>
            </a:r>
            <a:endParaRPr lang="en-US" sz="1250" dirty="0"/>
          </a:p>
        </p:txBody>
      </p:sp>
      <p:sp>
        <p:nvSpPr>
          <p:cNvPr id="27" name="Shape 24"/>
          <p:cNvSpPr/>
          <p:nvPr/>
        </p:nvSpPr>
        <p:spPr>
          <a:xfrm>
            <a:off x="8076895" y="5244998"/>
            <a:ext cx="3606394" cy="634594"/>
          </a:xfrm>
          <a:prstGeom prst="roundRect">
            <a:avLst>
              <a:gd name="adj" fmla="val 11960"/>
            </a:avLst>
          </a:prstGeom>
          <a:solidFill>
            <a:srgbClr val="F7F6F1"/>
          </a:solidFill>
          <a:ln w="12700">
            <a:solidFill>
              <a:srgbClr val="DDD9CC"/>
            </a:solidFill>
            <a:prstDash val="solid"/>
          </a:ln>
        </p:spPr>
      </p:sp>
      <p:sp>
        <p:nvSpPr>
          <p:cNvPr id="28" name="Text 25"/>
          <p:cNvSpPr txBox="1"/>
          <p:nvPr/>
        </p:nvSpPr>
        <p:spPr>
          <a:xfrm>
            <a:off x="8229600" y="5244998"/>
            <a:ext cx="254203" cy="63459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dirty="0">
                <a:solidFill>
                  <a:srgbClr val="B8791F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★</a:t>
            </a:r>
            <a:endParaRPr lang="en-US" sz="1600" dirty="0"/>
          </a:p>
        </p:txBody>
      </p:sp>
      <p:sp>
        <p:nvSpPr>
          <p:cNvPr id="29" name="Text 26"/>
          <p:cNvSpPr txBox="1"/>
          <p:nvPr/>
        </p:nvSpPr>
        <p:spPr>
          <a:xfrm>
            <a:off x="8534095" y="5244998"/>
            <a:ext cx="2997403" cy="63459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250" dirty="0">
                <a:solidFill>
                  <a:srgbClr val="0F1B2D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이번 과제: 다중 시나리오·비교 분석·Call Tree·UI/UX 대규모 개편</a:t>
            </a:r>
            <a:endParaRPr lang="en-US" sz="125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737006"/>
          </a:xfrm>
          <a:prstGeom prst="rect">
            <a:avLst/>
          </a:prstGeom>
          <a:solidFill>
            <a:srgbClr val="111111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508406" y="0"/>
            <a:ext cx="11175797" cy="73700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2. 개발 및 설계 — WaveScope (신규)</a:t>
            </a:r>
            <a:endParaRPr lang="en-US" sz="1600" dirty="0"/>
          </a:p>
        </p:txBody>
      </p:sp>
      <p:sp>
        <p:nvSpPr>
          <p:cNvPr id="5" name="Text 2"/>
          <p:cNvSpPr txBox="1"/>
          <p:nvPr/>
        </p:nvSpPr>
        <p:spPr>
          <a:xfrm>
            <a:off x="508406" y="1015898"/>
            <a:ext cx="11175797" cy="50840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3000" b="1" dirty="0">
                <a:solidFill>
                  <a:srgbClr val="0F1B2D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파형만 있으면 어떤 플랫폼이든 같은 프로파일이 나옵니다</a:t>
            </a:r>
            <a:endParaRPr lang="en-US" sz="3000" dirty="0"/>
          </a:p>
        </p:txBody>
      </p:sp>
      <p:sp>
        <p:nvSpPr>
          <p:cNvPr id="6" name="Shape 3"/>
          <p:cNvSpPr/>
          <p:nvPr/>
        </p:nvSpPr>
        <p:spPr>
          <a:xfrm>
            <a:off x="508406" y="1714500"/>
            <a:ext cx="2031797" cy="571500"/>
          </a:xfrm>
          <a:prstGeom prst="roundRect">
            <a:avLst>
              <a:gd name="adj" fmla="val 15520"/>
            </a:avLst>
          </a:prstGeom>
          <a:solidFill>
            <a:srgbClr val="F7F6F1"/>
          </a:solidFill>
          <a:ln w="12700">
            <a:solidFill>
              <a:srgbClr val="DDD9CC"/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508406" y="1714500"/>
            <a:ext cx="2031797" cy="571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0F1B2D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가상 플랫폼</a:t>
            </a:r>
            <a:endParaRPr lang="en-US" sz="1500" dirty="0"/>
          </a:p>
        </p:txBody>
      </p:sp>
      <p:sp>
        <p:nvSpPr>
          <p:cNvPr id="8" name="Shape 5"/>
          <p:cNvSpPr/>
          <p:nvPr/>
        </p:nvSpPr>
        <p:spPr>
          <a:xfrm>
            <a:off x="2540203" y="1999793"/>
            <a:ext cx="1206094" cy="1143000"/>
          </a:xfrm>
          <a:prstGeom prst="line">
            <a:avLst/>
          </a:prstGeom>
          <a:noFill/>
          <a:ln w="38100">
            <a:solidFill>
              <a:srgbClr val="B8B4A8"/>
            </a:solidFill>
            <a:prstDash val="solid"/>
          </a:ln>
        </p:spPr>
      </p:sp>
      <p:sp>
        <p:nvSpPr>
          <p:cNvPr id="9" name="Shape 6"/>
          <p:cNvSpPr/>
          <p:nvPr/>
        </p:nvSpPr>
        <p:spPr>
          <a:xfrm>
            <a:off x="508406" y="2476195"/>
            <a:ext cx="2031797" cy="571500"/>
          </a:xfrm>
          <a:prstGeom prst="roundRect">
            <a:avLst>
              <a:gd name="adj" fmla="val 15520"/>
            </a:avLst>
          </a:prstGeom>
          <a:solidFill>
            <a:srgbClr val="F7F6F1"/>
          </a:solidFill>
          <a:ln w="12700">
            <a:solidFill>
              <a:srgbClr val="DDD9CC"/>
            </a:solidFill>
            <a:prstDash val="solid"/>
          </a:ln>
        </p:spPr>
      </p:sp>
      <p:sp>
        <p:nvSpPr>
          <p:cNvPr id="10" name="Text 7"/>
          <p:cNvSpPr txBox="1"/>
          <p:nvPr/>
        </p:nvSpPr>
        <p:spPr>
          <a:xfrm>
            <a:off x="508406" y="2476195"/>
            <a:ext cx="2031797" cy="571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0F1B2D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RTL 시뮬레이터</a:t>
            </a:r>
            <a:endParaRPr lang="en-US" sz="1500" dirty="0"/>
          </a:p>
        </p:txBody>
      </p:sp>
      <p:sp>
        <p:nvSpPr>
          <p:cNvPr id="11" name="Shape 8"/>
          <p:cNvSpPr/>
          <p:nvPr/>
        </p:nvSpPr>
        <p:spPr>
          <a:xfrm>
            <a:off x="2540203" y="2762402"/>
            <a:ext cx="1206094" cy="381305"/>
          </a:xfrm>
          <a:prstGeom prst="line">
            <a:avLst/>
          </a:prstGeom>
          <a:noFill/>
          <a:ln w="38100">
            <a:solidFill>
              <a:srgbClr val="B8B4A8"/>
            </a:solidFill>
            <a:prstDash val="solid"/>
          </a:ln>
        </p:spPr>
      </p:sp>
      <p:sp>
        <p:nvSpPr>
          <p:cNvPr id="12" name="Shape 9"/>
          <p:cNvSpPr/>
          <p:nvPr/>
        </p:nvSpPr>
        <p:spPr>
          <a:xfrm>
            <a:off x="508406" y="3238805"/>
            <a:ext cx="2031797" cy="571500"/>
          </a:xfrm>
          <a:prstGeom prst="roundRect">
            <a:avLst>
              <a:gd name="adj" fmla="val 15520"/>
            </a:avLst>
          </a:prstGeom>
          <a:solidFill>
            <a:srgbClr val="F7F6F1"/>
          </a:solidFill>
          <a:ln w="12700">
            <a:solidFill>
              <a:srgbClr val="DDD9CC"/>
            </a:solidFill>
            <a:prstDash val="solid"/>
          </a:ln>
        </p:spPr>
      </p:sp>
      <p:sp>
        <p:nvSpPr>
          <p:cNvPr id="13" name="Text 10"/>
          <p:cNvSpPr txBox="1"/>
          <p:nvPr/>
        </p:nvSpPr>
        <p:spPr>
          <a:xfrm>
            <a:off x="508406" y="3238805"/>
            <a:ext cx="2031797" cy="571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0F1B2D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에뮬레이터</a:t>
            </a:r>
            <a:endParaRPr lang="en-US" sz="1500" dirty="0"/>
          </a:p>
        </p:txBody>
      </p:sp>
      <p:sp>
        <p:nvSpPr>
          <p:cNvPr id="14" name="Shape 11"/>
          <p:cNvSpPr/>
          <p:nvPr/>
        </p:nvSpPr>
        <p:spPr>
          <a:xfrm flipV="1">
            <a:off x="2540203" y="3142793"/>
            <a:ext cx="1206094" cy="381305"/>
          </a:xfrm>
          <a:prstGeom prst="line">
            <a:avLst/>
          </a:prstGeom>
          <a:noFill/>
          <a:ln w="38100">
            <a:solidFill>
              <a:srgbClr val="B8B4A8"/>
            </a:solidFill>
            <a:prstDash val="solid"/>
          </a:ln>
        </p:spPr>
      </p:sp>
      <p:sp>
        <p:nvSpPr>
          <p:cNvPr id="15" name="Shape 12"/>
          <p:cNvSpPr/>
          <p:nvPr/>
        </p:nvSpPr>
        <p:spPr>
          <a:xfrm>
            <a:off x="508406" y="4000500"/>
            <a:ext cx="2031797" cy="571500"/>
          </a:xfrm>
          <a:prstGeom prst="roundRect">
            <a:avLst>
              <a:gd name="adj" fmla="val 15520"/>
            </a:avLst>
          </a:prstGeom>
          <a:solidFill>
            <a:srgbClr val="F7F6F1"/>
          </a:solidFill>
          <a:ln w="12700">
            <a:solidFill>
              <a:srgbClr val="DDD9CC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508406" y="4000500"/>
            <a:ext cx="2031797" cy="571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0F1B2D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FPGA 프로토타입</a:t>
            </a:r>
            <a:endParaRPr lang="en-US" sz="1500" dirty="0"/>
          </a:p>
        </p:txBody>
      </p:sp>
      <p:sp>
        <p:nvSpPr>
          <p:cNvPr id="17" name="Shape 14"/>
          <p:cNvSpPr/>
          <p:nvPr/>
        </p:nvSpPr>
        <p:spPr>
          <a:xfrm flipV="1">
            <a:off x="2540203" y="3142793"/>
            <a:ext cx="1206094" cy="1143000"/>
          </a:xfrm>
          <a:prstGeom prst="line">
            <a:avLst/>
          </a:prstGeom>
          <a:noFill/>
          <a:ln w="38100">
            <a:solidFill>
              <a:srgbClr val="B8B4A8"/>
            </a:solidFill>
            <a:prstDash val="solid"/>
          </a:ln>
        </p:spPr>
      </p:sp>
      <p:sp>
        <p:nvSpPr>
          <p:cNvPr id="18" name="Shape 15"/>
          <p:cNvSpPr/>
          <p:nvPr/>
        </p:nvSpPr>
        <p:spPr>
          <a:xfrm>
            <a:off x="3746297" y="2540203"/>
            <a:ext cx="1651406" cy="1206094"/>
          </a:xfrm>
          <a:prstGeom prst="roundRect">
            <a:avLst>
              <a:gd name="adj" fmla="val 8415"/>
            </a:avLst>
          </a:prstGeom>
          <a:solidFill>
            <a:srgbClr val="0F1B2D"/>
          </a:solidFill>
          <a:ln/>
        </p:spPr>
      </p:sp>
      <p:sp>
        <p:nvSpPr>
          <p:cNvPr id="19" name="Shape 16"/>
          <p:cNvSpPr/>
          <p:nvPr/>
        </p:nvSpPr>
        <p:spPr>
          <a:xfrm>
            <a:off x="3873398" y="2825496"/>
            <a:ext cx="202997" cy="0"/>
          </a:xfrm>
          <a:prstGeom prst="line">
            <a:avLst/>
          </a:prstGeom>
          <a:noFill/>
          <a:ln w="31750">
            <a:solidFill>
              <a:srgbClr val="8FA3B8"/>
            </a:solidFill>
            <a:prstDash val="solid"/>
          </a:ln>
        </p:spPr>
      </p:sp>
      <p:sp>
        <p:nvSpPr>
          <p:cNvPr id="20" name="Shape 17"/>
          <p:cNvSpPr/>
          <p:nvPr/>
        </p:nvSpPr>
        <p:spPr>
          <a:xfrm>
            <a:off x="4076395" y="2736799"/>
            <a:ext cx="202997" cy="0"/>
          </a:xfrm>
          <a:prstGeom prst="line">
            <a:avLst/>
          </a:prstGeom>
          <a:noFill/>
          <a:ln w="31750">
            <a:solidFill>
              <a:srgbClr val="8FA3B8"/>
            </a:solidFill>
            <a:prstDash val="solid"/>
          </a:ln>
        </p:spPr>
      </p:sp>
      <p:sp>
        <p:nvSpPr>
          <p:cNvPr id="21" name="Shape 18"/>
          <p:cNvSpPr/>
          <p:nvPr/>
        </p:nvSpPr>
        <p:spPr>
          <a:xfrm>
            <a:off x="4279392" y="2825496"/>
            <a:ext cx="202997" cy="0"/>
          </a:xfrm>
          <a:prstGeom prst="line">
            <a:avLst/>
          </a:prstGeom>
          <a:noFill/>
          <a:ln w="31750">
            <a:solidFill>
              <a:srgbClr val="8FA3B8"/>
            </a:solidFill>
            <a:prstDash val="solid"/>
          </a:ln>
        </p:spPr>
      </p:sp>
      <p:sp>
        <p:nvSpPr>
          <p:cNvPr id="22" name="Shape 19"/>
          <p:cNvSpPr/>
          <p:nvPr/>
        </p:nvSpPr>
        <p:spPr>
          <a:xfrm>
            <a:off x="4483303" y="2736799"/>
            <a:ext cx="202997" cy="0"/>
          </a:xfrm>
          <a:prstGeom prst="line">
            <a:avLst/>
          </a:prstGeom>
          <a:noFill/>
          <a:ln w="31750">
            <a:solidFill>
              <a:srgbClr val="8FA3B8"/>
            </a:solidFill>
            <a:prstDash val="solid"/>
          </a:ln>
        </p:spPr>
      </p:sp>
      <p:sp>
        <p:nvSpPr>
          <p:cNvPr id="23" name="Shape 20"/>
          <p:cNvSpPr/>
          <p:nvPr/>
        </p:nvSpPr>
        <p:spPr>
          <a:xfrm>
            <a:off x="4686300" y="2825496"/>
            <a:ext cx="202997" cy="0"/>
          </a:xfrm>
          <a:prstGeom prst="line">
            <a:avLst/>
          </a:prstGeom>
          <a:noFill/>
          <a:ln w="31750">
            <a:solidFill>
              <a:srgbClr val="8FA3B8"/>
            </a:solidFill>
            <a:prstDash val="solid"/>
          </a:ln>
        </p:spPr>
      </p:sp>
      <p:sp>
        <p:nvSpPr>
          <p:cNvPr id="24" name="Shape 21"/>
          <p:cNvSpPr/>
          <p:nvPr/>
        </p:nvSpPr>
        <p:spPr>
          <a:xfrm>
            <a:off x="4889297" y="2736799"/>
            <a:ext cx="202997" cy="0"/>
          </a:xfrm>
          <a:prstGeom prst="line">
            <a:avLst/>
          </a:prstGeom>
          <a:noFill/>
          <a:ln w="31750">
            <a:solidFill>
              <a:srgbClr val="8FA3B8"/>
            </a:solidFill>
            <a:prstDash val="solid"/>
          </a:ln>
        </p:spPr>
      </p:sp>
      <p:sp>
        <p:nvSpPr>
          <p:cNvPr id="25" name="Shape 22"/>
          <p:cNvSpPr/>
          <p:nvPr/>
        </p:nvSpPr>
        <p:spPr>
          <a:xfrm>
            <a:off x="5092294" y="2825496"/>
            <a:ext cx="254203" cy="0"/>
          </a:xfrm>
          <a:prstGeom prst="line">
            <a:avLst/>
          </a:prstGeom>
          <a:noFill/>
          <a:ln w="31750">
            <a:solidFill>
              <a:srgbClr val="8FA3B8"/>
            </a:solidFill>
            <a:prstDash val="solid"/>
          </a:ln>
        </p:spPr>
      </p:sp>
      <p:sp>
        <p:nvSpPr>
          <p:cNvPr id="26" name="Shape 23"/>
          <p:cNvSpPr/>
          <p:nvPr/>
        </p:nvSpPr>
        <p:spPr>
          <a:xfrm>
            <a:off x="3873398" y="3111703"/>
            <a:ext cx="202997" cy="0"/>
          </a:xfrm>
          <a:prstGeom prst="line">
            <a:avLst/>
          </a:prstGeom>
          <a:noFill/>
          <a:ln w="31750">
            <a:solidFill>
              <a:srgbClr val="8FA3B8"/>
            </a:solidFill>
            <a:prstDash val="solid"/>
          </a:ln>
        </p:spPr>
      </p:sp>
      <p:sp>
        <p:nvSpPr>
          <p:cNvPr id="27" name="Shape 24"/>
          <p:cNvSpPr/>
          <p:nvPr/>
        </p:nvSpPr>
        <p:spPr>
          <a:xfrm>
            <a:off x="4076395" y="3022092"/>
            <a:ext cx="202997" cy="0"/>
          </a:xfrm>
          <a:prstGeom prst="line">
            <a:avLst/>
          </a:prstGeom>
          <a:noFill/>
          <a:ln w="31750">
            <a:solidFill>
              <a:srgbClr val="8FA3B8"/>
            </a:solidFill>
            <a:prstDash val="solid"/>
          </a:ln>
        </p:spPr>
      </p:sp>
      <p:sp>
        <p:nvSpPr>
          <p:cNvPr id="28" name="Shape 25"/>
          <p:cNvSpPr/>
          <p:nvPr/>
        </p:nvSpPr>
        <p:spPr>
          <a:xfrm>
            <a:off x="4279392" y="3111703"/>
            <a:ext cx="202997" cy="0"/>
          </a:xfrm>
          <a:prstGeom prst="line">
            <a:avLst/>
          </a:prstGeom>
          <a:noFill/>
          <a:ln w="31750">
            <a:solidFill>
              <a:srgbClr val="8FA3B8"/>
            </a:solidFill>
            <a:prstDash val="solid"/>
          </a:ln>
        </p:spPr>
      </p:sp>
      <p:sp>
        <p:nvSpPr>
          <p:cNvPr id="29" name="Shape 26"/>
          <p:cNvSpPr/>
          <p:nvPr/>
        </p:nvSpPr>
        <p:spPr>
          <a:xfrm>
            <a:off x="4483303" y="3022092"/>
            <a:ext cx="202997" cy="0"/>
          </a:xfrm>
          <a:prstGeom prst="line">
            <a:avLst/>
          </a:prstGeom>
          <a:noFill/>
          <a:ln w="31750">
            <a:solidFill>
              <a:srgbClr val="8FA3B8"/>
            </a:solidFill>
            <a:prstDash val="solid"/>
          </a:ln>
        </p:spPr>
      </p:sp>
      <p:sp>
        <p:nvSpPr>
          <p:cNvPr id="30" name="Shape 27"/>
          <p:cNvSpPr/>
          <p:nvPr/>
        </p:nvSpPr>
        <p:spPr>
          <a:xfrm>
            <a:off x="4686300" y="3111703"/>
            <a:ext cx="202997" cy="0"/>
          </a:xfrm>
          <a:prstGeom prst="line">
            <a:avLst/>
          </a:prstGeom>
          <a:noFill/>
          <a:ln w="31750">
            <a:solidFill>
              <a:srgbClr val="8FA3B8"/>
            </a:solidFill>
            <a:prstDash val="solid"/>
          </a:ln>
        </p:spPr>
      </p:sp>
      <p:sp>
        <p:nvSpPr>
          <p:cNvPr id="31" name="Shape 28"/>
          <p:cNvSpPr/>
          <p:nvPr/>
        </p:nvSpPr>
        <p:spPr>
          <a:xfrm>
            <a:off x="4889297" y="3022092"/>
            <a:ext cx="202997" cy="0"/>
          </a:xfrm>
          <a:prstGeom prst="line">
            <a:avLst/>
          </a:prstGeom>
          <a:noFill/>
          <a:ln w="31750">
            <a:solidFill>
              <a:srgbClr val="8FA3B8"/>
            </a:solidFill>
            <a:prstDash val="solid"/>
          </a:ln>
        </p:spPr>
      </p:sp>
      <p:sp>
        <p:nvSpPr>
          <p:cNvPr id="32" name="Shape 29"/>
          <p:cNvSpPr/>
          <p:nvPr/>
        </p:nvSpPr>
        <p:spPr>
          <a:xfrm>
            <a:off x="5092294" y="3111703"/>
            <a:ext cx="254203" cy="0"/>
          </a:xfrm>
          <a:prstGeom prst="line">
            <a:avLst/>
          </a:prstGeom>
          <a:noFill/>
          <a:ln w="31750">
            <a:solidFill>
              <a:srgbClr val="8FA3B8"/>
            </a:solidFill>
            <a:prstDash val="solid"/>
          </a:ln>
        </p:spPr>
      </p:sp>
      <p:sp>
        <p:nvSpPr>
          <p:cNvPr id="33" name="Shape 30"/>
          <p:cNvSpPr/>
          <p:nvPr/>
        </p:nvSpPr>
        <p:spPr>
          <a:xfrm>
            <a:off x="3873398" y="3396996"/>
            <a:ext cx="202997" cy="0"/>
          </a:xfrm>
          <a:prstGeom prst="line">
            <a:avLst/>
          </a:prstGeom>
          <a:noFill/>
          <a:ln w="31750">
            <a:solidFill>
              <a:srgbClr val="8FA3B8"/>
            </a:solidFill>
            <a:prstDash val="solid"/>
          </a:ln>
        </p:spPr>
      </p:sp>
      <p:sp>
        <p:nvSpPr>
          <p:cNvPr id="34" name="Shape 31"/>
          <p:cNvSpPr/>
          <p:nvPr/>
        </p:nvSpPr>
        <p:spPr>
          <a:xfrm>
            <a:off x="4076395" y="3308299"/>
            <a:ext cx="202997" cy="0"/>
          </a:xfrm>
          <a:prstGeom prst="line">
            <a:avLst/>
          </a:prstGeom>
          <a:noFill/>
          <a:ln w="31750">
            <a:solidFill>
              <a:srgbClr val="8FA3B8"/>
            </a:solidFill>
            <a:prstDash val="solid"/>
          </a:ln>
        </p:spPr>
      </p:sp>
      <p:sp>
        <p:nvSpPr>
          <p:cNvPr id="35" name="Shape 32"/>
          <p:cNvSpPr/>
          <p:nvPr/>
        </p:nvSpPr>
        <p:spPr>
          <a:xfrm>
            <a:off x="4279392" y="3396996"/>
            <a:ext cx="202997" cy="0"/>
          </a:xfrm>
          <a:prstGeom prst="line">
            <a:avLst/>
          </a:prstGeom>
          <a:noFill/>
          <a:ln w="31750">
            <a:solidFill>
              <a:srgbClr val="8FA3B8"/>
            </a:solidFill>
            <a:prstDash val="solid"/>
          </a:ln>
        </p:spPr>
      </p:sp>
      <p:sp>
        <p:nvSpPr>
          <p:cNvPr id="36" name="Shape 33"/>
          <p:cNvSpPr/>
          <p:nvPr/>
        </p:nvSpPr>
        <p:spPr>
          <a:xfrm>
            <a:off x="4483303" y="3308299"/>
            <a:ext cx="202997" cy="0"/>
          </a:xfrm>
          <a:prstGeom prst="line">
            <a:avLst/>
          </a:prstGeom>
          <a:noFill/>
          <a:ln w="31750">
            <a:solidFill>
              <a:srgbClr val="8FA3B8"/>
            </a:solidFill>
            <a:prstDash val="solid"/>
          </a:ln>
        </p:spPr>
      </p:sp>
      <p:sp>
        <p:nvSpPr>
          <p:cNvPr id="37" name="Shape 34"/>
          <p:cNvSpPr/>
          <p:nvPr/>
        </p:nvSpPr>
        <p:spPr>
          <a:xfrm>
            <a:off x="4686300" y="3396996"/>
            <a:ext cx="202997" cy="0"/>
          </a:xfrm>
          <a:prstGeom prst="line">
            <a:avLst/>
          </a:prstGeom>
          <a:noFill/>
          <a:ln w="31750">
            <a:solidFill>
              <a:srgbClr val="8FA3B8"/>
            </a:solidFill>
            <a:prstDash val="solid"/>
          </a:ln>
        </p:spPr>
      </p:sp>
      <p:sp>
        <p:nvSpPr>
          <p:cNvPr id="38" name="Shape 35"/>
          <p:cNvSpPr/>
          <p:nvPr/>
        </p:nvSpPr>
        <p:spPr>
          <a:xfrm>
            <a:off x="4889297" y="3308299"/>
            <a:ext cx="202997" cy="0"/>
          </a:xfrm>
          <a:prstGeom prst="line">
            <a:avLst/>
          </a:prstGeom>
          <a:noFill/>
          <a:ln w="31750">
            <a:solidFill>
              <a:srgbClr val="8FA3B8"/>
            </a:solidFill>
            <a:prstDash val="solid"/>
          </a:ln>
        </p:spPr>
      </p:sp>
      <p:sp>
        <p:nvSpPr>
          <p:cNvPr id="39" name="Shape 36"/>
          <p:cNvSpPr/>
          <p:nvPr/>
        </p:nvSpPr>
        <p:spPr>
          <a:xfrm>
            <a:off x="5092294" y="3396996"/>
            <a:ext cx="254203" cy="0"/>
          </a:xfrm>
          <a:prstGeom prst="line">
            <a:avLst/>
          </a:prstGeom>
          <a:noFill/>
          <a:ln w="31750">
            <a:solidFill>
              <a:srgbClr val="8FA3B8"/>
            </a:solidFill>
            <a:prstDash val="solid"/>
          </a:ln>
        </p:spPr>
      </p:sp>
      <p:sp>
        <p:nvSpPr>
          <p:cNvPr id="40" name="Text 37"/>
          <p:cNvSpPr txBox="1"/>
          <p:nvPr/>
        </p:nvSpPr>
        <p:spPr>
          <a:xfrm>
            <a:off x="3746297" y="2324405"/>
            <a:ext cx="1651406" cy="19019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50" dirty="0">
                <a:solidFill>
                  <a:srgbClr val="4A5568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파형 (clk + PC)</a:t>
            </a:r>
            <a:endParaRPr lang="en-US" sz="1150" dirty="0"/>
          </a:p>
        </p:txBody>
      </p:sp>
      <p:sp>
        <p:nvSpPr>
          <p:cNvPr id="41" name="Text 38"/>
          <p:cNvSpPr txBox="1"/>
          <p:nvPr/>
        </p:nvSpPr>
        <p:spPr>
          <a:xfrm>
            <a:off x="3746297" y="3797503"/>
            <a:ext cx="1651406" cy="19019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50" dirty="0">
                <a:solidFill>
                  <a:srgbClr val="4A556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트레이스 IP 불필요</a:t>
            </a:r>
            <a:endParaRPr lang="en-US" sz="1150" dirty="0"/>
          </a:p>
        </p:txBody>
      </p:sp>
      <p:sp>
        <p:nvSpPr>
          <p:cNvPr id="42" name="Shape 39"/>
          <p:cNvSpPr/>
          <p:nvPr/>
        </p:nvSpPr>
        <p:spPr>
          <a:xfrm>
            <a:off x="5460797" y="3016606"/>
            <a:ext cx="508406" cy="254203"/>
          </a:xfrm>
          <a:prstGeom prst="rightArrow">
            <a:avLst/>
          </a:prstGeom>
          <a:solidFill>
            <a:srgbClr val="2FA6A0"/>
          </a:solidFill>
          <a:ln/>
        </p:spPr>
      </p:sp>
      <p:sp>
        <p:nvSpPr>
          <p:cNvPr id="43" name="Shape 40"/>
          <p:cNvSpPr/>
          <p:nvPr/>
        </p:nvSpPr>
        <p:spPr>
          <a:xfrm>
            <a:off x="6159398" y="2698394"/>
            <a:ext cx="2031797" cy="888797"/>
          </a:xfrm>
          <a:prstGeom prst="roundRect">
            <a:avLst>
              <a:gd name="adj" fmla="val 14300"/>
            </a:avLst>
          </a:prstGeom>
          <a:solidFill>
            <a:srgbClr val="2FA6A0"/>
          </a:solidFill>
          <a:ln/>
        </p:spPr>
      </p:sp>
      <p:sp>
        <p:nvSpPr>
          <p:cNvPr id="44" name="Text 41"/>
          <p:cNvSpPr txBox="1"/>
          <p:nvPr/>
        </p:nvSpPr>
        <p:spPr>
          <a:xfrm>
            <a:off x="6159398" y="2698394"/>
            <a:ext cx="2031797" cy="88879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0F1B2D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WaveScope</a:t>
            </a:r>
            <a:endParaRPr lang="en-US" sz="2000" dirty="0"/>
          </a:p>
        </p:txBody>
      </p:sp>
      <p:sp>
        <p:nvSpPr>
          <p:cNvPr id="45" name="Text 42"/>
          <p:cNvSpPr txBox="1"/>
          <p:nvPr/>
        </p:nvSpPr>
        <p:spPr>
          <a:xfrm>
            <a:off x="6159398" y="3683203"/>
            <a:ext cx="2031797" cy="38130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50" dirty="0">
                <a:solidFill>
                  <a:srgbClr val="4A556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PC 신호 × ELF 디스어셈블리</a:t>
            </a:r>
            <a:endParaRPr lang="en-US" sz="1150" dirty="0"/>
          </a:p>
          <a:p>
            <a:pPr algn="ctr" indent="0" marL="0">
              <a:buNone/>
            </a:pPr>
            <a:r>
              <a:rPr lang="en-US" sz="1150" dirty="0">
                <a:solidFill>
                  <a:srgbClr val="4A556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수 GB 파형 → 약 3분</a:t>
            </a:r>
            <a:endParaRPr lang="en-US" sz="1150" dirty="0"/>
          </a:p>
        </p:txBody>
      </p:sp>
      <p:sp>
        <p:nvSpPr>
          <p:cNvPr id="46" name="Shape 43"/>
          <p:cNvSpPr/>
          <p:nvPr/>
        </p:nvSpPr>
        <p:spPr>
          <a:xfrm>
            <a:off x="8255203" y="3016606"/>
            <a:ext cx="508406" cy="254203"/>
          </a:xfrm>
          <a:prstGeom prst="rightArrow">
            <a:avLst/>
          </a:prstGeom>
          <a:solidFill>
            <a:srgbClr val="E8A33D"/>
          </a:solidFill>
          <a:ln/>
        </p:spPr>
      </p:sp>
      <p:sp>
        <p:nvSpPr>
          <p:cNvPr id="47" name="Shape 44"/>
          <p:cNvSpPr/>
          <p:nvPr/>
        </p:nvSpPr>
        <p:spPr>
          <a:xfrm>
            <a:off x="8952890" y="1714500"/>
            <a:ext cx="2730398" cy="2857500"/>
          </a:xfrm>
          <a:prstGeom prst="roundRect">
            <a:avLst>
              <a:gd name="adj" fmla="val 3717"/>
            </a:avLst>
          </a:prstGeom>
          <a:solidFill>
            <a:srgbClr val="0F1B2D"/>
          </a:solidFill>
          <a:ln/>
        </p:spPr>
      </p:sp>
      <p:sp>
        <p:nvSpPr>
          <p:cNvPr id="48" name="Text 45"/>
          <p:cNvSpPr txBox="1"/>
          <p:nvPr/>
        </p:nvSpPr>
        <p:spPr>
          <a:xfrm>
            <a:off x="9092794" y="1867205"/>
            <a:ext cx="2476195" cy="20299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E8A33D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callgrind · 같은 함수 이름</a:t>
            </a:r>
            <a:endParaRPr lang="en-US" sz="1200" dirty="0"/>
          </a:p>
        </p:txBody>
      </p:sp>
      <p:sp>
        <p:nvSpPr>
          <p:cNvPr id="49" name="Text 46"/>
          <p:cNvSpPr txBox="1"/>
          <p:nvPr/>
        </p:nvSpPr>
        <p:spPr>
          <a:xfrm>
            <a:off x="9092794" y="2171700"/>
            <a:ext cx="2476195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60000"/>
              </a:lnSpc>
              <a:buNone/>
            </a:pPr>
            <a:r>
              <a:rPr lang="en-US" sz="1300" dirty="0">
                <a:solidFill>
                  <a:srgbClr val="F5F4EE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fir_filter    58,904</a:t>
            </a:r>
            <a:endParaRPr lang="en-US" sz="1300" dirty="0"/>
          </a:p>
          <a:p>
            <a:pPr algn="l" indent="0" marL="0">
              <a:lnSpc>
                <a:spcPct val="160000"/>
              </a:lnSpc>
              <a:buNone/>
            </a:pPr>
            <a:r>
              <a:rPr lang="en-US" sz="1300" dirty="0">
                <a:solidFill>
                  <a:srgbClr val="F5F4EE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memcpy        31,878</a:t>
            </a:r>
            <a:endParaRPr lang="en-US" sz="1300" dirty="0"/>
          </a:p>
          <a:p>
            <a:pPr algn="l" indent="0" marL="0">
              <a:lnSpc>
                <a:spcPct val="160000"/>
              </a:lnSpc>
              <a:buNone/>
            </a:pPr>
            <a:r>
              <a:rPr lang="en-US" sz="1300" dirty="0">
                <a:solidFill>
                  <a:srgbClr val="F5F4EE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dma_wait      15,488</a:t>
            </a:r>
            <a:endParaRPr lang="en-US" sz="1300" dirty="0"/>
          </a:p>
          <a:p>
            <a:pPr algn="l" indent="0" marL="0">
              <a:lnSpc>
                <a:spcPct val="160000"/>
              </a:lnSpc>
              <a:buNone/>
            </a:pPr>
            <a:r>
              <a:rPr lang="en-US" sz="1300" dirty="0">
                <a:solidFill>
                  <a:srgbClr val="F5F4EE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irq_handler    9,134</a:t>
            </a:r>
            <a:endParaRPr lang="en-US" sz="1300" dirty="0"/>
          </a:p>
        </p:txBody>
      </p:sp>
      <p:sp>
        <p:nvSpPr>
          <p:cNvPr id="50" name="Text 47"/>
          <p:cNvSpPr txBox="1"/>
          <p:nvPr/>
        </p:nvSpPr>
        <p:spPr>
          <a:xfrm>
            <a:off x="9092794" y="3429000"/>
            <a:ext cx="2476195" cy="44439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250" dirty="0">
                <a:solidFill>
                  <a:srgbClr val="BFD8D5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→ Profiler에서 플랫폼 간</a:t>
            </a:r>
            <a:endParaRPr lang="en-US" sz="1250" dirty="0"/>
          </a:p>
          <a:p>
            <a:pPr algn="l" indent="0" marL="0">
              <a:lnSpc>
                <a:spcPct val="130000"/>
              </a:lnSpc>
              <a:buNone/>
            </a:pPr>
            <a:r>
              <a:rPr lang="en-US" sz="1250" dirty="0">
                <a:solidFill>
                  <a:srgbClr val="BFD8D5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함수별로 나란히 비교</a:t>
            </a:r>
            <a:endParaRPr lang="en-US" sz="1250" dirty="0"/>
          </a:p>
        </p:txBody>
      </p:sp>
      <p:sp>
        <p:nvSpPr>
          <p:cNvPr id="51" name="Text 48"/>
          <p:cNvSpPr txBox="1"/>
          <p:nvPr/>
        </p:nvSpPr>
        <p:spPr>
          <a:xfrm>
            <a:off x="9092794" y="4127602"/>
            <a:ext cx="2476195" cy="19019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dirty="0">
                <a:solidFill>
                  <a:srgbClr val="8FA3B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(숫자는 형식 예시)</a:t>
            </a:r>
            <a:endParaRPr lang="en-US" sz="1100" dirty="0"/>
          </a:p>
        </p:txBody>
      </p:sp>
      <p:sp>
        <p:nvSpPr>
          <p:cNvPr id="52" name="Shape 49"/>
          <p:cNvSpPr/>
          <p:nvPr/>
        </p:nvSpPr>
        <p:spPr>
          <a:xfrm>
            <a:off x="508406" y="5079492"/>
            <a:ext cx="5512003" cy="761695"/>
          </a:xfrm>
          <a:prstGeom prst="roundRect">
            <a:avLst>
              <a:gd name="adj" fmla="val 9964"/>
            </a:avLst>
          </a:prstGeom>
          <a:solidFill>
            <a:srgbClr val="F7F6F1"/>
          </a:solidFill>
          <a:ln w="12700">
            <a:solidFill>
              <a:srgbClr val="DDD9CC"/>
            </a:solidFill>
            <a:prstDash val="solid"/>
          </a:ln>
        </p:spPr>
      </p:sp>
      <p:sp>
        <p:nvSpPr>
          <p:cNvPr id="53" name="Text 50"/>
          <p:cNvSpPr txBox="1"/>
          <p:nvPr/>
        </p:nvSpPr>
        <p:spPr>
          <a:xfrm>
            <a:off x="685800" y="5079492"/>
            <a:ext cx="279806" cy="76169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dirty="0">
                <a:solidFill>
                  <a:srgbClr val="1F7F7A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✓</a:t>
            </a:r>
            <a:endParaRPr lang="en-US" sz="1700" dirty="0"/>
          </a:p>
        </p:txBody>
      </p:sp>
      <p:sp>
        <p:nvSpPr>
          <p:cNvPr id="54" name="Text 51"/>
          <p:cNvSpPr txBox="1"/>
          <p:nvPr/>
        </p:nvSpPr>
        <p:spPr>
          <a:xfrm>
            <a:off x="1041502" y="5079492"/>
            <a:ext cx="4813402" cy="76169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350" dirty="0">
                <a:solidFill>
                  <a:srgbClr val="0F1B2D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TLM에서 찾은 최적점을 RTL 파형으로 교차 검증 — 모델 정합성을 루프 안에서 관리</a:t>
            </a:r>
            <a:endParaRPr lang="en-US" sz="1350" dirty="0"/>
          </a:p>
        </p:txBody>
      </p:sp>
      <p:sp>
        <p:nvSpPr>
          <p:cNvPr id="55" name="Shape 52"/>
          <p:cNvSpPr/>
          <p:nvPr/>
        </p:nvSpPr>
        <p:spPr>
          <a:xfrm>
            <a:off x="6172200" y="5079492"/>
            <a:ext cx="5512003" cy="761695"/>
          </a:xfrm>
          <a:prstGeom prst="roundRect">
            <a:avLst>
              <a:gd name="adj" fmla="val 9964"/>
            </a:avLst>
          </a:prstGeom>
          <a:solidFill>
            <a:srgbClr val="F7F6F1"/>
          </a:solidFill>
          <a:ln w="12700">
            <a:solidFill>
              <a:srgbClr val="DDD9CC"/>
            </a:solidFill>
            <a:prstDash val="solid"/>
          </a:ln>
        </p:spPr>
      </p:sp>
      <p:sp>
        <p:nvSpPr>
          <p:cNvPr id="56" name="Text 53"/>
          <p:cNvSpPr txBox="1"/>
          <p:nvPr/>
        </p:nvSpPr>
        <p:spPr>
          <a:xfrm>
            <a:off x="6349594" y="5079492"/>
            <a:ext cx="279806" cy="76169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dirty="0">
                <a:solidFill>
                  <a:srgbClr val="1F7F7A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◎</a:t>
            </a:r>
            <a:endParaRPr lang="en-US" sz="1700" dirty="0"/>
          </a:p>
        </p:txBody>
      </p:sp>
      <p:sp>
        <p:nvSpPr>
          <p:cNvPr id="57" name="Text 54"/>
          <p:cNvSpPr txBox="1"/>
          <p:nvPr/>
        </p:nvSpPr>
        <p:spPr>
          <a:xfrm>
            <a:off x="6705295" y="5079492"/>
            <a:ext cx="4813402" cy="76169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350" dirty="0">
                <a:solidFill>
                  <a:srgbClr val="0F1B2D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단독으로도 사용 — 설계·시뮬레이터 수정 없이 기존 파형에서 바로 프로파일</a:t>
            </a:r>
            <a:endParaRPr lang="en-US" sz="135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737006"/>
          </a:xfrm>
          <a:prstGeom prst="rect">
            <a:avLst/>
          </a:prstGeom>
          <a:solidFill>
            <a:srgbClr val="111111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508406" y="0"/>
            <a:ext cx="11175797" cy="73700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3. 검증 및 결과 — PoC 구성: Keyword Spotting</a:t>
            </a:r>
            <a:endParaRPr lang="en-US" sz="1600" dirty="0"/>
          </a:p>
        </p:txBody>
      </p:sp>
      <p:sp>
        <p:nvSpPr>
          <p:cNvPr id="5" name="Text 2"/>
          <p:cNvSpPr txBox="1"/>
          <p:nvPr/>
        </p:nvSpPr>
        <p:spPr>
          <a:xfrm>
            <a:off x="508406" y="1015898"/>
            <a:ext cx="11175797" cy="50840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3000" b="1" dirty="0">
                <a:solidFill>
                  <a:srgbClr val="0F1B2D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PoC: 음성 키워드 인식(KWS)을 세 가지 면적 예산에서 최적화</a:t>
            </a:r>
            <a:endParaRPr lang="en-US" sz="3000" dirty="0"/>
          </a:p>
        </p:txBody>
      </p:sp>
      <p:sp>
        <p:nvSpPr>
          <p:cNvPr id="6" name="Shape 3"/>
          <p:cNvSpPr/>
          <p:nvPr/>
        </p:nvSpPr>
        <p:spPr>
          <a:xfrm>
            <a:off x="508406" y="1841602"/>
            <a:ext cx="5333695" cy="3556102"/>
          </a:xfrm>
          <a:prstGeom prst="roundRect">
            <a:avLst>
              <a:gd name="adj" fmla="val 2854"/>
            </a:avLst>
          </a:prstGeom>
          <a:solidFill>
            <a:srgbClr val="F7F6F1"/>
          </a:solidFill>
          <a:ln w="12700">
            <a:solidFill>
              <a:srgbClr val="DDD9CC"/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508406" y="1841602"/>
            <a:ext cx="5333695" cy="35561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40000"/>
              </a:lnSpc>
              <a:buNone/>
            </a:pPr>
            <a:r>
              <a:rPr lang="en-US" sz="1400" dirty="0">
                <a:solidFill>
                  <a:srgbClr val="6B7280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[아키텍처 그림 자리]</a:t>
            </a:r>
            <a:endParaRPr lang="en-US" sz="1400" dirty="0"/>
          </a:p>
          <a:p>
            <a:pPr algn="ctr" indent="0" marL="0">
              <a:lnSpc>
                <a:spcPct val="140000"/>
              </a:lnSpc>
              <a:buNone/>
            </a:pPr>
            <a:r>
              <a:rPr lang="en-US" sz="1400" dirty="0">
                <a:solidFill>
                  <a:srgbClr val="6B7280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CM4 + TCM · SRAM 뱅크 · Flash · DMA · MAC</a:t>
            </a:r>
            <a:endParaRPr lang="en-US" sz="1400" dirty="0"/>
          </a:p>
          <a:p>
            <a:pPr algn="ctr" indent="0" marL="0">
              <a:lnSpc>
                <a:spcPct val="140000"/>
              </a:lnSpc>
              <a:buNone/>
            </a:pPr>
            <a:r>
              <a:rPr lang="en-US" sz="1400" dirty="0">
                <a:solidFill>
                  <a:srgbClr val="6B7280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AHB 매트릭스 (직접 삽입)</a:t>
            </a:r>
            <a:endParaRPr lang="en-US" sz="1400" dirty="0"/>
          </a:p>
        </p:txBody>
      </p:sp>
      <p:sp>
        <p:nvSpPr>
          <p:cNvPr id="8" name="Shape 5"/>
          <p:cNvSpPr/>
          <p:nvPr/>
        </p:nvSpPr>
        <p:spPr>
          <a:xfrm>
            <a:off x="6096305" y="1841602"/>
            <a:ext cx="5587898" cy="1015898"/>
          </a:xfrm>
          <a:prstGeom prst="roundRect">
            <a:avLst>
              <a:gd name="adj" fmla="val 9991"/>
            </a:avLst>
          </a:prstGeom>
          <a:solidFill>
            <a:srgbClr val="0F1B2D"/>
          </a:solidFill>
          <a:ln/>
        </p:spPr>
      </p:sp>
      <p:sp>
        <p:nvSpPr>
          <p:cNvPr id="9" name="Text 6"/>
          <p:cNvSpPr txBox="1"/>
          <p:nvPr/>
        </p:nvSpPr>
        <p:spPr>
          <a:xfrm>
            <a:off x="6235294" y="1930298"/>
            <a:ext cx="3174797" cy="19019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50" dirty="0">
                <a:solidFill>
                  <a:srgbClr val="8FA3B8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마이크 · 16 kHz · 1초 클립</a:t>
            </a:r>
            <a:endParaRPr lang="en-US" sz="1150" dirty="0"/>
          </a:p>
        </p:txBody>
      </p:sp>
      <p:sp>
        <p:nvSpPr>
          <p:cNvPr id="10" name="Shape 7"/>
          <p:cNvSpPr/>
          <p:nvPr/>
        </p:nvSpPr>
        <p:spPr>
          <a:xfrm flipV="1">
            <a:off x="6349594" y="2253996"/>
            <a:ext cx="114300" cy="159106"/>
          </a:xfrm>
          <a:prstGeom prst="line">
            <a:avLst/>
          </a:prstGeom>
          <a:noFill/>
          <a:ln w="31750">
            <a:solidFill>
              <a:srgbClr val="2FA6A0"/>
            </a:solidFill>
            <a:prstDash val="solid"/>
          </a:ln>
        </p:spPr>
      </p:sp>
      <p:sp>
        <p:nvSpPr>
          <p:cNvPr id="11" name="Shape 8"/>
          <p:cNvSpPr/>
          <p:nvPr/>
        </p:nvSpPr>
        <p:spPr>
          <a:xfrm>
            <a:off x="6463894" y="2253996"/>
            <a:ext cx="114300" cy="159106"/>
          </a:xfrm>
          <a:prstGeom prst="line">
            <a:avLst/>
          </a:prstGeom>
          <a:noFill/>
          <a:ln w="31750">
            <a:solidFill>
              <a:srgbClr val="2FA6A0"/>
            </a:solidFill>
            <a:prstDash val="solid"/>
          </a:ln>
        </p:spPr>
      </p:sp>
      <p:sp>
        <p:nvSpPr>
          <p:cNvPr id="12" name="Shape 9"/>
          <p:cNvSpPr/>
          <p:nvPr/>
        </p:nvSpPr>
        <p:spPr>
          <a:xfrm>
            <a:off x="6578194" y="2413102"/>
            <a:ext cx="114300" cy="79553"/>
          </a:xfrm>
          <a:prstGeom prst="line">
            <a:avLst/>
          </a:prstGeom>
          <a:noFill/>
          <a:ln w="31750">
            <a:solidFill>
              <a:srgbClr val="2FA6A0"/>
            </a:solidFill>
            <a:prstDash val="solid"/>
          </a:ln>
        </p:spPr>
      </p:sp>
      <p:sp>
        <p:nvSpPr>
          <p:cNvPr id="13" name="Shape 10"/>
          <p:cNvSpPr/>
          <p:nvPr/>
        </p:nvSpPr>
        <p:spPr>
          <a:xfrm flipV="1">
            <a:off x="6692494" y="2413102"/>
            <a:ext cx="114300" cy="79553"/>
          </a:xfrm>
          <a:prstGeom prst="line">
            <a:avLst/>
          </a:prstGeom>
          <a:noFill/>
          <a:ln w="31750">
            <a:solidFill>
              <a:srgbClr val="2FA6A0"/>
            </a:solidFill>
            <a:prstDash val="solid"/>
          </a:ln>
        </p:spPr>
      </p:sp>
      <p:sp>
        <p:nvSpPr>
          <p:cNvPr id="14" name="Shape 11"/>
          <p:cNvSpPr/>
          <p:nvPr/>
        </p:nvSpPr>
        <p:spPr>
          <a:xfrm flipV="1">
            <a:off x="6806794" y="2214677"/>
            <a:ext cx="114300" cy="198425"/>
          </a:xfrm>
          <a:prstGeom prst="line">
            <a:avLst/>
          </a:prstGeom>
          <a:noFill/>
          <a:ln w="31750">
            <a:solidFill>
              <a:srgbClr val="2FA6A0"/>
            </a:solidFill>
            <a:prstDash val="solid"/>
          </a:ln>
        </p:spPr>
      </p:sp>
      <p:sp>
        <p:nvSpPr>
          <p:cNvPr id="15" name="Shape 12"/>
          <p:cNvSpPr/>
          <p:nvPr/>
        </p:nvSpPr>
        <p:spPr>
          <a:xfrm>
            <a:off x="6921094" y="2214677"/>
            <a:ext cx="114300" cy="198425"/>
          </a:xfrm>
          <a:prstGeom prst="line">
            <a:avLst/>
          </a:prstGeom>
          <a:noFill/>
          <a:ln w="31750">
            <a:solidFill>
              <a:srgbClr val="2FA6A0"/>
            </a:solidFill>
            <a:prstDash val="solid"/>
          </a:ln>
        </p:spPr>
      </p:sp>
      <p:sp>
        <p:nvSpPr>
          <p:cNvPr id="16" name="Shape 13"/>
          <p:cNvSpPr/>
          <p:nvPr/>
        </p:nvSpPr>
        <p:spPr>
          <a:xfrm>
            <a:off x="7035394" y="2413102"/>
            <a:ext cx="114300" cy="118872"/>
          </a:xfrm>
          <a:prstGeom prst="line">
            <a:avLst/>
          </a:prstGeom>
          <a:noFill/>
          <a:ln w="31750">
            <a:solidFill>
              <a:srgbClr val="2FA6A0"/>
            </a:solidFill>
            <a:prstDash val="solid"/>
          </a:ln>
        </p:spPr>
      </p:sp>
      <p:sp>
        <p:nvSpPr>
          <p:cNvPr id="17" name="Shape 14"/>
          <p:cNvSpPr/>
          <p:nvPr/>
        </p:nvSpPr>
        <p:spPr>
          <a:xfrm flipV="1">
            <a:off x="7149694" y="2413102"/>
            <a:ext cx="114300" cy="118872"/>
          </a:xfrm>
          <a:prstGeom prst="line">
            <a:avLst/>
          </a:prstGeom>
          <a:noFill/>
          <a:ln w="31750">
            <a:solidFill>
              <a:srgbClr val="2FA6A0"/>
            </a:solidFill>
            <a:prstDash val="solid"/>
          </a:ln>
        </p:spPr>
      </p:sp>
      <p:sp>
        <p:nvSpPr>
          <p:cNvPr id="18" name="Shape 15"/>
          <p:cNvSpPr/>
          <p:nvPr/>
        </p:nvSpPr>
        <p:spPr>
          <a:xfrm flipV="1">
            <a:off x="7263994" y="2372868"/>
            <a:ext cx="114300" cy="39319"/>
          </a:xfrm>
          <a:prstGeom prst="line">
            <a:avLst/>
          </a:prstGeom>
          <a:noFill/>
          <a:ln w="31750">
            <a:solidFill>
              <a:srgbClr val="2FA6A0"/>
            </a:solidFill>
            <a:prstDash val="solid"/>
          </a:ln>
        </p:spPr>
      </p:sp>
      <p:sp>
        <p:nvSpPr>
          <p:cNvPr id="19" name="Shape 16"/>
          <p:cNvSpPr/>
          <p:nvPr/>
        </p:nvSpPr>
        <p:spPr>
          <a:xfrm>
            <a:off x="7378294" y="2372868"/>
            <a:ext cx="114300" cy="39319"/>
          </a:xfrm>
          <a:prstGeom prst="line">
            <a:avLst/>
          </a:prstGeom>
          <a:noFill/>
          <a:ln w="31750">
            <a:solidFill>
              <a:srgbClr val="2FA6A0"/>
            </a:solidFill>
            <a:prstDash val="solid"/>
          </a:ln>
        </p:spPr>
      </p:sp>
      <p:sp>
        <p:nvSpPr>
          <p:cNvPr id="20" name="Shape 17"/>
          <p:cNvSpPr/>
          <p:nvPr/>
        </p:nvSpPr>
        <p:spPr>
          <a:xfrm>
            <a:off x="7492594" y="2413102"/>
            <a:ext cx="114300" cy="218542"/>
          </a:xfrm>
          <a:prstGeom prst="line">
            <a:avLst/>
          </a:prstGeom>
          <a:noFill/>
          <a:ln w="31750">
            <a:solidFill>
              <a:srgbClr val="2FA6A0"/>
            </a:solidFill>
            <a:prstDash val="solid"/>
          </a:ln>
        </p:spPr>
      </p:sp>
      <p:sp>
        <p:nvSpPr>
          <p:cNvPr id="21" name="Shape 18"/>
          <p:cNvSpPr/>
          <p:nvPr/>
        </p:nvSpPr>
        <p:spPr>
          <a:xfrm flipV="1">
            <a:off x="7606894" y="2413102"/>
            <a:ext cx="114300" cy="218542"/>
          </a:xfrm>
          <a:prstGeom prst="line">
            <a:avLst/>
          </a:prstGeom>
          <a:noFill/>
          <a:ln w="31750">
            <a:solidFill>
              <a:srgbClr val="2FA6A0"/>
            </a:solidFill>
            <a:prstDash val="solid"/>
          </a:ln>
        </p:spPr>
      </p:sp>
      <p:sp>
        <p:nvSpPr>
          <p:cNvPr id="22" name="Shape 19"/>
          <p:cNvSpPr/>
          <p:nvPr/>
        </p:nvSpPr>
        <p:spPr>
          <a:xfrm flipV="1">
            <a:off x="7721194" y="2313432"/>
            <a:ext cx="114300" cy="99670"/>
          </a:xfrm>
          <a:prstGeom prst="line">
            <a:avLst/>
          </a:prstGeom>
          <a:noFill/>
          <a:ln w="31750">
            <a:solidFill>
              <a:srgbClr val="2FA6A0"/>
            </a:solidFill>
            <a:prstDash val="solid"/>
          </a:ln>
        </p:spPr>
      </p:sp>
      <p:sp>
        <p:nvSpPr>
          <p:cNvPr id="23" name="Shape 20"/>
          <p:cNvSpPr/>
          <p:nvPr/>
        </p:nvSpPr>
        <p:spPr>
          <a:xfrm>
            <a:off x="7835494" y="2313432"/>
            <a:ext cx="114300" cy="99670"/>
          </a:xfrm>
          <a:prstGeom prst="line">
            <a:avLst/>
          </a:prstGeom>
          <a:noFill/>
          <a:ln w="31750">
            <a:solidFill>
              <a:srgbClr val="2FA6A0"/>
            </a:solidFill>
            <a:prstDash val="solid"/>
          </a:ln>
        </p:spPr>
      </p:sp>
      <p:sp>
        <p:nvSpPr>
          <p:cNvPr id="24" name="Shape 21"/>
          <p:cNvSpPr/>
          <p:nvPr/>
        </p:nvSpPr>
        <p:spPr>
          <a:xfrm>
            <a:off x="7949794" y="2413102"/>
            <a:ext cx="114300" cy="20117"/>
          </a:xfrm>
          <a:prstGeom prst="line">
            <a:avLst/>
          </a:prstGeom>
          <a:noFill/>
          <a:ln w="31750">
            <a:solidFill>
              <a:srgbClr val="2FA6A0"/>
            </a:solidFill>
            <a:prstDash val="solid"/>
          </a:ln>
        </p:spPr>
      </p:sp>
      <p:sp>
        <p:nvSpPr>
          <p:cNvPr id="25" name="Shape 22"/>
          <p:cNvSpPr/>
          <p:nvPr/>
        </p:nvSpPr>
        <p:spPr>
          <a:xfrm flipV="1">
            <a:off x="8064094" y="2413102"/>
            <a:ext cx="114300" cy="20117"/>
          </a:xfrm>
          <a:prstGeom prst="line">
            <a:avLst/>
          </a:prstGeom>
          <a:noFill/>
          <a:ln w="31750">
            <a:solidFill>
              <a:srgbClr val="2FA6A0"/>
            </a:solidFill>
            <a:prstDash val="solid"/>
          </a:ln>
        </p:spPr>
      </p:sp>
      <p:sp>
        <p:nvSpPr>
          <p:cNvPr id="26" name="Shape 23"/>
          <p:cNvSpPr/>
          <p:nvPr/>
        </p:nvSpPr>
        <p:spPr>
          <a:xfrm flipV="1">
            <a:off x="8178394" y="2253996"/>
            <a:ext cx="114300" cy="159106"/>
          </a:xfrm>
          <a:prstGeom prst="line">
            <a:avLst/>
          </a:prstGeom>
          <a:noFill/>
          <a:ln w="31750">
            <a:solidFill>
              <a:srgbClr val="2FA6A0"/>
            </a:solidFill>
            <a:prstDash val="solid"/>
          </a:ln>
        </p:spPr>
      </p:sp>
      <p:sp>
        <p:nvSpPr>
          <p:cNvPr id="27" name="Shape 24"/>
          <p:cNvSpPr/>
          <p:nvPr/>
        </p:nvSpPr>
        <p:spPr>
          <a:xfrm>
            <a:off x="8292694" y="2253996"/>
            <a:ext cx="114300" cy="159106"/>
          </a:xfrm>
          <a:prstGeom prst="line">
            <a:avLst/>
          </a:prstGeom>
          <a:noFill/>
          <a:ln w="31750">
            <a:solidFill>
              <a:srgbClr val="2FA6A0"/>
            </a:solidFill>
            <a:prstDash val="solid"/>
          </a:ln>
        </p:spPr>
      </p:sp>
      <p:sp>
        <p:nvSpPr>
          <p:cNvPr id="28" name="Shape 25"/>
          <p:cNvSpPr/>
          <p:nvPr/>
        </p:nvSpPr>
        <p:spPr>
          <a:xfrm>
            <a:off x="8406994" y="2413102"/>
            <a:ext cx="114300" cy="59436"/>
          </a:xfrm>
          <a:prstGeom prst="line">
            <a:avLst/>
          </a:prstGeom>
          <a:noFill/>
          <a:ln w="31750">
            <a:solidFill>
              <a:srgbClr val="2FA6A0"/>
            </a:solidFill>
            <a:prstDash val="solid"/>
          </a:ln>
        </p:spPr>
      </p:sp>
      <p:sp>
        <p:nvSpPr>
          <p:cNvPr id="29" name="Shape 26"/>
          <p:cNvSpPr/>
          <p:nvPr/>
        </p:nvSpPr>
        <p:spPr>
          <a:xfrm flipV="1">
            <a:off x="8521294" y="2413102"/>
            <a:ext cx="114300" cy="59436"/>
          </a:xfrm>
          <a:prstGeom prst="line">
            <a:avLst/>
          </a:prstGeom>
          <a:noFill/>
          <a:ln w="31750">
            <a:solidFill>
              <a:srgbClr val="2FA6A0"/>
            </a:solidFill>
            <a:prstDash val="solid"/>
          </a:ln>
        </p:spPr>
      </p:sp>
      <p:sp>
        <p:nvSpPr>
          <p:cNvPr id="30" name="Shape 27"/>
          <p:cNvSpPr/>
          <p:nvPr/>
        </p:nvSpPr>
        <p:spPr>
          <a:xfrm flipV="1">
            <a:off x="8635594" y="2234794"/>
            <a:ext cx="114300" cy="178308"/>
          </a:xfrm>
          <a:prstGeom prst="line">
            <a:avLst/>
          </a:prstGeom>
          <a:noFill/>
          <a:ln w="31750">
            <a:solidFill>
              <a:srgbClr val="2FA6A0"/>
            </a:solidFill>
            <a:prstDash val="solid"/>
          </a:ln>
        </p:spPr>
      </p:sp>
      <p:sp>
        <p:nvSpPr>
          <p:cNvPr id="31" name="Shape 28"/>
          <p:cNvSpPr/>
          <p:nvPr/>
        </p:nvSpPr>
        <p:spPr>
          <a:xfrm>
            <a:off x="8749894" y="2234794"/>
            <a:ext cx="114300" cy="178308"/>
          </a:xfrm>
          <a:prstGeom prst="line">
            <a:avLst/>
          </a:prstGeom>
          <a:noFill/>
          <a:ln w="31750">
            <a:solidFill>
              <a:srgbClr val="2FA6A0"/>
            </a:solidFill>
            <a:prstDash val="solid"/>
          </a:ln>
        </p:spPr>
      </p:sp>
      <p:sp>
        <p:nvSpPr>
          <p:cNvPr id="32" name="Shape 29"/>
          <p:cNvSpPr/>
          <p:nvPr/>
        </p:nvSpPr>
        <p:spPr>
          <a:xfrm>
            <a:off x="8864194" y="2413102"/>
            <a:ext cx="114300" cy="79553"/>
          </a:xfrm>
          <a:prstGeom prst="line">
            <a:avLst/>
          </a:prstGeom>
          <a:noFill/>
          <a:ln w="31750">
            <a:solidFill>
              <a:srgbClr val="2FA6A0"/>
            </a:solidFill>
            <a:prstDash val="solid"/>
          </a:ln>
        </p:spPr>
      </p:sp>
      <p:sp>
        <p:nvSpPr>
          <p:cNvPr id="33" name="Shape 30"/>
          <p:cNvSpPr/>
          <p:nvPr/>
        </p:nvSpPr>
        <p:spPr>
          <a:xfrm flipV="1">
            <a:off x="8978494" y="2413102"/>
            <a:ext cx="114300" cy="79553"/>
          </a:xfrm>
          <a:prstGeom prst="line">
            <a:avLst/>
          </a:prstGeom>
          <a:noFill/>
          <a:ln w="31750">
            <a:solidFill>
              <a:srgbClr val="2FA6A0"/>
            </a:solidFill>
            <a:prstDash val="solid"/>
          </a:ln>
        </p:spPr>
      </p:sp>
      <p:sp>
        <p:nvSpPr>
          <p:cNvPr id="34" name="Shape 31"/>
          <p:cNvSpPr/>
          <p:nvPr/>
        </p:nvSpPr>
        <p:spPr>
          <a:xfrm flipV="1">
            <a:off x="9092794" y="2381098"/>
            <a:ext cx="114300" cy="32004"/>
          </a:xfrm>
          <a:prstGeom prst="line">
            <a:avLst/>
          </a:prstGeom>
          <a:noFill/>
          <a:ln w="31750">
            <a:solidFill>
              <a:srgbClr val="2FA6A0"/>
            </a:solidFill>
            <a:prstDash val="solid"/>
          </a:ln>
        </p:spPr>
      </p:sp>
      <p:sp>
        <p:nvSpPr>
          <p:cNvPr id="35" name="Shape 32"/>
          <p:cNvSpPr/>
          <p:nvPr/>
        </p:nvSpPr>
        <p:spPr>
          <a:xfrm>
            <a:off x="9207094" y="2381098"/>
            <a:ext cx="114300" cy="32004"/>
          </a:xfrm>
          <a:prstGeom prst="line">
            <a:avLst/>
          </a:prstGeom>
          <a:noFill/>
          <a:ln w="31750">
            <a:solidFill>
              <a:srgbClr val="2FA6A0"/>
            </a:solidFill>
            <a:prstDash val="solid"/>
          </a:ln>
        </p:spPr>
      </p:sp>
      <p:sp>
        <p:nvSpPr>
          <p:cNvPr id="36" name="Shape 33"/>
          <p:cNvSpPr/>
          <p:nvPr/>
        </p:nvSpPr>
        <p:spPr>
          <a:xfrm>
            <a:off x="9321394" y="2413102"/>
            <a:ext cx="114300" cy="118872"/>
          </a:xfrm>
          <a:prstGeom prst="line">
            <a:avLst/>
          </a:prstGeom>
          <a:noFill/>
          <a:ln w="31750">
            <a:solidFill>
              <a:srgbClr val="2FA6A0"/>
            </a:solidFill>
            <a:prstDash val="solid"/>
          </a:ln>
        </p:spPr>
      </p:sp>
      <p:sp>
        <p:nvSpPr>
          <p:cNvPr id="37" name="Shape 34"/>
          <p:cNvSpPr/>
          <p:nvPr/>
        </p:nvSpPr>
        <p:spPr>
          <a:xfrm flipV="1">
            <a:off x="9435694" y="2413102"/>
            <a:ext cx="114300" cy="118872"/>
          </a:xfrm>
          <a:prstGeom prst="line">
            <a:avLst/>
          </a:prstGeom>
          <a:noFill/>
          <a:ln w="31750">
            <a:solidFill>
              <a:srgbClr val="2FA6A0"/>
            </a:solidFill>
            <a:prstDash val="solid"/>
          </a:ln>
        </p:spPr>
      </p:sp>
      <p:sp>
        <p:nvSpPr>
          <p:cNvPr id="38" name="Shape 35"/>
          <p:cNvSpPr/>
          <p:nvPr/>
        </p:nvSpPr>
        <p:spPr>
          <a:xfrm flipV="1">
            <a:off x="9549994" y="2365553"/>
            <a:ext cx="114300" cy="47549"/>
          </a:xfrm>
          <a:prstGeom prst="line">
            <a:avLst/>
          </a:prstGeom>
          <a:noFill/>
          <a:ln w="31750">
            <a:solidFill>
              <a:srgbClr val="2FA6A0"/>
            </a:solidFill>
            <a:prstDash val="solid"/>
          </a:ln>
        </p:spPr>
      </p:sp>
      <p:sp>
        <p:nvSpPr>
          <p:cNvPr id="39" name="Shape 36"/>
          <p:cNvSpPr/>
          <p:nvPr/>
        </p:nvSpPr>
        <p:spPr>
          <a:xfrm>
            <a:off x="9664294" y="2365553"/>
            <a:ext cx="114300" cy="47549"/>
          </a:xfrm>
          <a:prstGeom prst="line">
            <a:avLst/>
          </a:prstGeom>
          <a:noFill/>
          <a:ln w="31750">
            <a:solidFill>
              <a:srgbClr val="2FA6A0"/>
            </a:solidFill>
            <a:prstDash val="solid"/>
          </a:ln>
        </p:spPr>
      </p:sp>
      <p:sp>
        <p:nvSpPr>
          <p:cNvPr id="40" name="Shape 37"/>
          <p:cNvSpPr/>
          <p:nvPr/>
        </p:nvSpPr>
        <p:spPr>
          <a:xfrm>
            <a:off x="9778594" y="2413102"/>
            <a:ext cx="114300" cy="198425"/>
          </a:xfrm>
          <a:prstGeom prst="line">
            <a:avLst/>
          </a:prstGeom>
          <a:noFill/>
          <a:ln w="31750">
            <a:solidFill>
              <a:srgbClr val="2FA6A0"/>
            </a:solidFill>
            <a:prstDash val="solid"/>
          </a:ln>
        </p:spPr>
      </p:sp>
      <p:sp>
        <p:nvSpPr>
          <p:cNvPr id="41" name="Shape 38"/>
          <p:cNvSpPr/>
          <p:nvPr/>
        </p:nvSpPr>
        <p:spPr>
          <a:xfrm flipV="1">
            <a:off x="9892894" y="2413102"/>
            <a:ext cx="114300" cy="198425"/>
          </a:xfrm>
          <a:prstGeom prst="line">
            <a:avLst/>
          </a:prstGeom>
          <a:noFill/>
          <a:ln w="31750">
            <a:solidFill>
              <a:srgbClr val="2FA6A0"/>
            </a:solidFill>
            <a:prstDash val="solid"/>
          </a:ln>
        </p:spPr>
      </p:sp>
      <p:sp>
        <p:nvSpPr>
          <p:cNvPr id="42" name="Shape 39"/>
          <p:cNvSpPr/>
          <p:nvPr/>
        </p:nvSpPr>
        <p:spPr>
          <a:xfrm flipV="1">
            <a:off x="10007194" y="2333549"/>
            <a:ext cx="114300" cy="79553"/>
          </a:xfrm>
          <a:prstGeom prst="line">
            <a:avLst/>
          </a:prstGeom>
          <a:noFill/>
          <a:ln w="31750">
            <a:solidFill>
              <a:srgbClr val="2FA6A0"/>
            </a:solidFill>
            <a:prstDash val="solid"/>
          </a:ln>
        </p:spPr>
      </p:sp>
      <p:sp>
        <p:nvSpPr>
          <p:cNvPr id="43" name="Shape 40"/>
          <p:cNvSpPr/>
          <p:nvPr/>
        </p:nvSpPr>
        <p:spPr>
          <a:xfrm>
            <a:off x="10121494" y="2333549"/>
            <a:ext cx="114300" cy="79553"/>
          </a:xfrm>
          <a:prstGeom prst="line">
            <a:avLst/>
          </a:prstGeom>
          <a:noFill/>
          <a:ln w="31750">
            <a:solidFill>
              <a:srgbClr val="2FA6A0"/>
            </a:solidFill>
            <a:prstDash val="solid"/>
          </a:ln>
        </p:spPr>
      </p:sp>
      <p:sp>
        <p:nvSpPr>
          <p:cNvPr id="44" name="Shape 41"/>
          <p:cNvSpPr/>
          <p:nvPr/>
        </p:nvSpPr>
        <p:spPr>
          <a:xfrm>
            <a:off x="10235794" y="2413102"/>
            <a:ext cx="114300" cy="23774"/>
          </a:xfrm>
          <a:prstGeom prst="line">
            <a:avLst/>
          </a:prstGeom>
          <a:noFill/>
          <a:ln w="31750">
            <a:solidFill>
              <a:srgbClr val="2FA6A0"/>
            </a:solidFill>
            <a:prstDash val="solid"/>
          </a:ln>
        </p:spPr>
      </p:sp>
      <p:sp>
        <p:nvSpPr>
          <p:cNvPr id="45" name="Shape 42"/>
          <p:cNvSpPr/>
          <p:nvPr/>
        </p:nvSpPr>
        <p:spPr>
          <a:xfrm flipV="1">
            <a:off x="10350094" y="2413102"/>
            <a:ext cx="114300" cy="23774"/>
          </a:xfrm>
          <a:prstGeom prst="line">
            <a:avLst/>
          </a:prstGeom>
          <a:noFill/>
          <a:ln w="31750">
            <a:solidFill>
              <a:srgbClr val="2FA6A0"/>
            </a:solidFill>
            <a:prstDash val="solid"/>
          </a:ln>
        </p:spPr>
      </p:sp>
      <p:sp>
        <p:nvSpPr>
          <p:cNvPr id="46" name="Shape 43"/>
          <p:cNvSpPr/>
          <p:nvPr/>
        </p:nvSpPr>
        <p:spPr>
          <a:xfrm flipV="1">
            <a:off x="10464394" y="2274113"/>
            <a:ext cx="114300" cy="138989"/>
          </a:xfrm>
          <a:prstGeom prst="line">
            <a:avLst/>
          </a:prstGeom>
          <a:noFill/>
          <a:ln w="31750">
            <a:solidFill>
              <a:srgbClr val="2FA6A0"/>
            </a:solidFill>
            <a:prstDash val="solid"/>
          </a:ln>
        </p:spPr>
      </p:sp>
      <p:sp>
        <p:nvSpPr>
          <p:cNvPr id="47" name="Shape 44"/>
          <p:cNvSpPr/>
          <p:nvPr/>
        </p:nvSpPr>
        <p:spPr>
          <a:xfrm>
            <a:off x="10578694" y="2274113"/>
            <a:ext cx="114300" cy="138989"/>
          </a:xfrm>
          <a:prstGeom prst="line">
            <a:avLst/>
          </a:prstGeom>
          <a:noFill/>
          <a:ln w="31750">
            <a:solidFill>
              <a:srgbClr val="2FA6A0"/>
            </a:solidFill>
            <a:prstDash val="solid"/>
          </a:ln>
        </p:spPr>
      </p:sp>
      <p:sp>
        <p:nvSpPr>
          <p:cNvPr id="48" name="Shape 45"/>
          <p:cNvSpPr/>
          <p:nvPr/>
        </p:nvSpPr>
        <p:spPr>
          <a:xfrm>
            <a:off x="10692994" y="2413102"/>
            <a:ext cx="114300" cy="39319"/>
          </a:xfrm>
          <a:prstGeom prst="line">
            <a:avLst/>
          </a:prstGeom>
          <a:noFill/>
          <a:ln w="31750">
            <a:solidFill>
              <a:srgbClr val="2FA6A0"/>
            </a:solidFill>
            <a:prstDash val="solid"/>
          </a:ln>
        </p:spPr>
      </p:sp>
      <p:sp>
        <p:nvSpPr>
          <p:cNvPr id="49" name="Shape 46"/>
          <p:cNvSpPr/>
          <p:nvPr/>
        </p:nvSpPr>
        <p:spPr>
          <a:xfrm flipV="1">
            <a:off x="10807294" y="2413102"/>
            <a:ext cx="114300" cy="39319"/>
          </a:xfrm>
          <a:prstGeom prst="line">
            <a:avLst/>
          </a:prstGeom>
          <a:noFill/>
          <a:ln w="31750">
            <a:solidFill>
              <a:srgbClr val="2FA6A0"/>
            </a:solidFill>
            <a:prstDash val="solid"/>
          </a:ln>
        </p:spPr>
      </p:sp>
      <p:sp>
        <p:nvSpPr>
          <p:cNvPr id="50" name="Shape 47"/>
          <p:cNvSpPr/>
          <p:nvPr/>
        </p:nvSpPr>
        <p:spPr>
          <a:xfrm flipV="1">
            <a:off x="10921594" y="2294230"/>
            <a:ext cx="114300" cy="118872"/>
          </a:xfrm>
          <a:prstGeom prst="line">
            <a:avLst/>
          </a:prstGeom>
          <a:noFill/>
          <a:ln w="31750">
            <a:solidFill>
              <a:srgbClr val="2FA6A0"/>
            </a:solidFill>
            <a:prstDash val="solid"/>
          </a:ln>
        </p:spPr>
      </p:sp>
      <p:sp>
        <p:nvSpPr>
          <p:cNvPr id="51" name="Shape 48"/>
          <p:cNvSpPr/>
          <p:nvPr/>
        </p:nvSpPr>
        <p:spPr>
          <a:xfrm>
            <a:off x="11035894" y="2294230"/>
            <a:ext cx="114300" cy="118872"/>
          </a:xfrm>
          <a:prstGeom prst="line">
            <a:avLst/>
          </a:prstGeom>
          <a:noFill/>
          <a:ln w="31750">
            <a:solidFill>
              <a:srgbClr val="2FA6A0"/>
            </a:solidFill>
            <a:prstDash val="solid"/>
          </a:ln>
        </p:spPr>
      </p:sp>
      <p:sp>
        <p:nvSpPr>
          <p:cNvPr id="52" name="Shape 49"/>
          <p:cNvSpPr/>
          <p:nvPr/>
        </p:nvSpPr>
        <p:spPr>
          <a:xfrm>
            <a:off x="11150194" y="2413102"/>
            <a:ext cx="114300" cy="47549"/>
          </a:xfrm>
          <a:prstGeom prst="line">
            <a:avLst/>
          </a:prstGeom>
          <a:noFill/>
          <a:ln w="31750">
            <a:solidFill>
              <a:srgbClr val="2FA6A0"/>
            </a:solidFill>
            <a:prstDash val="solid"/>
          </a:ln>
        </p:spPr>
      </p:sp>
      <p:sp>
        <p:nvSpPr>
          <p:cNvPr id="53" name="Shape 50"/>
          <p:cNvSpPr/>
          <p:nvPr/>
        </p:nvSpPr>
        <p:spPr>
          <a:xfrm flipV="1">
            <a:off x="11264494" y="2413102"/>
            <a:ext cx="114300" cy="47549"/>
          </a:xfrm>
          <a:prstGeom prst="line">
            <a:avLst/>
          </a:prstGeom>
          <a:noFill/>
          <a:ln w="31750">
            <a:solidFill>
              <a:srgbClr val="2FA6A0"/>
            </a:solidFill>
            <a:prstDash val="solid"/>
          </a:ln>
        </p:spPr>
      </p:sp>
      <p:sp>
        <p:nvSpPr>
          <p:cNvPr id="54" name="Shape 51"/>
          <p:cNvSpPr/>
          <p:nvPr/>
        </p:nvSpPr>
        <p:spPr>
          <a:xfrm>
            <a:off x="6096305" y="3206801"/>
            <a:ext cx="1688897" cy="761695"/>
          </a:xfrm>
          <a:prstGeom prst="roundRect">
            <a:avLst>
              <a:gd name="adj" fmla="val 11645"/>
            </a:avLst>
          </a:prstGeom>
          <a:solidFill>
            <a:srgbClr val="F7F6F1"/>
          </a:solidFill>
          <a:ln w="12700">
            <a:solidFill>
              <a:srgbClr val="DDD9CC"/>
            </a:solidFill>
            <a:prstDash val="solid"/>
          </a:ln>
        </p:spPr>
      </p:sp>
      <p:sp>
        <p:nvSpPr>
          <p:cNvPr id="55" name="Text 52"/>
          <p:cNvSpPr txBox="1"/>
          <p:nvPr/>
        </p:nvSpPr>
        <p:spPr>
          <a:xfrm>
            <a:off x="6096305" y="3206801"/>
            <a:ext cx="1688897" cy="76169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1400" b="1" dirty="0">
                <a:solidFill>
                  <a:srgbClr val="0F1B2D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DMA</a:t>
            </a:r>
            <a:endParaRPr lang="en-US" sz="1400" dirty="0"/>
          </a:p>
          <a:p>
            <a:pPr algn="ctr" indent="0" marL="0">
              <a:lnSpc>
                <a:spcPct val="125000"/>
              </a:lnSpc>
              <a:buNone/>
            </a:pPr>
            <a:r>
              <a:rPr lang="en-US" sz="1400" b="1" dirty="0">
                <a:solidFill>
                  <a:srgbClr val="0F1B2D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20 ms 프레임 수집</a:t>
            </a:r>
            <a:endParaRPr lang="en-US" sz="1400" dirty="0"/>
          </a:p>
        </p:txBody>
      </p:sp>
      <p:sp>
        <p:nvSpPr>
          <p:cNvPr id="56" name="Shape 53"/>
          <p:cNvSpPr/>
          <p:nvPr/>
        </p:nvSpPr>
        <p:spPr>
          <a:xfrm>
            <a:off x="7785202" y="3504895"/>
            <a:ext cx="260604" cy="165506"/>
          </a:xfrm>
          <a:prstGeom prst="rightArrow">
            <a:avLst/>
          </a:prstGeom>
          <a:solidFill>
            <a:srgbClr val="B8791F"/>
          </a:solidFill>
          <a:ln/>
        </p:spPr>
      </p:sp>
      <p:sp>
        <p:nvSpPr>
          <p:cNvPr id="57" name="Shape 54"/>
          <p:cNvSpPr/>
          <p:nvPr/>
        </p:nvSpPr>
        <p:spPr>
          <a:xfrm>
            <a:off x="8044891" y="3206801"/>
            <a:ext cx="1688897" cy="761695"/>
          </a:xfrm>
          <a:prstGeom prst="roundRect">
            <a:avLst>
              <a:gd name="adj" fmla="val 11645"/>
            </a:avLst>
          </a:prstGeom>
          <a:solidFill>
            <a:srgbClr val="F7F6F1"/>
          </a:solidFill>
          <a:ln w="12700">
            <a:solidFill>
              <a:srgbClr val="DDD9CC"/>
            </a:solidFill>
            <a:prstDash val="solid"/>
          </a:ln>
        </p:spPr>
      </p:sp>
      <p:sp>
        <p:nvSpPr>
          <p:cNvPr id="58" name="Text 55"/>
          <p:cNvSpPr txBox="1"/>
          <p:nvPr/>
        </p:nvSpPr>
        <p:spPr>
          <a:xfrm>
            <a:off x="8044891" y="3206801"/>
            <a:ext cx="1688897" cy="76169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1400" b="1" dirty="0">
                <a:solidFill>
                  <a:srgbClr val="0F1B2D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MFCC</a:t>
            </a:r>
            <a:endParaRPr lang="en-US" sz="1400" dirty="0"/>
          </a:p>
          <a:p>
            <a:pPr algn="ctr" indent="0" marL="0">
              <a:lnSpc>
                <a:spcPct val="125000"/>
              </a:lnSpc>
              <a:buNone/>
            </a:pPr>
            <a:r>
              <a:rPr lang="en-US" sz="1400" b="1" dirty="0">
                <a:solidFill>
                  <a:srgbClr val="0F1B2D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FFT → 음향 특징</a:t>
            </a:r>
            <a:endParaRPr lang="en-US" sz="1400" dirty="0"/>
          </a:p>
        </p:txBody>
      </p:sp>
      <p:sp>
        <p:nvSpPr>
          <p:cNvPr id="59" name="Shape 56"/>
          <p:cNvSpPr/>
          <p:nvPr/>
        </p:nvSpPr>
        <p:spPr>
          <a:xfrm>
            <a:off x="9734702" y="3504895"/>
            <a:ext cx="260604" cy="165506"/>
          </a:xfrm>
          <a:prstGeom prst="rightArrow">
            <a:avLst/>
          </a:prstGeom>
          <a:solidFill>
            <a:srgbClr val="B8791F"/>
          </a:solidFill>
          <a:ln/>
        </p:spPr>
      </p:sp>
      <p:sp>
        <p:nvSpPr>
          <p:cNvPr id="60" name="Shape 57"/>
          <p:cNvSpPr/>
          <p:nvPr/>
        </p:nvSpPr>
        <p:spPr>
          <a:xfrm>
            <a:off x="9994392" y="3206801"/>
            <a:ext cx="1688897" cy="761695"/>
          </a:xfrm>
          <a:prstGeom prst="roundRect">
            <a:avLst>
              <a:gd name="adj" fmla="val 11645"/>
            </a:avLst>
          </a:prstGeom>
          <a:solidFill>
            <a:srgbClr val="F7F6F1"/>
          </a:solidFill>
          <a:ln w="12700">
            <a:solidFill>
              <a:srgbClr val="DDD9CC"/>
            </a:solidFill>
            <a:prstDash val="solid"/>
          </a:ln>
        </p:spPr>
      </p:sp>
      <p:sp>
        <p:nvSpPr>
          <p:cNvPr id="61" name="Text 58"/>
          <p:cNvSpPr txBox="1"/>
          <p:nvPr/>
        </p:nvSpPr>
        <p:spPr>
          <a:xfrm>
            <a:off x="9994392" y="3206801"/>
            <a:ext cx="1688897" cy="76169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1400" b="1" dirty="0">
                <a:solidFill>
                  <a:srgbClr val="0F1B2D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CNN 추론</a:t>
            </a:r>
            <a:endParaRPr lang="en-US" sz="1400" dirty="0"/>
          </a:p>
          <a:p>
            <a:pPr algn="ctr" indent="0" marL="0">
              <a:lnSpc>
                <a:spcPct val="125000"/>
              </a:lnSpc>
              <a:buNone/>
            </a:pPr>
            <a:r>
              <a:rPr lang="en-US" sz="1400" b="1" dirty="0">
                <a:solidFill>
                  <a:srgbClr val="0F1B2D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INT8 · 2.7 M MAC</a:t>
            </a:r>
            <a:endParaRPr lang="en-US" sz="1400" dirty="0"/>
          </a:p>
        </p:txBody>
      </p:sp>
      <p:sp>
        <p:nvSpPr>
          <p:cNvPr id="62" name="Shape 59"/>
          <p:cNvSpPr/>
          <p:nvPr/>
        </p:nvSpPr>
        <p:spPr>
          <a:xfrm>
            <a:off x="10839298" y="3968496"/>
            <a:ext cx="0" cy="412394"/>
          </a:xfrm>
          <a:prstGeom prst="line">
            <a:avLst/>
          </a:prstGeom>
          <a:noFill/>
          <a:ln w="63500">
            <a:solidFill>
              <a:srgbClr val="B8791F"/>
            </a:solidFill>
            <a:prstDash val="solid"/>
            <a:tailEnd type="triangle"/>
          </a:ln>
        </p:spPr>
      </p:sp>
      <p:sp>
        <p:nvSpPr>
          <p:cNvPr id="63" name="Shape 60"/>
          <p:cNvSpPr/>
          <p:nvPr/>
        </p:nvSpPr>
        <p:spPr>
          <a:xfrm>
            <a:off x="6096305" y="4444898"/>
            <a:ext cx="5587898" cy="1079906"/>
          </a:xfrm>
          <a:prstGeom prst="roundRect">
            <a:avLst>
              <a:gd name="adj" fmla="val 9399"/>
            </a:avLst>
          </a:prstGeom>
          <a:solidFill>
            <a:srgbClr val="0F1B2D"/>
          </a:solidFill>
          <a:ln/>
        </p:spPr>
      </p:sp>
      <p:sp>
        <p:nvSpPr>
          <p:cNvPr id="64" name="Text 61"/>
          <p:cNvSpPr txBox="1"/>
          <p:nvPr/>
        </p:nvSpPr>
        <p:spPr>
          <a:xfrm>
            <a:off x="6235294" y="4533595"/>
            <a:ext cx="3810305" cy="19019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50" dirty="0">
                <a:solidFill>
                  <a:srgbClr val="8FA3B8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결과: 12개 키워드 중 하나</a:t>
            </a:r>
            <a:endParaRPr lang="en-US" sz="1150" dirty="0"/>
          </a:p>
        </p:txBody>
      </p:sp>
      <p:sp>
        <p:nvSpPr>
          <p:cNvPr id="65" name="Shape 62"/>
          <p:cNvSpPr/>
          <p:nvPr/>
        </p:nvSpPr>
        <p:spPr>
          <a:xfrm>
            <a:off x="6299302" y="4774997"/>
            <a:ext cx="888797" cy="342900"/>
          </a:xfrm>
          <a:prstGeom prst="roundRect">
            <a:avLst>
              <a:gd name="adj" fmla="val 49867"/>
            </a:avLst>
          </a:prstGeom>
          <a:solidFill>
            <a:srgbClr val="E8A33D"/>
          </a:solidFill>
          <a:ln/>
        </p:spPr>
      </p:sp>
      <p:sp>
        <p:nvSpPr>
          <p:cNvPr id="66" name="Text 63"/>
          <p:cNvSpPr txBox="1"/>
          <p:nvPr/>
        </p:nvSpPr>
        <p:spPr>
          <a:xfrm>
            <a:off x="6299302" y="4774997"/>
            <a:ext cx="888797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0F1B2D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yes</a:t>
            </a:r>
            <a:endParaRPr lang="en-US" sz="1200" dirty="0"/>
          </a:p>
        </p:txBody>
      </p:sp>
      <p:sp>
        <p:nvSpPr>
          <p:cNvPr id="67" name="Text 64"/>
          <p:cNvSpPr txBox="1"/>
          <p:nvPr/>
        </p:nvSpPr>
        <p:spPr>
          <a:xfrm>
            <a:off x="7302398" y="4813402"/>
            <a:ext cx="4317797" cy="25420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rgbClr val="BFD8D5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no · up · down · left · right · on · off · stop · go · silence · unknown</a:t>
            </a:r>
            <a:endParaRPr lang="en-US" sz="1300" dirty="0"/>
          </a:p>
        </p:txBody>
      </p:sp>
      <p:sp>
        <p:nvSpPr>
          <p:cNvPr id="68" name="Text 65"/>
          <p:cNvSpPr txBox="1"/>
          <p:nvPr/>
        </p:nvSpPr>
        <p:spPr>
          <a:xfrm>
            <a:off x="6235294" y="5193792"/>
            <a:ext cx="5333695" cy="21579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50" dirty="0">
                <a:solidFill>
                  <a:srgbClr val="F5F4EE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+ 동시에 1 kHz 제어 루프 ISR (응답 ≤ 20 µs)가 돌아야 함</a:t>
            </a:r>
            <a:endParaRPr lang="en-US" sz="1250" dirty="0"/>
          </a:p>
        </p:txBody>
      </p:sp>
      <p:sp>
        <p:nvSpPr>
          <p:cNvPr id="69" name="Shape 66"/>
          <p:cNvSpPr/>
          <p:nvPr/>
        </p:nvSpPr>
        <p:spPr>
          <a:xfrm>
            <a:off x="508406" y="5524805"/>
            <a:ext cx="3606394" cy="444398"/>
          </a:xfrm>
          <a:prstGeom prst="roundRect">
            <a:avLst>
              <a:gd name="adj" fmla="val 14198"/>
            </a:avLst>
          </a:prstGeom>
          <a:solidFill>
            <a:srgbClr val="F7F6F1"/>
          </a:solidFill>
          <a:ln w="12700">
            <a:solidFill>
              <a:srgbClr val="DDD9CC"/>
            </a:solidFill>
            <a:prstDash val="solid"/>
          </a:ln>
        </p:spPr>
      </p:sp>
      <p:sp>
        <p:nvSpPr>
          <p:cNvPr id="70" name="Shape 67"/>
          <p:cNvSpPr/>
          <p:nvPr/>
        </p:nvSpPr>
        <p:spPr>
          <a:xfrm>
            <a:off x="508406" y="5524805"/>
            <a:ext cx="51206" cy="444398"/>
          </a:xfrm>
          <a:prstGeom prst="rect">
            <a:avLst/>
          </a:prstGeom>
          <a:solidFill>
            <a:srgbClr val="E8A33D"/>
          </a:solidFill>
          <a:ln/>
        </p:spPr>
      </p:sp>
      <p:sp>
        <p:nvSpPr>
          <p:cNvPr id="71" name="Text 68"/>
          <p:cNvSpPr txBox="1"/>
          <p:nvPr/>
        </p:nvSpPr>
        <p:spPr>
          <a:xfrm>
            <a:off x="698602" y="5524805"/>
            <a:ext cx="3289097" cy="44439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b="1" dirty="0">
                <a:solidFill>
                  <a:srgbClr val="0F1B2D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배치 — </a:t>
            </a:r>
            <a:pPr algn="l" indent="0" marL="0">
              <a:buNone/>
            </a:pPr>
            <a:r>
              <a:rPr lang="en-US" sz="1250" dirty="0">
                <a:solidFill>
                  <a:srgbClr val="0F1B2D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가중치 29 KB + 버퍼가 TCM 16 KB에 다 안 들어감</a:t>
            </a:r>
            <a:endParaRPr lang="en-US" sz="1250" dirty="0"/>
          </a:p>
        </p:txBody>
      </p:sp>
      <p:sp>
        <p:nvSpPr>
          <p:cNvPr id="72" name="Shape 69"/>
          <p:cNvSpPr/>
          <p:nvPr/>
        </p:nvSpPr>
        <p:spPr>
          <a:xfrm>
            <a:off x="4292194" y="5524805"/>
            <a:ext cx="3606394" cy="444398"/>
          </a:xfrm>
          <a:prstGeom prst="roundRect">
            <a:avLst>
              <a:gd name="adj" fmla="val 14198"/>
            </a:avLst>
          </a:prstGeom>
          <a:solidFill>
            <a:srgbClr val="F7F6F1"/>
          </a:solidFill>
          <a:ln w="12700">
            <a:solidFill>
              <a:srgbClr val="DDD9CC"/>
            </a:solidFill>
            <a:prstDash val="solid"/>
          </a:ln>
        </p:spPr>
      </p:sp>
      <p:sp>
        <p:nvSpPr>
          <p:cNvPr id="73" name="Shape 70"/>
          <p:cNvSpPr/>
          <p:nvPr/>
        </p:nvSpPr>
        <p:spPr>
          <a:xfrm>
            <a:off x="4292194" y="5524805"/>
            <a:ext cx="51206" cy="444398"/>
          </a:xfrm>
          <a:prstGeom prst="rect">
            <a:avLst/>
          </a:prstGeom>
          <a:solidFill>
            <a:srgbClr val="2FA6A0"/>
          </a:solidFill>
          <a:ln/>
        </p:spPr>
      </p:sp>
      <p:sp>
        <p:nvSpPr>
          <p:cNvPr id="74" name="Text 71"/>
          <p:cNvSpPr txBox="1"/>
          <p:nvPr/>
        </p:nvSpPr>
        <p:spPr>
          <a:xfrm>
            <a:off x="4483303" y="5524805"/>
            <a:ext cx="3289097" cy="44439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b="1" dirty="0">
                <a:solidFill>
                  <a:srgbClr val="0F1B2D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경합 — </a:t>
            </a:r>
            <a:pPr algn="l" indent="0" marL="0">
              <a:buNone/>
            </a:pPr>
            <a:r>
              <a:rPr lang="en-US" sz="1250" dirty="0">
                <a:solidFill>
                  <a:srgbClr val="0F1B2D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DMA와 CNN이 같은 SRAM 뱅크를 다툼</a:t>
            </a:r>
            <a:endParaRPr lang="en-US" sz="1250" dirty="0"/>
          </a:p>
        </p:txBody>
      </p:sp>
      <p:sp>
        <p:nvSpPr>
          <p:cNvPr id="75" name="Shape 72"/>
          <p:cNvSpPr/>
          <p:nvPr/>
        </p:nvSpPr>
        <p:spPr>
          <a:xfrm>
            <a:off x="8076895" y="5524805"/>
            <a:ext cx="3606394" cy="444398"/>
          </a:xfrm>
          <a:prstGeom prst="roundRect">
            <a:avLst>
              <a:gd name="adj" fmla="val 14198"/>
            </a:avLst>
          </a:prstGeom>
          <a:solidFill>
            <a:srgbClr val="F7F6F1"/>
          </a:solidFill>
          <a:ln w="12700">
            <a:solidFill>
              <a:srgbClr val="DDD9CC"/>
            </a:solidFill>
            <a:prstDash val="solid"/>
          </a:ln>
        </p:spPr>
      </p:sp>
      <p:sp>
        <p:nvSpPr>
          <p:cNvPr id="76" name="Shape 73"/>
          <p:cNvSpPr/>
          <p:nvPr/>
        </p:nvSpPr>
        <p:spPr>
          <a:xfrm>
            <a:off x="8076895" y="5524805"/>
            <a:ext cx="51206" cy="444398"/>
          </a:xfrm>
          <a:prstGeom prst="rect">
            <a:avLst/>
          </a:prstGeom>
          <a:solidFill>
            <a:srgbClr val="0F1B2D"/>
          </a:solidFill>
          <a:ln/>
        </p:spPr>
      </p:sp>
      <p:sp>
        <p:nvSpPr>
          <p:cNvPr id="77" name="Text 74"/>
          <p:cNvSpPr txBox="1"/>
          <p:nvPr/>
        </p:nvSpPr>
        <p:spPr>
          <a:xfrm>
            <a:off x="8267090" y="5524805"/>
            <a:ext cx="3289097" cy="44439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b="1" dirty="0">
                <a:solidFill>
                  <a:srgbClr val="0F1B2D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오프로드 — </a:t>
            </a:r>
            <a:pPr algn="l" indent="0" marL="0">
              <a:buNone/>
            </a:pPr>
            <a:r>
              <a:rPr lang="en-US" sz="1250" dirty="0">
                <a:solidFill>
                  <a:srgbClr val="0F1B2D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가속기는 큰 레이어만 이득</a:t>
            </a:r>
            <a:endParaRPr lang="en-US" sz="125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737006"/>
          </a:xfrm>
          <a:prstGeom prst="rect">
            <a:avLst/>
          </a:prstGeom>
          <a:solidFill>
            <a:srgbClr val="111111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508406" y="0"/>
            <a:ext cx="11175797" cy="73700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3. 검증 및 결과 — PoC 결과</a:t>
            </a:r>
            <a:endParaRPr lang="en-US" sz="1600" dirty="0"/>
          </a:p>
        </p:txBody>
      </p:sp>
      <p:sp>
        <p:nvSpPr>
          <p:cNvPr id="5" name="Text 2"/>
          <p:cNvSpPr txBox="1"/>
          <p:nvPr/>
        </p:nvSpPr>
        <p:spPr>
          <a:xfrm>
            <a:off x="508406" y="1015898"/>
            <a:ext cx="11175797" cy="76169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2100" b="1" dirty="0">
                <a:solidFill>
                  <a:srgbClr val="0F1B2D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[헤드라인 — 예) 예산 280에서 AI가 고른 HW+SW가 예산 470의 사람 출발점보다 빠름: 면적 −40%, 같은 성능]</a:t>
            </a:r>
            <a:endParaRPr lang="en-US" sz="2100" dirty="0"/>
          </a:p>
        </p:txBody>
      </p:sp>
      <p:sp>
        <p:nvSpPr>
          <p:cNvPr id="6" name="Shape 3"/>
          <p:cNvSpPr/>
          <p:nvPr/>
        </p:nvSpPr>
        <p:spPr>
          <a:xfrm>
            <a:off x="508406" y="1904695"/>
            <a:ext cx="6096305" cy="3301898"/>
          </a:xfrm>
          <a:prstGeom prst="roundRect">
            <a:avLst>
              <a:gd name="adj" fmla="val 3074"/>
            </a:avLst>
          </a:prstGeom>
          <a:solidFill>
            <a:srgbClr val="F7F6F1"/>
          </a:solidFill>
          <a:ln w="12700">
            <a:solidFill>
              <a:srgbClr val="DDD9CC"/>
            </a:solidFill>
            <a:prstDash val="solid"/>
          </a:ln>
        </p:spPr>
      </p:sp>
      <p:sp>
        <p:nvSpPr>
          <p:cNvPr id="7" name="Shape 4"/>
          <p:cNvSpPr/>
          <p:nvPr/>
        </p:nvSpPr>
        <p:spPr>
          <a:xfrm>
            <a:off x="1143000" y="4762195"/>
            <a:ext cx="5206594" cy="0"/>
          </a:xfrm>
          <a:prstGeom prst="line">
            <a:avLst/>
          </a:prstGeom>
          <a:noFill/>
          <a:ln w="25400">
            <a:solidFill>
              <a:srgbClr val="B8B4A8"/>
            </a:solidFill>
            <a:prstDash val="solid"/>
          </a:ln>
        </p:spPr>
      </p:sp>
      <p:sp>
        <p:nvSpPr>
          <p:cNvPr id="8" name="Shape 5"/>
          <p:cNvSpPr/>
          <p:nvPr/>
        </p:nvSpPr>
        <p:spPr>
          <a:xfrm flipV="1">
            <a:off x="1143000" y="2221992"/>
            <a:ext cx="0" cy="2540203"/>
          </a:xfrm>
          <a:prstGeom prst="line">
            <a:avLst/>
          </a:prstGeom>
          <a:noFill/>
          <a:ln w="25400">
            <a:solidFill>
              <a:srgbClr val="B8B4A8"/>
            </a:solidFill>
            <a:prstDash val="solid"/>
          </a:ln>
        </p:spPr>
      </p:sp>
      <p:sp>
        <p:nvSpPr>
          <p:cNvPr id="9" name="Shape 6"/>
          <p:cNvSpPr/>
          <p:nvPr/>
        </p:nvSpPr>
        <p:spPr>
          <a:xfrm>
            <a:off x="2413102" y="2286000"/>
            <a:ext cx="0" cy="2476195"/>
          </a:xfrm>
          <a:prstGeom prst="line">
            <a:avLst/>
          </a:prstGeom>
          <a:noFill/>
          <a:ln w="25400">
            <a:solidFill>
              <a:srgbClr val="CFCBBF"/>
            </a:solidFill>
            <a:prstDash val="dash"/>
          </a:ln>
        </p:spPr>
      </p:sp>
      <p:sp>
        <p:nvSpPr>
          <p:cNvPr id="10" name="Shape 7"/>
          <p:cNvSpPr/>
          <p:nvPr/>
        </p:nvSpPr>
        <p:spPr>
          <a:xfrm>
            <a:off x="3683203" y="2286000"/>
            <a:ext cx="0" cy="2476195"/>
          </a:xfrm>
          <a:prstGeom prst="line">
            <a:avLst/>
          </a:prstGeom>
          <a:noFill/>
          <a:ln w="25400">
            <a:solidFill>
              <a:srgbClr val="CFCBBF"/>
            </a:solidFill>
            <a:prstDash val="dash"/>
          </a:ln>
        </p:spPr>
      </p:sp>
      <p:sp>
        <p:nvSpPr>
          <p:cNvPr id="11" name="Shape 8"/>
          <p:cNvSpPr/>
          <p:nvPr/>
        </p:nvSpPr>
        <p:spPr>
          <a:xfrm>
            <a:off x="5778094" y="2286000"/>
            <a:ext cx="0" cy="2476195"/>
          </a:xfrm>
          <a:prstGeom prst="line">
            <a:avLst/>
          </a:prstGeom>
          <a:noFill/>
          <a:ln w="25400">
            <a:solidFill>
              <a:srgbClr val="CFCBBF"/>
            </a:solidFill>
            <a:prstDash val="dash"/>
          </a:ln>
        </p:spPr>
      </p:sp>
      <p:sp>
        <p:nvSpPr>
          <p:cNvPr id="12" name="Shape 9"/>
          <p:cNvSpPr/>
          <p:nvPr/>
        </p:nvSpPr>
        <p:spPr>
          <a:xfrm>
            <a:off x="2197303" y="2768803"/>
            <a:ext cx="177394" cy="177394"/>
          </a:xfrm>
          <a:prstGeom prst="ellipse">
            <a:avLst/>
          </a:prstGeom>
          <a:solidFill>
            <a:srgbClr val="6B7280"/>
          </a:solidFill>
          <a:ln/>
        </p:spPr>
      </p:sp>
      <p:sp>
        <p:nvSpPr>
          <p:cNvPr id="13" name="Shape 10"/>
          <p:cNvSpPr/>
          <p:nvPr/>
        </p:nvSpPr>
        <p:spPr>
          <a:xfrm>
            <a:off x="3467405" y="3403397"/>
            <a:ext cx="177394" cy="177394"/>
          </a:xfrm>
          <a:prstGeom prst="ellipse">
            <a:avLst/>
          </a:prstGeom>
          <a:solidFill>
            <a:srgbClr val="6B7280"/>
          </a:solidFill>
          <a:ln/>
        </p:spPr>
      </p:sp>
      <p:sp>
        <p:nvSpPr>
          <p:cNvPr id="14" name="Shape 11"/>
          <p:cNvSpPr/>
          <p:nvPr/>
        </p:nvSpPr>
        <p:spPr>
          <a:xfrm>
            <a:off x="5562295" y="4006901"/>
            <a:ext cx="177394" cy="177394"/>
          </a:xfrm>
          <a:prstGeom prst="ellipse">
            <a:avLst/>
          </a:prstGeom>
          <a:solidFill>
            <a:srgbClr val="6B7280"/>
          </a:solidFill>
          <a:ln/>
        </p:spPr>
      </p:sp>
      <p:sp>
        <p:nvSpPr>
          <p:cNvPr id="15" name="Shape 12"/>
          <p:cNvSpPr/>
          <p:nvPr/>
        </p:nvSpPr>
        <p:spPr>
          <a:xfrm flipV="1">
            <a:off x="1854403" y="2958998"/>
            <a:ext cx="381305" cy="737006"/>
          </a:xfrm>
          <a:prstGeom prst="line">
            <a:avLst/>
          </a:prstGeom>
          <a:noFill/>
          <a:ln w="63500">
            <a:solidFill>
              <a:srgbClr val="E8A33D"/>
            </a:solidFill>
            <a:prstDash val="solid"/>
            <a:tailEnd type="triangle"/>
          </a:ln>
        </p:spPr>
      </p:sp>
      <p:sp>
        <p:nvSpPr>
          <p:cNvPr id="16" name="Shape 13"/>
          <p:cNvSpPr/>
          <p:nvPr/>
        </p:nvSpPr>
        <p:spPr>
          <a:xfrm>
            <a:off x="1752905" y="3593592"/>
            <a:ext cx="202997" cy="202997"/>
          </a:xfrm>
          <a:prstGeom prst="ellipse">
            <a:avLst/>
          </a:prstGeom>
          <a:solidFill>
            <a:srgbClr val="E8A33D"/>
          </a:solidFill>
          <a:ln/>
        </p:spPr>
      </p:sp>
      <p:sp>
        <p:nvSpPr>
          <p:cNvPr id="17" name="Shape 14"/>
          <p:cNvSpPr/>
          <p:nvPr/>
        </p:nvSpPr>
        <p:spPr>
          <a:xfrm flipV="1">
            <a:off x="3060497" y="3593592"/>
            <a:ext cx="444398" cy="737006"/>
          </a:xfrm>
          <a:prstGeom prst="line">
            <a:avLst/>
          </a:prstGeom>
          <a:noFill/>
          <a:ln w="63500">
            <a:solidFill>
              <a:srgbClr val="E8A33D"/>
            </a:solidFill>
            <a:prstDash val="solid"/>
            <a:tailEnd type="triangle"/>
          </a:ln>
        </p:spPr>
      </p:sp>
      <p:sp>
        <p:nvSpPr>
          <p:cNvPr id="18" name="Shape 15"/>
          <p:cNvSpPr/>
          <p:nvPr/>
        </p:nvSpPr>
        <p:spPr>
          <a:xfrm>
            <a:off x="2958998" y="4229100"/>
            <a:ext cx="202997" cy="202997"/>
          </a:xfrm>
          <a:prstGeom prst="ellipse">
            <a:avLst/>
          </a:prstGeom>
          <a:solidFill>
            <a:srgbClr val="E8A33D"/>
          </a:solidFill>
          <a:ln/>
        </p:spPr>
      </p:sp>
      <p:sp>
        <p:nvSpPr>
          <p:cNvPr id="19" name="Shape 16"/>
          <p:cNvSpPr/>
          <p:nvPr/>
        </p:nvSpPr>
        <p:spPr>
          <a:xfrm flipV="1">
            <a:off x="5169103" y="4190695"/>
            <a:ext cx="431597" cy="418795"/>
          </a:xfrm>
          <a:prstGeom prst="line">
            <a:avLst/>
          </a:prstGeom>
          <a:noFill/>
          <a:ln w="63500">
            <a:solidFill>
              <a:srgbClr val="E8A33D"/>
            </a:solidFill>
            <a:prstDash val="solid"/>
            <a:tailEnd type="triangle"/>
          </a:ln>
        </p:spPr>
      </p:sp>
      <p:sp>
        <p:nvSpPr>
          <p:cNvPr id="20" name="Shape 17"/>
          <p:cNvSpPr/>
          <p:nvPr/>
        </p:nvSpPr>
        <p:spPr>
          <a:xfrm>
            <a:off x="5067605" y="4507992"/>
            <a:ext cx="202997" cy="202997"/>
          </a:xfrm>
          <a:prstGeom prst="ellipse">
            <a:avLst/>
          </a:prstGeom>
          <a:solidFill>
            <a:srgbClr val="E8A33D"/>
          </a:solidFill>
          <a:ln/>
        </p:spPr>
      </p:sp>
      <p:sp>
        <p:nvSpPr>
          <p:cNvPr id="21" name="Shape 18"/>
          <p:cNvSpPr/>
          <p:nvPr/>
        </p:nvSpPr>
        <p:spPr>
          <a:xfrm flipV="1">
            <a:off x="3060497" y="4095598"/>
            <a:ext cx="2590495" cy="235001"/>
          </a:xfrm>
          <a:prstGeom prst="line">
            <a:avLst/>
          </a:prstGeom>
          <a:noFill/>
          <a:ln w="31750">
            <a:solidFill>
              <a:srgbClr val="1F7F7A"/>
            </a:solidFill>
            <a:prstDash val="dash"/>
          </a:ln>
        </p:spPr>
      </p:sp>
      <p:sp>
        <p:nvSpPr>
          <p:cNvPr id="22" name="Text 19"/>
          <p:cNvSpPr txBox="1"/>
          <p:nvPr/>
        </p:nvSpPr>
        <p:spPr>
          <a:xfrm>
            <a:off x="634594" y="2018995"/>
            <a:ext cx="1904695" cy="19019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50" dirty="0">
                <a:solidFill>
                  <a:srgbClr val="6B7280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추론 cycle ↑</a:t>
            </a:r>
            <a:endParaRPr lang="en-US" sz="1150" dirty="0"/>
          </a:p>
        </p:txBody>
      </p:sp>
      <p:sp>
        <p:nvSpPr>
          <p:cNvPr id="23" name="Text 20"/>
          <p:cNvSpPr txBox="1"/>
          <p:nvPr/>
        </p:nvSpPr>
        <p:spPr>
          <a:xfrm>
            <a:off x="4507992" y="4953305"/>
            <a:ext cx="1904695" cy="19019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150" dirty="0">
                <a:solidFill>
                  <a:srgbClr val="6B7280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면적 (상대) →</a:t>
            </a:r>
            <a:endParaRPr lang="en-US" sz="1150" dirty="0"/>
          </a:p>
        </p:txBody>
      </p:sp>
      <p:sp>
        <p:nvSpPr>
          <p:cNvPr id="24" name="Text 21"/>
          <p:cNvSpPr txBox="1"/>
          <p:nvPr/>
        </p:nvSpPr>
        <p:spPr>
          <a:xfrm>
            <a:off x="2095805" y="4813402"/>
            <a:ext cx="634594" cy="19019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50" dirty="0">
                <a:solidFill>
                  <a:srgbClr val="6B7280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≤170</a:t>
            </a:r>
            <a:endParaRPr lang="en-US" sz="1150" dirty="0"/>
          </a:p>
        </p:txBody>
      </p:sp>
      <p:sp>
        <p:nvSpPr>
          <p:cNvPr id="25" name="Text 22"/>
          <p:cNvSpPr txBox="1"/>
          <p:nvPr/>
        </p:nvSpPr>
        <p:spPr>
          <a:xfrm>
            <a:off x="3364992" y="4813402"/>
            <a:ext cx="634594" cy="19019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50" dirty="0">
                <a:solidFill>
                  <a:srgbClr val="6B7280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≤280</a:t>
            </a:r>
            <a:endParaRPr lang="en-US" sz="1150" dirty="0"/>
          </a:p>
        </p:txBody>
      </p:sp>
      <p:sp>
        <p:nvSpPr>
          <p:cNvPr id="26" name="Text 23"/>
          <p:cNvSpPr txBox="1"/>
          <p:nvPr/>
        </p:nvSpPr>
        <p:spPr>
          <a:xfrm>
            <a:off x="5460797" y="4813402"/>
            <a:ext cx="634594" cy="19019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50" dirty="0">
                <a:solidFill>
                  <a:srgbClr val="6B7280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≤470</a:t>
            </a:r>
            <a:endParaRPr lang="en-US" sz="1150" dirty="0"/>
          </a:p>
        </p:txBody>
      </p:sp>
      <p:sp>
        <p:nvSpPr>
          <p:cNvPr id="27" name="Text 24"/>
          <p:cNvSpPr txBox="1"/>
          <p:nvPr/>
        </p:nvSpPr>
        <p:spPr>
          <a:xfrm>
            <a:off x="4317797" y="2286000"/>
            <a:ext cx="2158898" cy="69860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40000"/>
              </a:lnSpc>
              <a:buNone/>
            </a:pPr>
            <a:r>
              <a:rPr lang="en-US" sz="1150" dirty="0">
                <a:solidFill>
                  <a:srgbClr val="6B7280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● </a:t>
            </a:r>
            <a:pPr algn="l" indent="0" marL="0">
              <a:lnSpc>
                <a:spcPct val="140000"/>
              </a:lnSpc>
              <a:buNone/>
            </a:pPr>
            <a:r>
              <a:rPr lang="en-US" sz="1150" dirty="0">
                <a:solidFill>
                  <a:srgbClr val="4A556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사람이 정한 HW + 기본 SW
</a:t>
            </a:r>
            <a:pPr algn="l" indent="0" marL="0">
              <a:lnSpc>
                <a:spcPct val="140000"/>
              </a:lnSpc>
              <a:buNone/>
            </a:pPr>
            <a:r>
              <a:rPr lang="en-US" sz="1150" dirty="0">
                <a:solidFill>
                  <a:srgbClr val="B8791F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● </a:t>
            </a:r>
            <a:pPr algn="l" indent="0" marL="0">
              <a:lnSpc>
                <a:spcPct val="140000"/>
              </a:lnSpc>
              <a:buNone/>
            </a:pPr>
            <a:r>
              <a:rPr lang="en-US" sz="1150" dirty="0">
                <a:solidFill>
                  <a:srgbClr val="4A556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AI가 HW·SW 함께 선택
</a:t>
            </a:r>
            <a:pPr algn="l" indent="0" marL="0">
              <a:lnSpc>
                <a:spcPct val="140000"/>
              </a:lnSpc>
              <a:buNone/>
            </a:pPr>
            <a:r>
              <a:rPr lang="en-US" sz="1150" dirty="0">
                <a:solidFill>
                  <a:srgbClr val="1F7F7A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- - </a:t>
            </a:r>
            <a:pPr algn="l" indent="0" marL="0">
              <a:lnSpc>
                <a:spcPct val="140000"/>
              </a:lnSpc>
              <a:buNone/>
            </a:pPr>
            <a:r>
              <a:rPr lang="en-US" sz="1150" dirty="0">
                <a:solidFill>
                  <a:srgbClr val="4A556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같은 성능, 면적 −__%</a:t>
            </a:r>
            <a:endParaRPr lang="en-US" sz="1150" dirty="0"/>
          </a:p>
        </p:txBody>
      </p:sp>
      <p:sp>
        <p:nvSpPr>
          <p:cNvPr id="28" name="Text 25"/>
          <p:cNvSpPr txBox="1"/>
          <p:nvPr/>
        </p:nvSpPr>
        <p:spPr>
          <a:xfrm>
            <a:off x="1270102" y="2286000"/>
            <a:ext cx="2540203" cy="19019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dirty="0">
                <a:solidFill>
                  <a:srgbClr val="6B7280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[예시 — 실측으로 교체]</a:t>
            </a:r>
            <a:endParaRPr lang="en-US" sz="1100" dirty="0"/>
          </a:p>
        </p:txBody>
      </p:sp>
      <p:graphicFrame>
        <p:nvGraphicFramePr>
          <p:cNvPr id="1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858000" y="1904695"/>
          <a:ext cx="4826203" cy="914400"/>
        </p:xfrm>
        <a:graphic>
          <a:graphicData uri="http://schemas.openxmlformats.org/drawingml/2006/table">
            <a:tbl>
              <a:tblPr/>
              <a:tblGrid>
                <a:gridCol w="1270102"/>
                <a:gridCol w="1206094"/>
                <a:gridCol w="1047902"/>
                <a:gridCol w="1302106"/>
              </a:tblGrid>
              <a:tr h="35570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IBM Plex Sans" pitchFamily="34" charset="0"/>
                          <a:ea typeface="IBM Plex Sans" pitchFamily="34" charset="-122"/>
                          <a:cs typeface="IBM Plex Sans" pitchFamily="34" charset="-120"/>
                        </a:rPr>
                        <a:t>면적 예산</a:t>
                      </a:r>
                      <a:endParaRPr lang="en-US" sz="1200" dirty="0">
                        <a:latin typeface="IBM Plex Sans" charset="0"/>
                        <a:ea typeface="IBM Plex Sans" charset="0"/>
                        <a:cs typeface="IBM Plex Sans" charset="0"/>
                      </a:endParaRPr>
                    </a:p>
                  </a:txBody>
                  <a:tcPr marL="127000" marR="127000" marT="76200" marB="76200" anchor="ctr">
                    <a:lnL w="9525" cap="flat" cmpd="sng" algn="ctr">
                      <a:solidFill>
                        <a:srgbClr val="DDD9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D9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D9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D9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1B2D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IBM Plex Sans" pitchFamily="34" charset="0"/>
                          <a:ea typeface="IBM Plex Sans" pitchFamily="34" charset="-122"/>
                          <a:cs typeface="IBM Plex Sans" pitchFamily="34" charset="-120"/>
                        </a:rPr>
                        <a:t>사람 HW + 기본 SW</a:t>
                      </a:r>
                      <a:endParaRPr lang="en-US" sz="1200" dirty="0">
                        <a:latin typeface="IBM Plex Sans" charset="0"/>
                        <a:ea typeface="IBM Plex Sans" charset="0"/>
                        <a:cs typeface="IBM Plex Sans" charset="0"/>
                      </a:endParaRPr>
                    </a:p>
                  </a:txBody>
                  <a:tcPr marL="127000" marR="127000" marT="76200" marB="76200" anchor="ctr">
                    <a:lnL w="9525" cap="flat" cmpd="sng" algn="ctr">
                      <a:solidFill>
                        <a:srgbClr val="DDD9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D9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D9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D9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1B2D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IBM Plex Sans" pitchFamily="34" charset="0"/>
                          <a:ea typeface="IBM Plex Sans" pitchFamily="34" charset="-122"/>
                          <a:cs typeface="IBM Plex Sans" pitchFamily="34" charset="-120"/>
                        </a:rPr>
                        <a:t>AI · SW만</a:t>
                      </a:r>
                      <a:endParaRPr lang="en-US" sz="1200" dirty="0">
                        <a:latin typeface="IBM Plex Sans" charset="0"/>
                        <a:ea typeface="IBM Plex Sans" charset="0"/>
                        <a:cs typeface="IBM Plex Sans" charset="0"/>
                      </a:endParaRPr>
                    </a:p>
                  </a:txBody>
                  <a:tcPr marL="127000" marR="127000" marT="76200" marB="76200" anchor="ctr">
                    <a:lnL w="9525" cap="flat" cmpd="sng" algn="ctr">
                      <a:solidFill>
                        <a:srgbClr val="DDD9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D9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D9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D9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1B2D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IBM Plex Sans" pitchFamily="34" charset="0"/>
                          <a:ea typeface="IBM Plex Sans" pitchFamily="34" charset="-122"/>
                          <a:cs typeface="IBM Plex Sans" pitchFamily="34" charset="-120"/>
                        </a:rPr>
                        <a:t>AI · HW+SW</a:t>
                      </a:r>
                      <a:endParaRPr lang="en-US" sz="1200" dirty="0">
                        <a:latin typeface="IBM Plex Sans" charset="0"/>
                        <a:ea typeface="IBM Plex Sans" charset="0"/>
                        <a:cs typeface="IBM Plex Sans" charset="0"/>
                      </a:endParaRPr>
                    </a:p>
                  </a:txBody>
                  <a:tcPr marL="127000" marR="127000" marT="76200" marB="76200" anchor="ctr">
                    <a:lnL w="9525" cap="flat" cmpd="sng" algn="ctr">
                      <a:solidFill>
                        <a:srgbClr val="DDD9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D9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D9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D9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1B2D"/>
                    </a:solidFill>
                  </a:tcPr>
                </a:tc>
              </a:tr>
              <a:tr h="35570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0F1B2D"/>
                          </a:solidFill>
                          <a:latin typeface="IBM Plex Sans" pitchFamily="34" charset="0"/>
                          <a:ea typeface="IBM Plex Sans" pitchFamily="34" charset="-122"/>
                          <a:cs typeface="IBM Plex Sans" pitchFamily="34" charset="-120"/>
                        </a:rPr>
                        <a:t>≤ 170</a:t>
                      </a:r>
                      <a:endParaRPr lang="en-US" sz="1200" dirty="0">
                        <a:latin typeface="IBM Plex Sans" charset="0"/>
                        <a:ea typeface="IBM Plex Sans" charset="0"/>
                        <a:cs typeface="IBM Plex Sans" charset="0"/>
                      </a:endParaRPr>
                    </a:p>
                  </a:txBody>
                  <a:tcPr marL="127000" marR="127000" marT="76200" marB="76200" anchor="ctr">
                    <a:lnL w="9525" cap="flat" cmpd="sng" algn="ctr">
                      <a:solidFill>
                        <a:srgbClr val="DDD9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D9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D9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D9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0F1B2D"/>
                          </a:solidFill>
                          <a:latin typeface="IBM Plex Sans" pitchFamily="34" charset="0"/>
                          <a:ea typeface="IBM Plex Sans" pitchFamily="34" charset="-122"/>
                          <a:cs typeface="IBM Plex Sans" pitchFamily="34" charset="-120"/>
                        </a:rPr>
                        <a:t>[___] M</a:t>
                      </a:r>
                      <a:endParaRPr lang="en-US" sz="1200" dirty="0">
                        <a:latin typeface="IBM Plex Sans" charset="0"/>
                        <a:ea typeface="IBM Plex Sans" charset="0"/>
                        <a:cs typeface="IBM Plex Sans" charset="0"/>
                      </a:endParaRPr>
                    </a:p>
                  </a:txBody>
                  <a:tcPr marL="127000" marR="127000" marT="76200" marB="76200" anchor="ctr">
                    <a:lnL w="9525" cap="flat" cmpd="sng" algn="ctr">
                      <a:solidFill>
                        <a:srgbClr val="DDD9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D9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D9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D9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0F1B2D"/>
                          </a:solidFill>
                          <a:latin typeface="IBM Plex Sans" pitchFamily="34" charset="0"/>
                          <a:ea typeface="IBM Plex Sans" pitchFamily="34" charset="-122"/>
                          <a:cs typeface="IBM Plex Sans" pitchFamily="34" charset="-120"/>
                        </a:rPr>
                        <a:t>−__%</a:t>
                      </a:r>
                      <a:endParaRPr lang="en-US" sz="1200" dirty="0">
                        <a:latin typeface="IBM Plex Sans" charset="0"/>
                        <a:ea typeface="IBM Plex Sans" charset="0"/>
                        <a:cs typeface="IBM Plex Sans" charset="0"/>
                      </a:endParaRPr>
                    </a:p>
                  </a:txBody>
                  <a:tcPr marL="127000" marR="127000" marT="76200" marB="76200" anchor="ctr">
                    <a:lnL w="9525" cap="flat" cmpd="sng" algn="ctr">
                      <a:solidFill>
                        <a:srgbClr val="DDD9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D9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D9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D9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0F1B2D"/>
                          </a:solidFill>
                          <a:latin typeface="IBM Plex Sans" pitchFamily="34" charset="0"/>
                          <a:ea typeface="IBM Plex Sans" pitchFamily="34" charset="-122"/>
                          <a:cs typeface="IBM Plex Sans" pitchFamily="34" charset="-120"/>
                        </a:rPr>
                        <a:t>−__% · 면적 [___]</a:t>
                      </a:r>
                      <a:endParaRPr lang="en-US" sz="1200" dirty="0">
                        <a:latin typeface="IBM Plex Sans" charset="0"/>
                        <a:ea typeface="IBM Plex Sans" charset="0"/>
                        <a:cs typeface="IBM Plex Sans" charset="0"/>
                      </a:endParaRPr>
                    </a:p>
                  </a:txBody>
                  <a:tcPr marL="127000" marR="127000" marT="76200" marB="76200" anchor="ctr">
                    <a:lnL w="9525" cap="flat" cmpd="sng" algn="ctr">
                      <a:solidFill>
                        <a:srgbClr val="DDD9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D9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D9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D9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5570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0F1B2D"/>
                          </a:solidFill>
                          <a:latin typeface="IBM Plex Sans" pitchFamily="34" charset="0"/>
                          <a:ea typeface="IBM Plex Sans" pitchFamily="34" charset="-122"/>
                          <a:cs typeface="IBM Plex Sans" pitchFamily="34" charset="-120"/>
                        </a:rPr>
                        <a:t>≤ 280</a:t>
                      </a:r>
                      <a:endParaRPr lang="en-US" sz="1200" dirty="0">
                        <a:latin typeface="IBM Plex Sans" charset="0"/>
                        <a:ea typeface="IBM Plex Sans" charset="0"/>
                        <a:cs typeface="IBM Plex Sans" charset="0"/>
                      </a:endParaRPr>
                    </a:p>
                  </a:txBody>
                  <a:tcPr marL="127000" marR="127000" marT="76200" marB="76200" anchor="ctr">
                    <a:lnL w="9525" cap="flat" cmpd="sng" algn="ctr">
                      <a:solidFill>
                        <a:srgbClr val="DDD9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D9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D9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D9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6F1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0F1B2D"/>
                          </a:solidFill>
                          <a:latin typeface="IBM Plex Sans" pitchFamily="34" charset="0"/>
                          <a:ea typeface="IBM Plex Sans" pitchFamily="34" charset="-122"/>
                          <a:cs typeface="IBM Plex Sans" pitchFamily="34" charset="-120"/>
                        </a:rPr>
                        <a:t>[___]</a:t>
                      </a:r>
                      <a:endParaRPr lang="en-US" sz="1200" dirty="0">
                        <a:latin typeface="IBM Plex Sans" charset="0"/>
                        <a:ea typeface="IBM Plex Sans" charset="0"/>
                        <a:cs typeface="IBM Plex Sans" charset="0"/>
                      </a:endParaRPr>
                    </a:p>
                  </a:txBody>
                  <a:tcPr marL="127000" marR="127000" marT="76200" marB="76200" anchor="ctr">
                    <a:lnL w="9525" cap="flat" cmpd="sng" algn="ctr">
                      <a:solidFill>
                        <a:srgbClr val="DDD9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D9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D9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D9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6F1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0F1B2D"/>
                          </a:solidFill>
                          <a:latin typeface="IBM Plex Sans" pitchFamily="34" charset="0"/>
                          <a:ea typeface="IBM Plex Sans" pitchFamily="34" charset="-122"/>
                          <a:cs typeface="IBM Plex Sans" pitchFamily="34" charset="-120"/>
                        </a:rPr>
                        <a:t>−__%</a:t>
                      </a:r>
                      <a:endParaRPr lang="en-US" sz="1200" dirty="0">
                        <a:latin typeface="IBM Plex Sans" charset="0"/>
                        <a:ea typeface="IBM Plex Sans" charset="0"/>
                        <a:cs typeface="IBM Plex Sans" charset="0"/>
                      </a:endParaRPr>
                    </a:p>
                  </a:txBody>
                  <a:tcPr marL="127000" marR="127000" marT="76200" marB="76200" anchor="ctr">
                    <a:lnL w="9525" cap="flat" cmpd="sng" algn="ctr">
                      <a:solidFill>
                        <a:srgbClr val="DDD9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D9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D9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D9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6F1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0F1B2D"/>
                          </a:solidFill>
                          <a:latin typeface="IBM Plex Sans" pitchFamily="34" charset="0"/>
                          <a:ea typeface="IBM Plex Sans" pitchFamily="34" charset="-122"/>
                          <a:cs typeface="IBM Plex Sans" pitchFamily="34" charset="-120"/>
                        </a:rPr>
                        <a:t>−__% · 면적 [___]</a:t>
                      </a:r>
                      <a:endParaRPr lang="en-US" sz="1200" dirty="0">
                        <a:latin typeface="IBM Plex Sans" charset="0"/>
                        <a:ea typeface="IBM Plex Sans" charset="0"/>
                        <a:cs typeface="IBM Plex Sans" charset="0"/>
                      </a:endParaRPr>
                    </a:p>
                  </a:txBody>
                  <a:tcPr marL="127000" marR="127000" marT="76200" marB="76200" anchor="ctr">
                    <a:lnL w="9525" cap="flat" cmpd="sng" algn="ctr">
                      <a:solidFill>
                        <a:srgbClr val="DDD9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D9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D9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D9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6F1"/>
                    </a:solidFill>
                  </a:tcPr>
                </a:tc>
              </a:tr>
              <a:tr h="35570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0F1B2D"/>
                          </a:solidFill>
                          <a:latin typeface="IBM Plex Sans" pitchFamily="34" charset="0"/>
                          <a:ea typeface="IBM Plex Sans" pitchFamily="34" charset="-122"/>
                          <a:cs typeface="IBM Plex Sans" pitchFamily="34" charset="-120"/>
                        </a:rPr>
                        <a:t>≤ 470</a:t>
                      </a:r>
                      <a:endParaRPr lang="en-US" sz="1200" dirty="0">
                        <a:latin typeface="IBM Plex Sans" charset="0"/>
                        <a:ea typeface="IBM Plex Sans" charset="0"/>
                        <a:cs typeface="IBM Plex Sans" charset="0"/>
                      </a:endParaRPr>
                    </a:p>
                  </a:txBody>
                  <a:tcPr marL="127000" marR="127000" marT="76200" marB="76200" anchor="ctr">
                    <a:lnL w="9525" cap="flat" cmpd="sng" algn="ctr">
                      <a:solidFill>
                        <a:srgbClr val="DDD9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D9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D9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D9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0F1B2D"/>
                          </a:solidFill>
                          <a:latin typeface="IBM Plex Sans" pitchFamily="34" charset="0"/>
                          <a:ea typeface="IBM Plex Sans" pitchFamily="34" charset="-122"/>
                          <a:cs typeface="IBM Plex Sans" pitchFamily="34" charset="-120"/>
                        </a:rPr>
                        <a:t>[___]</a:t>
                      </a:r>
                      <a:endParaRPr lang="en-US" sz="1200" dirty="0">
                        <a:latin typeface="IBM Plex Sans" charset="0"/>
                        <a:ea typeface="IBM Plex Sans" charset="0"/>
                        <a:cs typeface="IBM Plex Sans" charset="0"/>
                      </a:endParaRPr>
                    </a:p>
                  </a:txBody>
                  <a:tcPr marL="127000" marR="127000" marT="76200" marB="76200" anchor="ctr">
                    <a:lnL w="9525" cap="flat" cmpd="sng" algn="ctr">
                      <a:solidFill>
                        <a:srgbClr val="DDD9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D9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D9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D9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0F1B2D"/>
                          </a:solidFill>
                          <a:latin typeface="IBM Plex Sans" pitchFamily="34" charset="0"/>
                          <a:ea typeface="IBM Plex Sans" pitchFamily="34" charset="-122"/>
                          <a:cs typeface="IBM Plex Sans" pitchFamily="34" charset="-120"/>
                        </a:rPr>
                        <a:t>−__%</a:t>
                      </a:r>
                      <a:endParaRPr lang="en-US" sz="1200" dirty="0">
                        <a:latin typeface="IBM Plex Sans" charset="0"/>
                        <a:ea typeface="IBM Plex Sans" charset="0"/>
                        <a:cs typeface="IBM Plex Sans" charset="0"/>
                      </a:endParaRPr>
                    </a:p>
                  </a:txBody>
                  <a:tcPr marL="127000" marR="127000" marT="76200" marB="76200" anchor="ctr">
                    <a:lnL w="9525" cap="flat" cmpd="sng" algn="ctr">
                      <a:solidFill>
                        <a:srgbClr val="DDD9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D9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D9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D9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0F1B2D"/>
                          </a:solidFill>
                          <a:latin typeface="IBM Plex Sans" pitchFamily="34" charset="0"/>
                          <a:ea typeface="IBM Plex Sans" pitchFamily="34" charset="-122"/>
                          <a:cs typeface="IBM Plex Sans" pitchFamily="34" charset="-120"/>
                        </a:rPr>
                        <a:t>−__% · 면적 [___]</a:t>
                      </a:r>
                      <a:endParaRPr lang="en-US" sz="1200" dirty="0">
                        <a:latin typeface="IBM Plex Sans" charset="0"/>
                        <a:ea typeface="IBM Plex Sans" charset="0"/>
                        <a:cs typeface="IBM Plex Sans" charset="0"/>
                      </a:endParaRPr>
                    </a:p>
                  </a:txBody>
                  <a:tcPr marL="127000" marR="127000" marT="76200" marB="76200" anchor="ctr">
                    <a:lnL w="9525" cap="flat" cmpd="sng" algn="ctr">
                      <a:solidFill>
                        <a:srgbClr val="DDD9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D9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D9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D9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30" name="Shape 26"/>
          <p:cNvSpPr/>
          <p:nvPr/>
        </p:nvSpPr>
        <p:spPr>
          <a:xfrm>
            <a:off x="6858000" y="3492094"/>
            <a:ext cx="4826203" cy="825703"/>
          </a:xfrm>
          <a:prstGeom prst="roundRect">
            <a:avLst>
              <a:gd name="adj" fmla="val 9192"/>
            </a:avLst>
          </a:prstGeom>
          <a:solidFill>
            <a:srgbClr val="0F1B2D"/>
          </a:solidFill>
          <a:ln/>
        </p:spPr>
      </p:sp>
      <p:sp>
        <p:nvSpPr>
          <p:cNvPr id="31" name="Text 27"/>
          <p:cNvSpPr txBox="1"/>
          <p:nvPr/>
        </p:nvSpPr>
        <p:spPr>
          <a:xfrm>
            <a:off x="7035394" y="3593592"/>
            <a:ext cx="4444898" cy="19019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50" dirty="0">
                <a:solidFill>
                  <a:srgbClr val="8FA3B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AI가 실제로 바꾼 HW (예산 ≤280 예시)</a:t>
            </a:r>
            <a:endParaRPr lang="en-US" sz="1150" dirty="0"/>
          </a:p>
        </p:txBody>
      </p:sp>
      <p:sp>
        <p:nvSpPr>
          <p:cNvPr id="32" name="Text 28"/>
          <p:cNvSpPr txBox="1"/>
          <p:nvPr/>
        </p:nvSpPr>
        <p:spPr>
          <a:xfrm>
            <a:off x="7035394" y="3810305"/>
            <a:ext cx="4444898" cy="44439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5000"/>
              </a:lnSpc>
              <a:buNone/>
            </a:pPr>
            <a:r>
              <a:rPr lang="en-US" sz="1250" dirty="0">
                <a:solidFill>
                  <a:srgbClr val="F5F4EE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[SRAM 3뱅크 → 2뱅크 · I-cache 4K → 없음</a:t>
            </a:r>
            <a:endParaRPr lang="en-US" sz="1250" dirty="0"/>
          </a:p>
          <a:p>
            <a:pPr algn="l" indent="0" marL="0">
              <a:lnSpc>
                <a:spcPct val="135000"/>
              </a:lnSpc>
              <a:buNone/>
            </a:pPr>
            <a:r>
              <a:rPr lang="en-US" sz="1250" dirty="0">
                <a:solidFill>
                  <a:srgbClr val="F5F4EE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Flash prefetch on · DMA burst 1 → 8]</a:t>
            </a:r>
            <a:endParaRPr lang="en-US" sz="1250" dirty="0"/>
          </a:p>
        </p:txBody>
      </p:sp>
      <p:sp>
        <p:nvSpPr>
          <p:cNvPr id="33" name="Shape 29"/>
          <p:cNvSpPr/>
          <p:nvPr/>
        </p:nvSpPr>
        <p:spPr>
          <a:xfrm>
            <a:off x="6858000" y="4507992"/>
            <a:ext cx="1548994" cy="698602"/>
          </a:xfrm>
          <a:prstGeom prst="roundRect">
            <a:avLst>
              <a:gd name="adj" fmla="val 9031"/>
            </a:avLst>
          </a:prstGeom>
          <a:solidFill>
            <a:srgbClr val="F7F6F1"/>
          </a:solidFill>
          <a:ln w="12700">
            <a:solidFill>
              <a:srgbClr val="DDD9CC"/>
            </a:solidFill>
            <a:prstDash val="solid"/>
          </a:ln>
        </p:spPr>
      </p:sp>
      <p:sp>
        <p:nvSpPr>
          <p:cNvPr id="34" name="Text 30"/>
          <p:cNvSpPr txBox="1"/>
          <p:nvPr/>
        </p:nvSpPr>
        <p:spPr>
          <a:xfrm>
            <a:off x="6985102" y="4597603"/>
            <a:ext cx="1295705" cy="17739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50" dirty="0">
                <a:solidFill>
                  <a:srgbClr val="6B7280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AI 반복 · 소요</a:t>
            </a:r>
            <a:endParaRPr lang="en-US" sz="1050" dirty="0"/>
          </a:p>
        </p:txBody>
      </p:sp>
      <p:sp>
        <p:nvSpPr>
          <p:cNvPr id="35" name="Text 31"/>
          <p:cNvSpPr txBox="1"/>
          <p:nvPr/>
        </p:nvSpPr>
        <p:spPr>
          <a:xfrm>
            <a:off x="6985102" y="4800600"/>
            <a:ext cx="1295705" cy="31729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0F1B2D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[__]회 · [_]h</a:t>
            </a:r>
            <a:endParaRPr lang="en-US" sz="1600" dirty="0"/>
          </a:p>
        </p:txBody>
      </p:sp>
      <p:sp>
        <p:nvSpPr>
          <p:cNvPr id="36" name="Shape 32"/>
          <p:cNvSpPr/>
          <p:nvPr/>
        </p:nvSpPr>
        <p:spPr>
          <a:xfrm>
            <a:off x="8495690" y="4507992"/>
            <a:ext cx="1548994" cy="698602"/>
          </a:xfrm>
          <a:prstGeom prst="roundRect">
            <a:avLst>
              <a:gd name="adj" fmla="val 9031"/>
            </a:avLst>
          </a:prstGeom>
          <a:solidFill>
            <a:srgbClr val="F7F6F1"/>
          </a:solidFill>
          <a:ln w="12700">
            <a:solidFill>
              <a:srgbClr val="DDD9CC"/>
            </a:solidFill>
            <a:prstDash val="solid"/>
          </a:ln>
        </p:spPr>
      </p:sp>
      <p:sp>
        <p:nvSpPr>
          <p:cNvPr id="37" name="Text 33"/>
          <p:cNvSpPr txBox="1"/>
          <p:nvPr/>
        </p:nvSpPr>
        <p:spPr>
          <a:xfrm>
            <a:off x="8622792" y="4597603"/>
            <a:ext cx="1295705" cy="17739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50" dirty="0">
                <a:solidFill>
                  <a:srgbClr val="6B7280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사람 대비</a:t>
            </a:r>
            <a:endParaRPr lang="en-US" sz="1050" dirty="0"/>
          </a:p>
        </p:txBody>
      </p:sp>
      <p:sp>
        <p:nvSpPr>
          <p:cNvPr id="38" name="Text 34"/>
          <p:cNvSpPr txBox="1"/>
          <p:nvPr/>
        </p:nvSpPr>
        <p:spPr>
          <a:xfrm>
            <a:off x="8622792" y="4800600"/>
            <a:ext cx="1295705" cy="31729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0F1B2D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[_]일 → [_]h</a:t>
            </a:r>
            <a:endParaRPr lang="en-US" sz="1600" dirty="0"/>
          </a:p>
        </p:txBody>
      </p:sp>
      <p:sp>
        <p:nvSpPr>
          <p:cNvPr id="39" name="Shape 35"/>
          <p:cNvSpPr/>
          <p:nvPr/>
        </p:nvSpPr>
        <p:spPr>
          <a:xfrm>
            <a:off x="10134295" y="4507992"/>
            <a:ext cx="1548994" cy="698602"/>
          </a:xfrm>
          <a:prstGeom prst="roundRect">
            <a:avLst>
              <a:gd name="adj" fmla="val 9031"/>
            </a:avLst>
          </a:prstGeom>
          <a:solidFill>
            <a:srgbClr val="F7F6F1"/>
          </a:solidFill>
          <a:ln w="12700">
            <a:solidFill>
              <a:srgbClr val="DDD9CC"/>
            </a:solidFill>
            <a:prstDash val="solid"/>
          </a:ln>
        </p:spPr>
      </p:sp>
      <p:sp>
        <p:nvSpPr>
          <p:cNvPr id="40" name="Text 36"/>
          <p:cNvSpPr txBox="1"/>
          <p:nvPr/>
        </p:nvSpPr>
        <p:spPr>
          <a:xfrm>
            <a:off x="10261397" y="4597603"/>
            <a:ext cx="1295705" cy="17739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50" dirty="0">
                <a:solidFill>
                  <a:srgbClr val="6B7280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골든 불일치 폐기</a:t>
            </a:r>
            <a:endParaRPr lang="en-US" sz="1050" dirty="0"/>
          </a:p>
        </p:txBody>
      </p:sp>
      <p:sp>
        <p:nvSpPr>
          <p:cNvPr id="41" name="Text 37"/>
          <p:cNvSpPr txBox="1"/>
          <p:nvPr/>
        </p:nvSpPr>
        <p:spPr>
          <a:xfrm>
            <a:off x="10261397" y="4800600"/>
            <a:ext cx="1295705" cy="31729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0F1B2D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[__] / [__]</a:t>
            </a:r>
            <a:endParaRPr lang="en-US" sz="1600" dirty="0"/>
          </a:p>
        </p:txBody>
      </p:sp>
      <p:sp>
        <p:nvSpPr>
          <p:cNvPr id="42" name="Text 38"/>
          <p:cNvSpPr txBox="1"/>
          <p:nvPr/>
        </p:nvSpPr>
        <p:spPr>
          <a:xfrm>
            <a:off x="508406" y="5397703"/>
            <a:ext cx="11175797" cy="50840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5000"/>
              </a:lnSpc>
              <a:buNone/>
            </a:pPr>
            <a:r>
              <a:rPr lang="en-US" sz="1200" b="1" dirty="0">
                <a:solidFill>
                  <a:srgbClr val="4A556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신뢰성</a:t>
            </a:r>
            <a:pPr algn="l" indent="0" marL="0">
              <a:lnSpc>
                <a:spcPct val="135000"/>
              </a:lnSpc>
              <a:buNone/>
            </a:pPr>
            <a:r>
              <a:rPr lang="en-US" sz="1200" dirty="0">
                <a:solidFill>
                  <a:srgbClr val="4A556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 — 모든 점은 출력 bit-exact · ISR ≤ 20 µs · overrun 0 통과. 모델 정합성 99.7%, 추론 커널 TFLite와 bit-exact, 실험마다 git rev·config 해시 기록. 예산 안의 HW 구성은 AI가 선택.</a:t>
            </a:r>
            <a:endParaRPr lang="en-US" sz="12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737006"/>
          </a:xfrm>
          <a:prstGeom prst="rect">
            <a:avLst/>
          </a:prstGeom>
          <a:solidFill>
            <a:srgbClr val="111111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508406" y="0"/>
            <a:ext cx="11175797" cy="73700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4. 기대효과 · 마무리</a:t>
            </a:r>
            <a:endParaRPr lang="en-US" sz="1600" dirty="0"/>
          </a:p>
        </p:txBody>
      </p:sp>
      <p:sp>
        <p:nvSpPr>
          <p:cNvPr id="5" name="Text 2"/>
          <p:cNvSpPr txBox="1"/>
          <p:nvPr/>
        </p:nvSpPr>
        <p:spPr>
          <a:xfrm>
            <a:off x="508406" y="1015898"/>
            <a:ext cx="11175797" cy="571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3400" b="1" dirty="0">
                <a:solidFill>
                  <a:srgbClr val="0F1B2D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실리콘을 기다리지 않습니다. 돌리고, 읽고, 고칩니다.</a:t>
            </a:r>
            <a:endParaRPr lang="en-US" sz="3400" dirty="0"/>
          </a:p>
        </p:txBody>
      </p:sp>
      <p:sp>
        <p:nvSpPr>
          <p:cNvPr id="6" name="Shape 3"/>
          <p:cNvSpPr/>
          <p:nvPr/>
        </p:nvSpPr>
        <p:spPr>
          <a:xfrm>
            <a:off x="508406" y="1904695"/>
            <a:ext cx="3606394" cy="3301898"/>
          </a:xfrm>
          <a:prstGeom prst="roundRect">
            <a:avLst>
              <a:gd name="adj" fmla="val 3074"/>
            </a:avLst>
          </a:prstGeom>
          <a:solidFill>
            <a:srgbClr val="F7F6F1"/>
          </a:solidFill>
          <a:ln w="12700">
            <a:solidFill>
              <a:srgbClr val="DDD9CC"/>
            </a:solidFill>
            <a:prstDash val="solid"/>
          </a:ln>
        </p:spPr>
      </p:sp>
      <p:sp>
        <p:nvSpPr>
          <p:cNvPr id="7" name="Shape 4"/>
          <p:cNvSpPr/>
          <p:nvPr/>
        </p:nvSpPr>
        <p:spPr>
          <a:xfrm>
            <a:off x="508406" y="1904695"/>
            <a:ext cx="3606394" cy="38405"/>
          </a:xfrm>
          <a:prstGeom prst="rect">
            <a:avLst/>
          </a:prstGeom>
          <a:solidFill>
            <a:srgbClr val="E8A33D"/>
          </a:solidFill>
          <a:ln/>
        </p:spPr>
      </p:sp>
      <p:sp>
        <p:nvSpPr>
          <p:cNvPr id="8" name="Text 5"/>
          <p:cNvSpPr txBox="1"/>
          <p:nvPr/>
        </p:nvSpPr>
        <p:spPr>
          <a:xfrm>
            <a:off x="737006" y="2107692"/>
            <a:ext cx="3149194" cy="29169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b="1" dirty="0">
                <a:solidFill>
                  <a:srgbClr val="0F1B2D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정성적 효과</a:t>
            </a:r>
            <a:endParaRPr lang="en-US" sz="1700" dirty="0"/>
          </a:p>
        </p:txBody>
      </p:sp>
      <p:sp>
        <p:nvSpPr>
          <p:cNvPr id="9" name="Text 6"/>
          <p:cNvSpPr txBox="1"/>
          <p:nvPr/>
        </p:nvSpPr>
        <p:spPr>
          <a:xfrm>
            <a:off x="737006" y="2514600"/>
            <a:ext cx="3149194" cy="254020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25000"/>
              </a:lnSpc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4A556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SW 개발·HW-SW 최적화를 설계 단계로 앞당김</a:t>
            </a:r>
            <a:endParaRPr lang="en-US" sz="1300" dirty="0"/>
          </a:p>
          <a:p>
            <a:pPr marL="342900" indent="-342900">
              <a:lnSpc>
                <a:spcPct val="125000"/>
              </a:lnSpc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4A556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"왜 느린가"에 근거(프로파일·경합 창)로 답함</a:t>
            </a:r>
            <a:endParaRPr lang="en-US" sz="1300" dirty="0"/>
          </a:p>
          <a:p>
            <a:pPr marL="342900" indent="-342900">
              <a:lnSpc>
                <a:spcPct val="125000"/>
              </a:lnSpc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4A556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HW 결정에 면적 비용이 항상 따라붙음</a:t>
            </a:r>
            <a:endParaRPr lang="en-US" sz="1300" dirty="0"/>
          </a:p>
          <a:p>
            <a:pPr marL="342900" indent="-342900">
              <a:lnSpc>
                <a:spcPct val="125000"/>
              </a:lnSpc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4A556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사람은 검토자로, 반복은 AI로 역할 분리</a:t>
            </a:r>
            <a:endParaRPr lang="en-US" sz="1300" dirty="0"/>
          </a:p>
        </p:txBody>
      </p:sp>
      <p:sp>
        <p:nvSpPr>
          <p:cNvPr id="10" name="Shape 7"/>
          <p:cNvSpPr/>
          <p:nvPr/>
        </p:nvSpPr>
        <p:spPr>
          <a:xfrm>
            <a:off x="4292194" y="1904695"/>
            <a:ext cx="3606394" cy="3301898"/>
          </a:xfrm>
          <a:prstGeom prst="roundRect">
            <a:avLst>
              <a:gd name="adj" fmla="val 3074"/>
            </a:avLst>
          </a:prstGeom>
          <a:solidFill>
            <a:srgbClr val="F7F6F1"/>
          </a:solidFill>
          <a:ln w="12700">
            <a:solidFill>
              <a:srgbClr val="DDD9CC"/>
            </a:solidFill>
            <a:prstDash val="solid"/>
          </a:ln>
        </p:spPr>
      </p:sp>
      <p:sp>
        <p:nvSpPr>
          <p:cNvPr id="11" name="Shape 8"/>
          <p:cNvSpPr/>
          <p:nvPr/>
        </p:nvSpPr>
        <p:spPr>
          <a:xfrm>
            <a:off x="4292194" y="1904695"/>
            <a:ext cx="3606394" cy="38405"/>
          </a:xfrm>
          <a:prstGeom prst="rect">
            <a:avLst/>
          </a:prstGeom>
          <a:solidFill>
            <a:srgbClr val="2FA6A0"/>
          </a:solidFill>
          <a:ln/>
        </p:spPr>
      </p:sp>
      <p:sp>
        <p:nvSpPr>
          <p:cNvPr id="12" name="Text 9"/>
          <p:cNvSpPr txBox="1"/>
          <p:nvPr/>
        </p:nvSpPr>
        <p:spPr>
          <a:xfrm>
            <a:off x="4520794" y="2107692"/>
            <a:ext cx="3149194" cy="29169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b="1" dirty="0">
                <a:solidFill>
                  <a:srgbClr val="0F1B2D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정량적 효과</a:t>
            </a:r>
            <a:endParaRPr lang="en-US" sz="1700" dirty="0"/>
          </a:p>
        </p:txBody>
      </p:sp>
      <p:sp>
        <p:nvSpPr>
          <p:cNvPr id="13" name="Text 10"/>
          <p:cNvSpPr txBox="1"/>
          <p:nvPr/>
        </p:nvSpPr>
        <p:spPr>
          <a:xfrm>
            <a:off x="4520794" y="2514600"/>
            <a:ext cx="3149194" cy="254020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25000"/>
              </a:lnSpc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4A556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탐색 시간 [사람 __일 → AI __시간]</a:t>
            </a:r>
            <a:endParaRPr lang="en-US" sz="1300" dirty="0"/>
          </a:p>
          <a:p>
            <a:pPr marL="342900" indent="-342900">
              <a:lnSpc>
                <a:spcPct val="125000"/>
              </a:lnSpc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4A556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추론 cycle [베이스라인 대비 −__%]</a:t>
            </a:r>
            <a:endParaRPr lang="en-US" sz="1300" dirty="0"/>
          </a:p>
          <a:p>
            <a:pPr marL="342900" indent="-342900">
              <a:lnSpc>
                <a:spcPct val="125000"/>
              </a:lnSpc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4A556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같은 성능에 면적 [−__%]</a:t>
            </a:r>
            <a:endParaRPr lang="en-US" sz="1300" dirty="0"/>
          </a:p>
          <a:p>
            <a:pPr marL="342900" indent="-342900">
              <a:lnSpc>
                <a:spcPct val="125000"/>
              </a:lnSpc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4A556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실험 1회 [__초], 하루 [__]회</a:t>
            </a:r>
            <a:endParaRPr lang="en-US" sz="1300" dirty="0"/>
          </a:p>
        </p:txBody>
      </p:sp>
      <p:sp>
        <p:nvSpPr>
          <p:cNvPr id="14" name="Shape 11"/>
          <p:cNvSpPr/>
          <p:nvPr/>
        </p:nvSpPr>
        <p:spPr>
          <a:xfrm>
            <a:off x="8076895" y="1904695"/>
            <a:ext cx="3606394" cy="3301898"/>
          </a:xfrm>
          <a:prstGeom prst="roundRect">
            <a:avLst>
              <a:gd name="adj" fmla="val 3074"/>
            </a:avLst>
          </a:prstGeom>
          <a:solidFill>
            <a:srgbClr val="F7F6F1"/>
          </a:solidFill>
          <a:ln w="12700">
            <a:solidFill>
              <a:srgbClr val="DDD9CC"/>
            </a:solidFill>
            <a:prstDash val="solid"/>
          </a:ln>
        </p:spPr>
      </p:sp>
      <p:sp>
        <p:nvSpPr>
          <p:cNvPr id="15" name="Shape 12"/>
          <p:cNvSpPr/>
          <p:nvPr/>
        </p:nvSpPr>
        <p:spPr>
          <a:xfrm>
            <a:off x="8076895" y="1904695"/>
            <a:ext cx="3606394" cy="38405"/>
          </a:xfrm>
          <a:prstGeom prst="rect">
            <a:avLst/>
          </a:prstGeom>
          <a:solidFill>
            <a:srgbClr val="0F1B2D"/>
          </a:solidFill>
          <a:ln/>
        </p:spPr>
      </p:sp>
      <p:sp>
        <p:nvSpPr>
          <p:cNvPr id="16" name="Text 13"/>
          <p:cNvSpPr txBox="1"/>
          <p:nvPr/>
        </p:nvSpPr>
        <p:spPr>
          <a:xfrm>
            <a:off x="8305495" y="2107692"/>
            <a:ext cx="3149194" cy="29169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b="1" dirty="0">
                <a:solidFill>
                  <a:srgbClr val="0F1B2D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교육 · 실무 연계</a:t>
            </a:r>
            <a:endParaRPr lang="en-US" sz="1700" dirty="0"/>
          </a:p>
        </p:txBody>
      </p:sp>
      <p:sp>
        <p:nvSpPr>
          <p:cNvPr id="17" name="Text 14"/>
          <p:cNvSpPr txBox="1"/>
          <p:nvPr/>
        </p:nvSpPr>
        <p:spPr>
          <a:xfrm>
            <a:off x="8305495" y="2514600"/>
            <a:ext cx="3149194" cy="254020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25000"/>
              </a:lnSpc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4A556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[교과목: 컴퓨터구조 · 임베디드 · SoC 설계 — 메모리 계층·버스 경합을 실험으로 체득]</a:t>
            </a:r>
            <a:endParaRPr lang="en-US" sz="1300" dirty="0"/>
          </a:p>
          <a:p>
            <a:pPr marL="342900" indent="-342900">
              <a:lnSpc>
                <a:spcPct val="125000"/>
              </a:lnSpc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4A556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[실무: 신규 SoC 펌웨어 선개발, RTL 파형(WaveScope) 교차 검증에 즉시 적용]</a:t>
            </a:r>
            <a:endParaRPr lang="en-US" sz="1300" dirty="0"/>
          </a:p>
          <a:p>
            <a:pPr marL="342900" indent="-342900">
              <a:lnSpc>
                <a:spcPct val="125000"/>
              </a:lnSpc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4A556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[다음: RISC-V·멀티코어, 실제 프로젝트 워크로드 투입]</a:t>
            </a:r>
            <a:endParaRPr lang="en-US" sz="1300" dirty="0"/>
          </a:p>
        </p:txBody>
      </p:sp>
      <p:sp>
        <p:nvSpPr>
          <p:cNvPr id="18" name="Text 15"/>
          <p:cNvSpPr txBox="1"/>
          <p:nvPr/>
        </p:nvSpPr>
        <p:spPr>
          <a:xfrm>
            <a:off x="508406" y="5587898"/>
            <a:ext cx="5079492" cy="31729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b="1" dirty="0">
                <a:solidFill>
                  <a:srgbClr val="0F1B2D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감사합니다 · Q&amp;A</a:t>
            </a:r>
            <a:endParaRPr lang="en-US" sz="1700" dirty="0"/>
          </a:p>
        </p:txBody>
      </p:sp>
      <p:sp>
        <p:nvSpPr>
          <p:cNvPr id="19" name="Text 16"/>
          <p:cNvSpPr txBox="1"/>
          <p:nvPr/>
        </p:nvSpPr>
        <p:spPr>
          <a:xfrm>
            <a:off x="6603797" y="5650992"/>
            <a:ext cx="5079492" cy="25420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300" dirty="0">
                <a:solidFill>
                  <a:srgbClr val="6B7280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[발표자 이름] · [이메일]</a:t>
            </a:r>
            <a:endParaRPr lang="en-US" sz="13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737006"/>
          </a:xfrm>
          <a:prstGeom prst="rect">
            <a:avLst/>
          </a:prstGeom>
          <a:solidFill>
            <a:srgbClr val="111111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508406" y="0"/>
            <a:ext cx="11175797" cy="73700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부록 — 요구사항 분석: 기존 수단과의 비교</a:t>
            </a:r>
            <a:endParaRPr lang="en-US" sz="1600" dirty="0"/>
          </a:p>
        </p:txBody>
      </p:sp>
      <p:sp>
        <p:nvSpPr>
          <p:cNvPr id="5" name="Text 2"/>
          <p:cNvSpPr txBox="1"/>
          <p:nvPr/>
        </p:nvSpPr>
        <p:spPr>
          <a:xfrm>
            <a:off x="508406" y="1015898"/>
            <a:ext cx="11175797" cy="50840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3000" b="1" dirty="0">
                <a:solidFill>
                  <a:srgbClr val="0F1B2D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실리콘 이전에 필요한 것 다섯 가지, 기존 수단은 하나씩 빠져 있습니다</a:t>
            </a:r>
            <a:endParaRPr lang="en-US" sz="3000" dirty="0"/>
          </a:p>
        </p:txBody>
      </p:sp>
      <p:graphicFrame>
        <p:nvGraphicFramePr>
          <p:cNvPr id="1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08406" y="1841602"/>
          <a:ext cx="11175797" cy="914400"/>
        </p:xfrm>
        <a:graphic>
          <a:graphicData uri="http://schemas.openxmlformats.org/drawingml/2006/table">
            <a:tbl>
              <a:tblPr/>
              <a:tblGrid>
                <a:gridCol w="3130906"/>
                <a:gridCol w="2012594"/>
                <a:gridCol w="2012594"/>
                <a:gridCol w="2012594"/>
                <a:gridCol w="2006194"/>
              </a:tblGrid>
              <a:tr h="47000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IBM Plex Sans" pitchFamily="34" charset="0"/>
                          <a:ea typeface="IBM Plex Sans" pitchFamily="34" charset="-122"/>
                          <a:cs typeface="IBM Plex Sans" pitchFamily="34" charset="-120"/>
                        </a:rPr>
                        <a:t>필요한 것</a:t>
                      </a:r>
                      <a:endParaRPr lang="en-US" sz="1400" dirty="0">
                        <a:latin typeface="IBM Plex Sans" charset="0"/>
                        <a:ea typeface="IBM Plex Sans" charset="0"/>
                        <a:cs typeface="IBM Plex Sans" charset="0"/>
                      </a:endParaRPr>
                    </a:p>
                  </a:txBody>
                  <a:tcPr marL="127000" marR="127000" marT="76200" marB="76200" anchor="ctr">
                    <a:lnL w="9525" cap="flat" cmpd="sng" algn="ctr">
                      <a:solidFill>
                        <a:srgbClr val="DDD9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D9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D9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D9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1B2D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IBM Plex Sans" pitchFamily="34" charset="0"/>
                          <a:ea typeface="IBM Plex Sans" pitchFamily="34" charset="-122"/>
                          <a:cs typeface="IBM Plex Sans" pitchFamily="34" charset="-120"/>
                        </a:rPr>
                        <a:t>RTL 시뮬</a:t>
                      </a:r>
                      <a:endParaRPr lang="en-US" sz="1400" dirty="0">
                        <a:latin typeface="IBM Plex Sans" charset="0"/>
                        <a:ea typeface="IBM Plex Sans" charset="0"/>
                        <a:cs typeface="IBM Plex Sans" charset="0"/>
                      </a:endParaRPr>
                    </a:p>
                  </a:txBody>
                  <a:tcPr marL="127000" marR="127000" marT="76200" marB="76200" anchor="ctr">
                    <a:lnL w="9525" cap="flat" cmpd="sng" algn="ctr">
                      <a:solidFill>
                        <a:srgbClr val="DDD9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D9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D9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D9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1B2D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IBM Plex Sans" pitchFamily="34" charset="0"/>
                          <a:ea typeface="IBM Plex Sans" pitchFamily="34" charset="-122"/>
                          <a:cs typeface="IBM Plex Sans" pitchFamily="34" charset="-120"/>
                        </a:rPr>
                        <a:t>FPGA · 에뮬레이터</a:t>
                      </a:r>
                      <a:endParaRPr lang="en-US" sz="1400" dirty="0">
                        <a:latin typeface="IBM Plex Sans" charset="0"/>
                        <a:ea typeface="IBM Plex Sans" charset="0"/>
                        <a:cs typeface="IBM Plex Sans" charset="0"/>
                      </a:endParaRPr>
                    </a:p>
                  </a:txBody>
                  <a:tcPr marL="127000" marR="127000" marT="76200" marB="76200" anchor="ctr">
                    <a:lnL w="9525" cap="flat" cmpd="sng" algn="ctr">
                      <a:solidFill>
                        <a:srgbClr val="DDD9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D9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D9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D9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1B2D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IBM Plex Sans" pitchFamily="34" charset="0"/>
                          <a:ea typeface="IBM Plex Sans" pitchFamily="34" charset="-122"/>
                          <a:cs typeface="IBM Plex Sans" pitchFamily="34" charset="-120"/>
                        </a:rPr>
                        <a:t>기능(LT) 시뮬</a:t>
                      </a:r>
                      <a:endParaRPr lang="en-US" sz="1400" dirty="0">
                        <a:latin typeface="IBM Plex Sans" charset="0"/>
                        <a:ea typeface="IBM Plex Sans" charset="0"/>
                        <a:cs typeface="IBM Plex Sans" charset="0"/>
                      </a:endParaRPr>
                    </a:p>
                  </a:txBody>
                  <a:tcPr marL="127000" marR="127000" marT="76200" marB="76200" anchor="ctr">
                    <a:lnL w="9525" cap="flat" cmpd="sng" algn="ctr">
                      <a:solidFill>
                        <a:srgbClr val="DDD9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D9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D9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D9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1B2D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IBM Plex Sans" pitchFamily="34" charset="0"/>
                          <a:ea typeface="IBM Plex Sans" pitchFamily="34" charset="-122"/>
                          <a:cs typeface="IBM Plex Sans" pitchFamily="34" charset="-120"/>
                        </a:rPr>
                        <a:t>이 과제</a:t>
                      </a:r>
                      <a:endParaRPr lang="en-US" sz="1400" dirty="0">
                        <a:latin typeface="IBM Plex Sans" charset="0"/>
                        <a:ea typeface="IBM Plex Sans" charset="0"/>
                        <a:cs typeface="IBM Plex Sans" charset="0"/>
                      </a:endParaRPr>
                    </a:p>
                  </a:txBody>
                  <a:tcPr marL="127000" marR="127000" marT="76200" marB="76200" anchor="ctr">
                    <a:lnL w="9525" cap="flat" cmpd="sng" algn="ctr">
                      <a:solidFill>
                        <a:srgbClr val="DDD9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D9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D9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D9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1B2D"/>
                    </a:solidFill>
                  </a:tcPr>
                </a:tc>
              </a:tr>
              <a:tr h="47000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0F1B2D"/>
                          </a:solidFill>
                          <a:latin typeface="IBM Plex Sans" pitchFamily="34" charset="0"/>
                          <a:ea typeface="IBM Plex Sans" pitchFamily="34" charset="-122"/>
                          <a:cs typeface="IBM Plex Sans" pitchFamily="34" charset="-120"/>
                        </a:rPr>
                        <a:t>R1 · SW를 개발할 수 있는 속도</a:t>
                      </a:r>
                      <a:endParaRPr lang="en-US" sz="1400" dirty="0">
                        <a:latin typeface="IBM Plex Sans" charset="0"/>
                        <a:ea typeface="IBM Plex Sans" charset="0"/>
                        <a:cs typeface="IBM Plex Sans" charset="0"/>
                      </a:endParaRPr>
                    </a:p>
                  </a:txBody>
                  <a:tcPr marL="127000" marR="127000" marT="76200" marB="76200" anchor="ctr">
                    <a:lnL w="9525" cap="flat" cmpd="sng" algn="ctr">
                      <a:solidFill>
                        <a:srgbClr val="DDD9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D9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D9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D9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B8791F"/>
                          </a:solidFill>
                          <a:latin typeface="IBM Plex Sans" pitchFamily="34" charset="0"/>
                          <a:ea typeface="IBM Plex Sans" pitchFamily="34" charset="-122"/>
                          <a:cs typeface="IBM Plex Sans" pitchFamily="34" charset="-120"/>
                        </a:rPr>
                        <a:t>✕ 수 KIPS</a:t>
                      </a:r>
                      <a:endParaRPr lang="en-US" sz="1400" dirty="0">
                        <a:latin typeface="IBM Plex Sans" charset="0"/>
                        <a:ea typeface="IBM Plex Sans" charset="0"/>
                        <a:cs typeface="IBM Plex Sans" charset="0"/>
                      </a:endParaRPr>
                    </a:p>
                  </a:txBody>
                  <a:tcPr marL="127000" marR="127000" marT="76200" marB="76200" anchor="ctr">
                    <a:lnL w="9525" cap="flat" cmpd="sng" algn="ctr">
                      <a:solidFill>
                        <a:srgbClr val="DDD9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D9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D9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D9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0F1B2D"/>
                          </a:solidFill>
                          <a:latin typeface="IBM Plex Sans" pitchFamily="34" charset="0"/>
                          <a:ea typeface="IBM Plex Sans" pitchFamily="34" charset="-122"/>
                          <a:cs typeface="IBM Plex Sans" pitchFamily="34" charset="-120"/>
                        </a:rPr>
                        <a:t>○</a:t>
                      </a:r>
                      <a:endParaRPr lang="en-US" sz="1400" dirty="0">
                        <a:latin typeface="IBM Plex Sans" charset="0"/>
                        <a:ea typeface="IBM Plex Sans" charset="0"/>
                        <a:cs typeface="IBM Plex Sans" charset="0"/>
                      </a:endParaRPr>
                    </a:p>
                  </a:txBody>
                  <a:tcPr marL="127000" marR="127000" marT="76200" marB="76200" anchor="ctr">
                    <a:lnL w="9525" cap="flat" cmpd="sng" algn="ctr">
                      <a:solidFill>
                        <a:srgbClr val="DDD9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D9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D9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D9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0F1B2D"/>
                          </a:solidFill>
                          <a:latin typeface="IBM Plex Sans" pitchFamily="34" charset="0"/>
                          <a:ea typeface="IBM Plex Sans" pitchFamily="34" charset="-122"/>
                          <a:cs typeface="IBM Plex Sans" pitchFamily="34" charset="-120"/>
                        </a:rPr>
                        <a:t>○</a:t>
                      </a:r>
                      <a:endParaRPr lang="en-US" sz="1400" dirty="0">
                        <a:latin typeface="IBM Plex Sans" charset="0"/>
                        <a:ea typeface="IBM Plex Sans" charset="0"/>
                        <a:cs typeface="IBM Plex Sans" charset="0"/>
                      </a:endParaRPr>
                    </a:p>
                  </a:txBody>
                  <a:tcPr marL="127000" marR="127000" marT="76200" marB="76200" anchor="ctr">
                    <a:lnL w="9525" cap="flat" cmpd="sng" algn="ctr">
                      <a:solidFill>
                        <a:srgbClr val="DDD9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D9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D9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D9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rgbClr val="1F7F7A"/>
                          </a:solidFill>
                          <a:latin typeface="IBM Plex Sans" pitchFamily="34" charset="0"/>
                          <a:ea typeface="IBM Plex Sans" pitchFamily="34" charset="-122"/>
                          <a:cs typeface="IBM Plex Sans" pitchFamily="34" charset="-120"/>
                        </a:rPr>
                        <a:t>○ 50배+ vs RTL</a:t>
                      </a:r>
                      <a:endParaRPr lang="en-US" sz="1400" dirty="0">
                        <a:latin typeface="IBM Plex Sans" charset="0"/>
                        <a:ea typeface="IBM Plex Sans" charset="0"/>
                        <a:cs typeface="IBM Plex Sans" charset="0"/>
                      </a:endParaRPr>
                    </a:p>
                  </a:txBody>
                  <a:tcPr marL="127000" marR="127000" marT="76200" marB="76200" anchor="ctr">
                    <a:lnL w="9525" cap="flat" cmpd="sng" algn="ctr">
                      <a:solidFill>
                        <a:srgbClr val="DDD9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D9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D9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D9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7000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0F1B2D"/>
                          </a:solidFill>
                          <a:latin typeface="IBM Plex Sans" pitchFamily="34" charset="0"/>
                          <a:ea typeface="IBM Plex Sans" pitchFamily="34" charset="-122"/>
                          <a:cs typeface="IBM Plex Sans" pitchFamily="34" charset="-120"/>
                        </a:rPr>
                        <a:t>R2 · cycle 수준 정확도</a:t>
                      </a:r>
                      <a:endParaRPr lang="en-US" sz="1400" dirty="0">
                        <a:latin typeface="IBM Plex Sans" charset="0"/>
                        <a:ea typeface="IBM Plex Sans" charset="0"/>
                        <a:cs typeface="IBM Plex Sans" charset="0"/>
                      </a:endParaRPr>
                    </a:p>
                  </a:txBody>
                  <a:tcPr marL="127000" marR="127000" marT="76200" marB="76200" anchor="ctr">
                    <a:lnL w="9525" cap="flat" cmpd="sng" algn="ctr">
                      <a:solidFill>
                        <a:srgbClr val="DDD9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D9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D9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D9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6F1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0F1B2D"/>
                          </a:solidFill>
                          <a:latin typeface="IBM Plex Sans" pitchFamily="34" charset="0"/>
                          <a:ea typeface="IBM Plex Sans" pitchFamily="34" charset="-122"/>
                          <a:cs typeface="IBM Plex Sans" pitchFamily="34" charset="-120"/>
                        </a:rPr>
                        <a:t>○</a:t>
                      </a:r>
                      <a:endParaRPr lang="en-US" sz="1400" dirty="0">
                        <a:latin typeface="IBM Plex Sans" charset="0"/>
                        <a:ea typeface="IBM Plex Sans" charset="0"/>
                        <a:cs typeface="IBM Plex Sans" charset="0"/>
                      </a:endParaRPr>
                    </a:p>
                  </a:txBody>
                  <a:tcPr marL="127000" marR="127000" marT="76200" marB="76200" anchor="ctr">
                    <a:lnL w="9525" cap="flat" cmpd="sng" algn="ctr">
                      <a:solidFill>
                        <a:srgbClr val="DDD9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D9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D9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D9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6F1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0F1B2D"/>
                          </a:solidFill>
                          <a:latin typeface="IBM Plex Sans" pitchFamily="34" charset="0"/>
                          <a:ea typeface="IBM Plex Sans" pitchFamily="34" charset="-122"/>
                          <a:cs typeface="IBM Plex Sans" pitchFamily="34" charset="-120"/>
                        </a:rPr>
                        <a:t>○</a:t>
                      </a:r>
                      <a:endParaRPr lang="en-US" sz="1400" dirty="0">
                        <a:latin typeface="IBM Plex Sans" charset="0"/>
                        <a:ea typeface="IBM Plex Sans" charset="0"/>
                        <a:cs typeface="IBM Plex Sans" charset="0"/>
                      </a:endParaRPr>
                    </a:p>
                  </a:txBody>
                  <a:tcPr marL="127000" marR="127000" marT="76200" marB="76200" anchor="ctr">
                    <a:lnL w="9525" cap="flat" cmpd="sng" algn="ctr">
                      <a:solidFill>
                        <a:srgbClr val="DDD9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D9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D9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D9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6F1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B8791F"/>
                          </a:solidFill>
                          <a:latin typeface="IBM Plex Sans" pitchFamily="34" charset="0"/>
                          <a:ea typeface="IBM Plex Sans" pitchFamily="34" charset="-122"/>
                          <a:cs typeface="IBM Plex Sans" pitchFamily="34" charset="-120"/>
                        </a:rPr>
                        <a:t>✕ 타이밍 없음</a:t>
                      </a:r>
                      <a:endParaRPr lang="en-US" sz="1400" dirty="0">
                        <a:latin typeface="IBM Plex Sans" charset="0"/>
                        <a:ea typeface="IBM Plex Sans" charset="0"/>
                        <a:cs typeface="IBM Plex Sans" charset="0"/>
                      </a:endParaRPr>
                    </a:p>
                  </a:txBody>
                  <a:tcPr marL="127000" marR="127000" marT="76200" marB="76200" anchor="ctr">
                    <a:lnL w="9525" cap="flat" cmpd="sng" algn="ctr">
                      <a:solidFill>
                        <a:srgbClr val="DDD9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D9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D9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D9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6F1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rgbClr val="1F7F7A"/>
                          </a:solidFill>
                          <a:latin typeface="IBM Plex Sans" pitchFamily="34" charset="0"/>
                          <a:ea typeface="IBM Plex Sans" pitchFamily="34" charset="-122"/>
                          <a:cs typeface="IBM Plex Sans" pitchFamily="34" charset="-120"/>
                        </a:rPr>
                        <a:t>○ 99.7%</a:t>
                      </a:r>
                      <a:endParaRPr lang="en-US" sz="1400" dirty="0">
                        <a:latin typeface="IBM Plex Sans" charset="0"/>
                        <a:ea typeface="IBM Plex Sans" charset="0"/>
                        <a:cs typeface="IBM Plex Sans" charset="0"/>
                      </a:endParaRPr>
                    </a:p>
                  </a:txBody>
                  <a:tcPr marL="127000" marR="127000" marT="76200" marB="76200" anchor="ctr">
                    <a:lnL w="9525" cap="flat" cmpd="sng" algn="ctr">
                      <a:solidFill>
                        <a:srgbClr val="DDD9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D9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D9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D9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6F1"/>
                    </a:solidFill>
                  </a:tcPr>
                </a:tc>
              </a:tr>
              <a:tr h="47000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0F1B2D"/>
                          </a:solidFill>
                          <a:latin typeface="IBM Plex Sans" pitchFamily="34" charset="0"/>
                          <a:ea typeface="IBM Plex Sans" pitchFamily="34" charset="-122"/>
                          <a:cs typeface="IBM Plex Sans" pitchFamily="34" charset="-120"/>
                        </a:rPr>
                        <a:t>R3 · 원인을 보여주는 분석 데이터</a:t>
                      </a:r>
                      <a:endParaRPr lang="en-US" sz="1400" dirty="0">
                        <a:latin typeface="IBM Plex Sans" charset="0"/>
                        <a:ea typeface="IBM Plex Sans" charset="0"/>
                        <a:cs typeface="IBM Plex Sans" charset="0"/>
                      </a:endParaRPr>
                    </a:p>
                  </a:txBody>
                  <a:tcPr marL="127000" marR="127000" marT="76200" marB="76200" anchor="ctr">
                    <a:lnL w="9525" cap="flat" cmpd="sng" algn="ctr">
                      <a:solidFill>
                        <a:srgbClr val="DDD9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D9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D9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D9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0F1B2D"/>
                          </a:solidFill>
                          <a:latin typeface="IBM Plex Sans" pitchFamily="34" charset="0"/>
                          <a:ea typeface="IBM Plex Sans" pitchFamily="34" charset="-122"/>
                          <a:cs typeface="IBM Plex Sans" pitchFamily="34" charset="-120"/>
                        </a:rPr>
                        <a:t>△ 파형뿐</a:t>
                      </a:r>
                      <a:endParaRPr lang="en-US" sz="1400" dirty="0">
                        <a:latin typeface="IBM Plex Sans" charset="0"/>
                        <a:ea typeface="IBM Plex Sans" charset="0"/>
                        <a:cs typeface="IBM Plex Sans" charset="0"/>
                      </a:endParaRPr>
                    </a:p>
                  </a:txBody>
                  <a:tcPr marL="127000" marR="127000" marT="76200" marB="76200" anchor="ctr">
                    <a:lnL w="9525" cap="flat" cmpd="sng" algn="ctr">
                      <a:solidFill>
                        <a:srgbClr val="DDD9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D9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D9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D9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B8791F"/>
                          </a:solidFill>
                          <a:latin typeface="IBM Plex Sans" pitchFamily="34" charset="0"/>
                          <a:ea typeface="IBM Plex Sans" pitchFamily="34" charset="-122"/>
                          <a:cs typeface="IBM Plex Sans" pitchFamily="34" charset="-120"/>
                        </a:rPr>
                        <a:t>✕ 안이 안 보임</a:t>
                      </a:r>
                      <a:endParaRPr lang="en-US" sz="1400" dirty="0">
                        <a:latin typeface="IBM Plex Sans" charset="0"/>
                        <a:ea typeface="IBM Plex Sans" charset="0"/>
                        <a:cs typeface="IBM Plex Sans" charset="0"/>
                      </a:endParaRPr>
                    </a:p>
                  </a:txBody>
                  <a:tcPr marL="127000" marR="127000" marT="76200" marB="76200" anchor="ctr">
                    <a:lnL w="9525" cap="flat" cmpd="sng" algn="ctr">
                      <a:solidFill>
                        <a:srgbClr val="DDD9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D9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D9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D9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0F1B2D"/>
                          </a:solidFill>
                          <a:latin typeface="IBM Plex Sans" pitchFamily="34" charset="0"/>
                          <a:ea typeface="IBM Plex Sans" pitchFamily="34" charset="-122"/>
                          <a:cs typeface="IBM Plex Sans" pitchFamily="34" charset="-120"/>
                        </a:rPr>
                        <a:t>△</a:t>
                      </a:r>
                      <a:endParaRPr lang="en-US" sz="1400" dirty="0">
                        <a:latin typeface="IBM Plex Sans" charset="0"/>
                        <a:ea typeface="IBM Plex Sans" charset="0"/>
                        <a:cs typeface="IBM Plex Sans" charset="0"/>
                      </a:endParaRPr>
                    </a:p>
                  </a:txBody>
                  <a:tcPr marL="127000" marR="127000" marT="76200" marB="76200" anchor="ctr">
                    <a:lnL w="9525" cap="flat" cmpd="sng" algn="ctr">
                      <a:solidFill>
                        <a:srgbClr val="DDD9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D9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D9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D9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rgbClr val="1F7F7A"/>
                          </a:solidFill>
                          <a:latin typeface="IBM Plex Sans" pitchFamily="34" charset="0"/>
                          <a:ea typeface="IBM Plex Sans" pitchFamily="34" charset="-122"/>
                          <a:cs typeface="IBM Plex Sans" pitchFamily="34" charset="-120"/>
                        </a:rPr>
                        <a:t>○ callgrind + 파형</a:t>
                      </a:r>
                      <a:endParaRPr lang="en-US" sz="1400" dirty="0">
                        <a:latin typeface="IBM Plex Sans" charset="0"/>
                        <a:ea typeface="IBM Plex Sans" charset="0"/>
                        <a:cs typeface="IBM Plex Sans" charset="0"/>
                      </a:endParaRPr>
                    </a:p>
                  </a:txBody>
                  <a:tcPr marL="127000" marR="127000" marT="76200" marB="76200" anchor="ctr">
                    <a:lnL w="9525" cap="flat" cmpd="sng" algn="ctr">
                      <a:solidFill>
                        <a:srgbClr val="DDD9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D9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D9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D9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7000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0F1B2D"/>
                          </a:solidFill>
                          <a:latin typeface="IBM Plex Sans" pitchFamily="34" charset="0"/>
                          <a:ea typeface="IBM Plex Sans" pitchFamily="34" charset="-122"/>
                          <a:cs typeface="IBM Plex Sans" pitchFamily="34" charset="-120"/>
                        </a:rPr>
                        <a:t>R4 · HW 구조를 바꿔 볼 수 있음</a:t>
                      </a:r>
                      <a:endParaRPr lang="en-US" sz="1400" dirty="0">
                        <a:latin typeface="IBM Plex Sans" charset="0"/>
                        <a:ea typeface="IBM Plex Sans" charset="0"/>
                        <a:cs typeface="IBM Plex Sans" charset="0"/>
                      </a:endParaRPr>
                    </a:p>
                  </a:txBody>
                  <a:tcPr marL="127000" marR="127000" marT="76200" marB="76200" anchor="ctr">
                    <a:lnL w="9525" cap="flat" cmpd="sng" algn="ctr">
                      <a:solidFill>
                        <a:srgbClr val="DDD9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D9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D9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D9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6F1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B8791F"/>
                          </a:solidFill>
                          <a:latin typeface="IBM Plex Sans" pitchFamily="34" charset="0"/>
                          <a:ea typeface="IBM Plex Sans" pitchFamily="34" charset="-122"/>
                          <a:cs typeface="IBM Plex Sans" pitchFamily="34" charset="-120"/>
                        </a:rPr>
                        <a:t>✕ RTL 재작성</a:t>
                      </a:r>
                      <a:endParaRPr lang="en-US" sz="1400" dirty="0">
                        <a:latin typeface="IBM Plex Sans" charset="0"/>
                        <a:ea typeface="IBM Plex Sans" charset="0"/>
                        <a:cs typeface="IBM Plex Sans" charset="0"/>
                      </a:endParaRPr>
                    </a:p>
                  </a:txBody>
                  <a:tcPr marL="127000" marR="127000" marT="76200" marB="76200" anchor="ctr">
                    <a:lnL w="9525" cap="flat" cmpd="sng" algn="ctr">
                      <a:solidFill>
                        <a:srgbClr val="DDD9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D9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D9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D9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6F1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B8791F"/>
                          </a:solidFill>
                          <a:latin typeface="IBM Plex Sans" pitchFamily="34" charset="0"/>
                          <a:ea typeface="IBM Plex Sans" pitchFamily="34" charset="-122"/>
                          <a:cs typeface="IBM Plex Sans" pitchFamily="34" charset="-120"/>
                        </a:rPr>
                        <a:t>✕ 재합성 수 시간</a:t>
                      </a:r>
                      <a:endParaRPr lang="en-US" sz="1400" dirty="0">
                        <a:latin typeface="IBM Plex Sans" charset="0"/>
                        <a:ea typeface="IBM Plex Sans" charset="0"/>
                        <a:cs typeface="IBM Plex Sans" charset="0"/>
                      </a:endParaRPr>
                    </a:p>
                  </a:txBody>
                  <a:tcPr marL="127000" marR="127000" marT="76200" marB="76200" anchor="ctr">
                    <a:lnL w="9525" cap="flat" cmpd="sng" algn="ctr">
                      <a:solidFill>
                        <a:srgbClr val="DDD9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D9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D9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D9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6F1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0F1B2D"/>
                          </a:solidFill>
                          <a:latin typeface="IBM Plex Sans" pitchFamily="34" charset="0"/>
                          <a:ea typeface="IBM Plex Sans" pitchFamily="34" charset="-122"/>
                          <a:cs typeface="IBM Plex Sans" pitchFamily="34" charset="-120"/>
                        </a:rPr>
                        <a:t>△</a:t>
                      </a:r>
                      <a:endParaRPr lang="en-US" sz="1400" dirty="0">
                        <a:latin typeface="IBM Plex Sans" charset="0"/>
                        <a:ea typeface="IBM Plex Sans" charset="0"/>
                        <a:cs typeface="IBM Plex Sans" charset="0"/>
                      </a:endParaRPr>
                    </a:p>
                  </a:txBody>
                  <a:tcPr marL="127000" marR="127000" marT="76200" marB="76200" anchor="ctr">
                    <a:lnL w="9525" cap="flat" cmpd="sng" algn="ctr">
                      <a:solidFill>
                        <a:srgbClr val="DDD9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D9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D9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D9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6F1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rgbClr val="1F7F7A"/>
                          </a:solidFill>
                          <a:latin typeface="IBM Plex Sans" pitchFamily="34" charset="0"/>
                          <a:ea typeface="IBM Plex Sans" pitchFamily="34" charset="-122"/>
                          <a:cs typeface="IBM Plex Sans" pitchFamily="34" charset="-120"/>
                        </a:rPr>
                        <a:t>○ config 한 줄</a:t>
                      </a:r>
                      <a:endParaRPr lang="en-US" sz="1400" dirty="0">
                        <a:latin typeface="IBM Plex Sans" charset="0"/>
                        <a:ea typeface="IBM Plex Sans" charset="0"/>
                        <a:cs typeface="IBM Plex Sans" charset="0"/>
                      </a:endParaRPr>
                    </a:p>
                  </a:txBody>
                  <a:tcPr marL="127000" marR="127000" marT="76200" marB="76200" anchor="ctr">
                    <a:lnL w="9525" cap="flat" cmpd="sng" algn="ctr">
                      <a:solidFill>
                        <a:srgbClr val="DDD9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D9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D9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D9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6F1"/>
                    </a:solidFill>
                  </a:tcPr>
                </a:tc>
              </a:tr>
              <a:tr h="47000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0F1B2D"/>
                          </a:solidFill>
                          <a:latin typeface="IBM Plex Sans" pitchFamily="34" charset="0"/>
                          <a:ea typeface="IBM Plex Sans" pitchFamily="34" charset="-122"/>
                          <a:cs typeface="IBM Plex Sans" pitchFamily="34" charset="-120"/>
                        </a:rPr>
                        <a:t>R5 · 반복을 사람 대신 돌릴 수 있음</a:t>
                      </a:r>
                      <a:endParaRPr lang="en-US" sz="1400" dirty="0">
                        <a:latin typeface="IBM Plex Sans" charset="0"/>
                        <a:ea typeface="IBM Plex Sans" charset="0"/>
                        <a:cs typeface="IBM Plex Sans" charset="0"/>
                      </a:endParaRPr>
                    </a:p>
                  </a:txBody>
                  <a:tcPr marL="127000" marR="127000" marT="76200" marB="76200" anchor="ctr">
                    <a:lnL w="9525" cap="flat" cmpd="sng" algn="ctr">
                      <a:solidFill>
                        <a:srgbClr val="DDD9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D9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D9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D9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0F1B2D"/>
                          </a:solidFill>
                          <a:latin typeface="IBM Plex Sans" pitchFamily="34" charset="0"/>
                          <a:ea typeface="IBM Plex Sans" pitchFamily="34" charset="-122"/>
                          <a:cs typeface="IBM Plex Sans" pitchFamily="34" charset="-120"/>
                        </a:rPr>
                        <a:t>–</a:t>
                      </a:r>
                      <a:endParaRPr lang="en-US" sz="1400" dirty="0">
                        <a:latin typeface="IBM Plex Sans" charset="0"/>
                        <a:ea typeface="IBM Plex Sans" charset="0"/>
                        <a:cs typeface="IBM Plex Sans" charset="0"/>
                      </a:endParaRPr>
                    </a:p>
                  </a:txBody>
                  <a:tcPr marL="127000" marR="127000" marT="76200" marB="76200" anchor="ctr">
                    <a:lnL w="9525" cap="flat" cmpd="sng" algn="ctr">
                      <a:solidFill>
                        <a:srgbClr val="DDD9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D9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D9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D9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0F1B2D"/>
                          </a:solidFill>
                          <a:latin typeface="IBM Plex Sans" pitchFamily="34" charset="0"/>
                          <a:ea typeface="IBM Plex Sans" pitchFamily="34" charset="-122"/>
                          <a:cs typeface="IBM Plex Sans" pitchFamily="34" charset="-120"/>
                        </a:rPr>
                        <a:t>–</a:t>
                      </a:r>
                      <a:endParaRPr lang="en-US" sz="1400" dirty="0">
                        <a:latin typeface="IBM Plex Sans" charset="0"/>
                        <a:ea typeface="IBM Plex Sans" charset="0"/>
                        <a:cs typeface="IBM Plex Sans" charset="0"/>
                      </a:endParaRPr>
                    </a:p>
                  </a:txBody>
                  <a:tcPr marL="127000" marR="127000" marT="76200" marB="76200" anchor="ctr">
                    <a:lnL w="9525" cap="flat" cmpd="sng" algn="ctr">
                      <a:solidFill>
                        <a:srgbClr val="DDD9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D9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D9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D9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0F1B2D"/>
                          </a:solidFill>
                          <a:latin typeface="IBM Plex Sans" pitchFamily="34" charset="0"/>
                          <a:ea typeface="IBM Plex Sans" pitchFamily="34" charset="-122"/>
                          <a:cs typeface="IBM Plex Sans" pitchFamily="34" charset="-120"/>
                        </a:rPr>
                        <a:t>–</a:t>
                      </a:r>
                      <a:endParaRPr lang="en-US" sz="1400" dirty="0">
                        <a:latin typeface="IBM Plex Sans" charset="0"/>
                        <a:ea typeface="IBM Plex Sans" charset="0"/>
                        <a:cs typeface="IBM Plex Sans" charset="0"/>
                      </a:endParaRPr>
                    </a:p>
                  </a:txBody>
                  <a:tcPr marL="127000" marR="127000" marT="76200" marB="76200" anchor="ctr">
                    <a:lnL w="9525" cap="flat" cmpd="sng" algn="ctr">
                      <a:solidFill>
                        <a:srgbClr val="DDD9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D9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D9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D9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rgbClr val="1F7F7A"/>
                          </a:solidFill>
                          <a:latin typeface="IBM Plex Sans" pitchFamily="34" charset="0"/>
                          <a:ea typeface="IBM Plex Sans" pitchFamily="34" charset="-122"/>
                          <a:cs typeface="IBM Plex Sans" pitchFamily="34" charset="-120"/>
                        </a:rPr>
                        <a:t>○ AI 루프 + 사람 검토</a:t>
                      </a:r>
                      <a:endParaRPr lang="en-US" sz="1400" dirty="0">
                        <a:latin typeface="IBM Plex Sans" charset="0"/>
                        <a:ea typeface="IBM Plex Sans" charset="0"/>
                        <a:cs typeface="IBM Plex Sans" charset="0"/>
                      </a:endParaRPr>
                    </a:p>
                  </a:txBody>
                  <a:tcPr marL="127000" marR="127000" marT="76200" marB="76200" anchor="ctr">
                    <a:lnL w="9525" cap="flat" cmpd="sng" algn="ctr">
                      <a:solidFill>
                        <a:srgbClr val="DDD9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D9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D9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D9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Text 3"/>
          <p:cNvSpPr txBox="1"/>
          <p:nvPr/>
        </p:nvSpPr>
        <p:spPr>
          <a:xfrm>
            <a:off x="508406" y="5016398"/>
            <a:ext cx="10794492" cy="63459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40000"/>
              </a:lnSpc>
              <a:buNone/>
            </a:pPr>
            <a:r>
              <a:rPr lang="en-US" sz="1500" dirty="0">
                <a:solidFill>
                  <a:srgbClr val="4A556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R1~R4를 한 플랫폼이 동시에 만족해야 R5(자동 최적화 루프)가 가능합니다. 공개 도구 참고: gem5는 Cortex-M 미지원, GVSoC는 RISC-V 전용, Arm Fast Model은 기능 수준(LT).</a:t>
            </a:r>
            <a:endParaRPr lang="en-US" sz="15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737006"/>
          </a:xfrm>
          <a:prstGeom prst="rect">
            <a:avLst/>
          </a:prstGeom>
          <a:solidFill>
            <a:srgbClr val="111111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508406" y="0"/>
            <a:ext cx="11175797" cy="73700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부록 — FPGA · 에뮬레이터 대비 반복 실험 적합성</a:t>
            </a:r>
            <a:endParaRPr lang="en-US" sz="1600" dirty="0"/>
          </a:p>
        </p:txBody>
      </p:sp>
      <p:sp>
        <p:nvSpPr>
          <p:cNvPr id="5" name="Text 2"/>
          <p:cNvSpPr txBox="1"/>
          <p:nvPr/>
        </p:nvSpPr>
        <p:spPr>
          <a:xfrm>
            <a:off x="508406" y="1015898"/>
            <a:ext cx="11175797" cy="82570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2700" b="1" dirty="0">
                <a:solidFill>
                  <a:srgbClr val="0F1B2D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빠르고 정확한 것만으로는 부족합니다 — 안이 보이고, HW를 바로 바꿀 수 있어야 루프가 돕니다</a:t>
            </a:r>
            <a:endParaRPr lang="en-US" sz="2700" dirty="0"/>
          </a:p>
        </p:txBody>
      </p:sp>
      <p:sp>
        <p:nvSpPr>
          <p:cNvPr id="6" name="Shape 3"/>
          <p:cNvSpPr/>
          <p:nvPr/>
        </p:nvSpPr>
        <p:spPr>
          <a:xfrm>
            <a:off x="508406" y="2031797"/>
            <a:ext cx="6730898" cy="3683203"/>
          </a:xfrm>
          <a:prstGeom prst="roundRect">
            <a:avLst>
              <a:gd name="adj" fmla="val 2756"/>
            </a:avLst>
          </a:prstGeom>
          <a:solidFill>
            <a:srgbClr val="F7F6F1"/>
          </a:solidFill>
          <a:ln w="12700">
            <a:solidFill>
              <a:srgbClr val="DDD9CC"/>
            </a:solidFill>
            <a:prstDash val="solid"/>
          </a:ln>
        </p:spPr>
      </p:sp>
      <p:sp>
        <p:nvSpPr>
          <p:cNvPr id="7" name="Shape 4"/>
          <p:cNvSpPr/>
          <p:nvPr/>
        </p:nvSpPr>
        <p:spPr>
          <a:xfrm>
            <a:off x="1270102" y="5079492"/>
            <a:ext cx="5587898" cy="0"/>
          </a:xfrm>
          <a:prstGeom prst="line">
            <a:avLst/>
          </a:prstGeom>
          <a:noFill/>
          <a:ln w="31750">
            <a:solidFill>
              <a:srgbClr val="B8B4A8"/>
            </a:solidFill>
            <a:prstDash val="solid"/>
            <a:tailEnd type="triangle"/>
          </a:ln>
        </p:spPr>
      </p:sp>
      <p:sp>
        <p:nvSpPr>
          <p:cNvPr id="8" name="Shape 5"/>
          <p:cNvSpPr/>
          <p:nvPr/>
        </p:nvSpPr>
        <p:spPr>
          <a:xfrm flipV="1">
            <a:off x="1270102" y="2349094"/>
            <a:ext cx="0" cy="2730398"/>
          </a:xfrm>
          <a:prstGeom prst="line">
            <a:avLst/>
          </a:prstGeom>
          <a:noFill/>
          <a:ln w="31750">
            <a:solidFill>
              <a:srgbClr val="B8B4A8"/>
            </a:solidFill>
            <a:prstDash val="solid"/>
            <a:tailEnd type="triangle"/>
          </a:ln>
        </p:spPr>
      </p:sp>
      <p:sp>
        <p:nvSpPr>
          <p:cNvPr id="9" name="Shape 6"/>
          <p:cNvSpPr/>
          <p:nvPr/>
        </p:nvSpPr>
        <p:spPr>
          <a:xfrm>
            <a:off x="1524305" y="2476195"/>
            <a:ext cx="1397203" cy="1397203"/>
          </a:xfrm>
          <a:prstGeom prst="ellipse">
            <a:avLst/>
          </a:prstGeom>
          <a:solidFill>
            <a:srgbClr val="E8A33D"/>
          </a:solidFill>
          <a:ln/>
        </p:spPr>
      </p:sp>
      <p:sp>
        <p:nvSpPr>
          <p:cNvPr id="10" name="Text 7"/>
          <p:cNvSpPr txBox="1"/>
          <p:nvPr/>
        </p:nvSpPr>
        <p:spPr>
          <a:xfrm>
            <a:off x="1524305" y="2476195"/>
            <a:ext cx="1397203" cy="139720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0F1B2D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TLM</a:t>
            </a:r>
            <a:endParaRPr lang="en-US" sz="2000" dirty="0"/>
          </a:p>
        </p:txBody>
      </p:sp>
      <p:sp>
        <p:nvSpPr>
          <p:cNvPr id="11" name="Shape 8"/>
          <p:cNvSpPr/>
          <p:nvPr/>
        </p:nvSpPr>
        <p:spPr>
          <a:xfrm>
            <a:off x="4826203" y="2603297"/>
            <a:ext cx="1206094" cy="1206094"/>
          </a:xfrm>
          <a:prstGeom prst="ellipse">
            <a:avLst/>
          </a:prstGeom>
          <a:solidFill>
            <a:srgbClr val="0F1B2D"/>
          </a:solidFill>
          <a:ln/>
        </p:spPr>
      </p:sp>
      <p:sp>
        <p:nvSpPr>
          <p:cNvPr id="12" name="Text 9"/>
          <p:cNvSpPr txBox="1"/>
          <p:nvPr/>
        </p:nvSpPr>
        <p:spPr>
          <a:xfrm>
            <a:off x="4826203" y="2603297"/>
            <a:ext cx="1206094" cy="120609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RTL</a:t>
            </a:r>
            <a:endParaRPr lang="en-US" sz="1600" dirty="0"/>
          </a:p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시뮬</a:t>
            </a:r>
            <a:endParaRPr lang="en-US" sz="1600" dirty="0"/>
          </a:p>
        </p:txBody>
      </p:sp>
      <p:sp>
        <p:nvSpPr>
          <p:cNvPr id="13" name="Shape 10"/>
          <p:cNvSpPr/>
          <p:nvPr/>
        </p:nvSpPr>
        <p:spPr>
          <a:xfrm>
            <a:off x="5206594" y="3873398"/>
            <a:ext cx="1206094" cy="1206094"/>
          </a:xfrm>
          <a:prstGeom prst="ellipse">
            <a:avLst/>
          </a:prstGeom>
          <a:solidFill>
            <a:srgbClr val="0F1B2D"/>
          </a:solidFill>
          <a:ln/>
        </p:spPr>
      </p:sp>
      <p:sp>
        <p:nvSpPr>
          <p:cNvPr id="14" name="Text 11"/>
          <p:cNvSpPr txBox="1"/>
          <p:nvPr/>
        </p:nvSpPr>
        <p:spPr>
          <a:xfrm>
            <a:off x="5206594" y="3873398"/>
            <a:ext cx="1206094" cy="120609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FPGA</a:t>
            </a:r>
            <a:endParaRPr lang="en-US" sz="1500" dirty="0"/>
          </a:p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에뮬레이터</a:t>
            </a:r>
            <a:endParaRPr lang="en-US" sz="1500" dirty="0"/>
          </a:p>
        </p:txBody>
      </p:sp>
      <p:sp>
        <p:nvSpPr>
          <p:cNvPr id="15" name="Text 12"/>
          <p:cNvSpPr txBox="1"/>
          <p:nvPr/>
        </p:nvSpPr>
        <p:spPr>
          <a:xfrm>
            <a:off x="1270102" y="3949294"/>
            <a:ext cx="1904695" cy="38130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50" dirty="0">
                <a:solidFill>
                  <a:srgbClr val="4A556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모든 이벤트 관측 ·</a:t>
            </a:r>
            <a:endParaRPr lang="en-US" sz="1150" dirty="0"/>
          </a:p>
          <a:p>
            <a:pPr algn="ctr" indent="0" marL="0">
              <a:buNone/>
            </a:pPr>
            <a:r>
              <a:rPr lang="en-US" sz="1150" dirty="0">
                <a:solidFill>
                  <a:srgbClr val="4A556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HW 변경 = config 한 줄</a:t>
            </a:r>
            <a:endParaRPr lang="en-US" sz="1150" dirty="0"/>
          </a:p>
        </p:txBody>
      </p:sp>
      <p:sp>
        <p:nvSpPr>
          <p:cNvPr id="16" name="Text 13"/>
          <p:cNvSpPr txBox="1"/>
          <p:nvPr/>
        </p:nvSpPr>
        <p:spPr>
          <a:xfrm>
            <a:off x="4190695" y="2361895"/>
            <a:ext cx="2540203" cy="19019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50" dirty="0">
                <a:solidFill>
                  <a:srgbClr val="4A556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파형 전부 · 그러나 느림 · RTL 수정</a:t>
            </a:r>
            <a:endParaRPr lang="en-US" sz="1150" dirty="0"/>
          </a:p>
        </p:txBody>
      </p:sp>
      <p:sp>
        <p:nvSpPr>
          <p:cNvPr id="17" name="Text 14"/>
          <p:cNvSpPr txBox="1"/>
          <p:nvPr/>
        </p:nvSpPr>
        <p:spPr>
          <a:xfrm>
            <a:off x="4572000" y="5169103"/>
            <a:ext cx="2286000" cy="19019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50" dirty="0">
                <a:solidFill>
                  <a:srgbClr val="4A556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프로브 신호만 · 재합성 · 장비 공유</a:t>
            </a:r>
            <a:endParaRPr lang="en-US" sz="1150" dirty="0"/>
          </a:p>
        </p:txBody>
      </p:sp>
      <p:sp>
        <p:nvSpPr>
          <p:cNvPr id="18" name="Text 15"/>
          <p:cNvSpPr txBox="1"/>
          <p:nvPr/>
        </p:nvSpPr>
        <p:spPr>
          <a:xfrm>
            <a:off x="3174797" y="4572000"/>
            <a:ext cx="1524305" cy="38130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50" dirty="0">
                <a:solidFill>
                  <a:srgbClr val="6B7280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C-model:</a:t>
            </a:r>
            <a:endParaRPr lang="en-US" sz="1150" dirty="0"/>
          </a:p>
          <a:p>
            <a:pPr algn="ctr" indent="0" marL="0">
              <a:buNone/>
            </a:pPr>
            <a:r>
              <a:rPr lang="en-US" sz="1150" dirty="0">
                <a:solidFill>
                  <a:srgbClr val="6B7280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HW가 없어 축 밖</a:t>
            </a:r>
            <a:endParaRPr lang="en-US" sz="1150" dirty="0"/>
          </a:p>
        </p:txBody>
      </p:sp>
      <p:sp>
        <p:nvSpPr>
          <p:cNvPr id="19" name="Text 16"/>
          <p:cNvSpPr txBox="1"/>
          <p:nvPr/>
        </p:nvSpPr>
        <p:spPr>
          <a:xfrm>
            <a:off x="1397203" y="5460797"/>
            <a:ext cx="1904695" cy="19019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50" dirty="0">
                <a:solidFill>
                  <a:srgbClr val="6B7280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초 (config)</a:t>
            </a:r>
            <a:endParaRPr lang="en-US" sz="1150" dirty="0"/>
          </a:p>
        </p:txBody>
      </p:sp>
      <p:sp>
        <p:nvSpPr>
          <p:cNvPr id="20" name="Text 17"/>
          <p:cNvSpPr txBox="1"/>
          <p:nvPr/>
        </p:nvSpPr>
        <p:spPr>
          <a:xfrm>
            <a:off x="4063594" y="5460797"/>
            <a:ext cx="2793492" cy="19019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150" dirty="0">
                <a:solidFill>
                  <a:srgbClr val="6B7280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HW 구조 한 번 바꾸는 시간 → 시간~일</a:t>
            </a:r>
            <a:endParaRPr lang="en-US" sz="1150" dirty="0"/>
          </a:p>
        </p:txBody>
      </p:sp>
      <p:sp>
        <p:nvSpPr>
          <p:cNvPr id="21" name="Text 18"/>
          <p:cNvSpPr txBox="1"/>
          <p:nvPr/>
        </p:nvSpPr>
        <p:spPr>
          <a:xfrm>
            <a:off x="597103" y="2286000"/>
            <a:ext cx="634594" cy="38130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150" dirty="0">
                <a:solidFill>
                  <a:srgbClr val="6B7280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내부</a:t>
            </a:r>
            <a:endParaRPr lang="en-US" sz="1150" dirty="0"/>
          </a:p>
          <a:p>
            <a:pPr algn="r" indent="0" marL="0">
              <a:buNone/>
            </a:pPr>
            <a:r>
              <a:rPr lang="en-US" sz="1150" dirty="0">
                <a:solidFill>
                  <a:srgbClr val="6B7280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관측 ↑</a:t>
            </a:r>
            <a:endParaRPr lang="en-US" sz="1150" dirty="0"/>
          </a:p>
        </p:txBody>
      </p:sp>
      <p:sp>
        <p:nvSpPr>
          <p:cNvPr id="22" name="Text 19"/>
          <p:cNvSpPr txBox="1"/>
          <p:nvPr/>
        </p:nvSpPr>
        <p:spPr>
          <a:xfrm>
            <a:off x="597103" y="4826203"/>
            <a:ext cx="634594" cy="19019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150" dirty="0">
                <a:solidFill>
                  <a:srgbClr val="6B7280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낮음</a:t>
            </a:r>
            <a:endParaRPr lang="en-US" sz="1150" dirty="0"/>
          </a:p>
        </p:txBody>
      </p:sp>
      <p:sp>
        <p:nvSpPr>
          <p:cNvPr id="23" name="Shape 20"/>
          <p:cNvSpPr/>
          <p:nvPr/>
        </p:nvSpPr>
        <p:spPr>
          <a:xfrm>
            <a:off x="7556602" y="2095805"/>
            <a:ext cx="51206" cy="761695"/>
          </a:xfrm>
          <a:prstGeom prst="rect">
            <a:avLst/>
          </a:prstGeom>
          <a:solidFill>
            <a:srgbClr val="0F1B2D"/>
          </a:solidFill>
          <a:ln/>
        </p:spPr>
      </p:sp>
      <p:sp>
        <p:nvSpPr>
          <p:cNvPr id="24" name="Text 21"/>
          <p:cNvSpPr txBox="1"/>
          <p:nvPr/>
        </p:nvSpPr>
        <p:spPr>
          <a:xfrm>
            <a:off x="7785202" y="2095805"/>
            <a:ext cx="3899002" cy="26700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0F1B2D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관측성</a:t>
            </a:r>
            <a:endParaRPr lang="en-US" sz="1600" dirty="0"/>
          </a:p>
        </p:txBody>
      </p:sp>
      <p:sp>
        <p:nvSpPr>
          <p:cNvPr id="25" name="Text 22"/>
          <p:cNvSpPr txBox="1"/>
          <p:nvPr/>
        </p:nvSpPr>
        <p:spPr>
          <a:xfrm>
            <a:off x="7785202" y="2387498"/>
            <a:ext cx="3899002" cy="50840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5000"/>
              </a:lnSpc>
              <a:buNone/>
            </a:pPr>
            <a:r>
              <a:rPr lang="en-US" sz="1250" dirty="0">
                <a:solidFill>
                  <a:srgbClr val="4A556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함수별 cycle, 버스 경합, 스톨 원인을 주지 않음. 파형을 뽑으려면 프로브·트레이스 IP·용량 제약</a:t>
            </a:r>
            <a:endParaRPr lang="en-US" sz="1250" dirty="0"/>
          </a:p>
        </p:txBody>
      </p:sp>
      <p:sp>
        <p:nvSpPr>
          <p:cNvPr id="26" name="Shape 23"/>
          <p:cNvSpPr/>
          <p:nvPr/>
        </p:nvSpPr>
        <p:spPr>
          <a:xfrm>
            <a:off x="7556602" y="3047695"/>
            <a:ext cx="51206" cy="761695"/>
          </a:xfrm>
          <a:prstGeom prst="rect">
            <a:avLst/>
          </a:prstGeom>
          <a:solidFill>
            <a:srgbClr val="0F1B2D"/>
          </a:solidFill>
          <a:ln/>
        </p:spPr>
      </p:sp>
      <p:sp>
        <p:nvSpPr>
          <p:cNvPr id="27" name="Text 24"/>
          <p:cNvSpPr txBox="1"/>
          <p:nvPr/>
        </p:nvSpPr>
        <p:spPr>
          <a:xfrm>
            <a:off x="7785202" y="3047695"/>
            <a:ext cx="3899002" cy="26700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0F1B2D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HW 변경 비용</a:t>
            </a:r>
            <a:endParaRPr lang="en-US" sz="1600" dirty="0"/>
          </a:p>
        </p:txBody>
      </p:sp>
      <p:sp>
        <p:nvSpPr>
          <p:cNvPr id="28" name="Text 25"/>
          <p:cNvSpPr txBox="1"/>
          <p:nvPr/>
        </p:nvSpPr>
        <p:spPr>
          <a:xfrm>
            <a:off x="7785202" y="3340303"/>
            <a:ext cx="3899002" cy="50840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5000"/>
              </a:lnSpc>
              <a:buNone/>
            </a:pPr>
            <a:r>
              <a:rPr lang="en-US" sz="1250" dirty="0">
                <a:solidFill>
                  <a:srgbClr val="4A556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RTL이 있어야 하고, 구조를 바꾸면 재합성 수 시간. 하루 수백 회 루프에 들어갈 수 없음</a:t>
            </a:r>
            <a:endParaRPr lang="en-US" sz="1250" dirty="0"/>
          </a:p>
        </p:txBody>
      </p:sp>
      <p:sp>
        <p:nvSpPr>
          <p:cNvPr id="29" name="Shape 26"/>
          <p:cNvSpPr/>
          <p:nvPr/>
        </p:nvSpPr>
        <p:spPr>
          <a:xfrm>
            <a:off x="7556602" y="4000500"/>
            <a:ext cx="51206" cy="761695"/>
          </a:xfrm>
          <a:prstGeom prst="rect">
            <a:avLst/>
          </a:prstGeom>
          <a:solidFill>
            <a:srgbClr val="0F1B2D"/>
          </a:solidFill>
          <a:ln/>
        </p:spPr>
      </p:sp>
      <p:sp>
        <p:nvSpPr>
          <p:cNvPr id="30" name="Text 27"/>
          <p:cNvSpPr txBox="1"/>
          <p:nvPr/>
        </p:nvSpPr>
        <p:spPr>
          <a:xfrm>
            <a:off x="7785202" y="4000500"/>
            <a:ext cx="3899002" cy="26700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0F1B2D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가용 시점 · 비용</a:t>
            </a:r>
            <a:endParaRPr lang="en-US" sz="1600" dirty="0"/>
          </a:p>
        </p:txBody>
      </p:sp>
      <p:sp>
        <p:nvSpPr>
          <p:cNvPr id="31" name="Text 28"/>
          <p:cNvSpPr txBox="1"/>
          <p:nvPr/>
        </p:nvSpPr>
        <p:spPr>
          <a:xfrm>
            <a:off x="7785202" y="4292194"/>
            <a:ext cx="3899002" cy="50840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5000"/>
              </a:lnSpc>
              <a:buNone/>
            </a:pPr>
            <a:r>
              <a:rPr lang="en-US" sz="1250" dirty="0">
                <a:solidFill>
                  <a:srgbClr val="4A556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RTL이 어느 정도 완성된 뒤에야 가능. 장비가 비싸 여러 실험을 동시에 돌리기 어려움</a:t>
            </a:r>
            <a:endParaRPr lang="en-US" sz="1250" dirty="0"/>
          </a:p>
        </p:txBody>
      </p:sp>
      <p:sp>
        <p:nvSpPr>
          <p:cNvPr id="32" name="Shape 29"/>
          <p:cNvSpPr/>
          <p:nvPr/>
        </p:nvSpPr>
        <p:spPr>
          <a:xfrm>
            <a:off x="7556602" y="5016398"/>
            <a:ext cx="4127602" cy="698602"/>
          </a:xfrm>
          <a:prstGeom prst="roundRect">
            <a:avLst>
              <a:gd name="adj" fmla="val 10864"/>
            </a:avLst>
          </a:prstGeom>
          <a:solidFill>
            <a:srgbClr val="0F1B2D"/>
          </a:solidFill>
          <a:ln/>
        </p:spPr>
      </p:sp>
      <p:sp>
        <p:nvSpPr>
          <p:cNvPr id="33" name="Text 30"/>
          <p:cNvSpPr txBox="1"/>
          <p:nvPr/>
        </p:nvSpPr>
        <p:spPr>
          <a:xfrm>
            <a:off x="7721194" y="5016398"/>
            <a:ext cx="3810305" cy="6986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250" dirty="0">
                <a:solidFill>
                  <a:srgbClr val="F5F4EE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그래서 경쟁이 아니라 연동: 이들의 파형을 </a:t>
            </a:r>
            <a:pPr algn="l" indent="0" marL="0">
              <a:lnSpc>
                <a:spcPct val="130000"/>
              </a:lnSpc>
              <a:buNone/>
            </a:pPr>
            <a:r>
              <a:rPr lang="en-US" sz="1250" b="1" dirty="0">
                <a:solidFill>
                  <a:srgbClr val="F5F4EE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WaveScope</a:t>
            </a:r>
            <a:pPr algn="l" indent="0" marL="0">
              <a:lnSpc>
                <a:spcPct val="130000"/>
              </a:lnSpc>
              <a:buNone/>
            </a:pPr>
            <a:r>
              <a:rPr lang="en-US" sz="1250" dirty="0">
                <a:solidFill>
                  <a:srgbClr val="F5F4EE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로 가져와 TLM 결과를 검증</a:t>
            </a:r>
            <a:endParaRPr lang="en-US" sz="12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12</Slides>
  <Notes>12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15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2026-09-29T08:52:21Z</dcterms:created>
  <dcterms:modified xsi:type="dcterms:W3CDTF">2026-09-29T08:52:21Z</dcterms:modified>
</cp:coreProperties>
</file>