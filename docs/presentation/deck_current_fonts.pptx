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템플릿의 표지 레이아웃이 따로 있으면 그쪽을 따르고, 이 장은 제목·부제·배지 문구만 옮긴다.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40초. '실리콘 전에 개발'은 새로운 얘기가 아니라는 것을 먼저 인정하고 시작한다 (심사위원 다수가 FPGA·에뮬레이터·벤더 도구를 안다). 포인트는 '못 본다'가 아니라 '한 번 보고 한 번 바꿔 보는 반복이 시간 단위'라는 것. 세 번째 줄에서 기존 도구가 사라지지 않고 검증 역할로 남는 것을 손으로 짚는다 — 8장 WaveScope가 이 약속을 받는다.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30초. 앞 장의 '초 단위 반복'을 받아 '그러려면 시뮬레이터가 필요한데'로 시작. FPGA·에뮬레이터는 앞 장에서 정리했으므로 여기서는 시뮬레이터끼리만 비교한다고 한 마디. 그림의 빈 가운데를 가리키며 '여기가 비어 있었고 TLM이 채운다'.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50초. 왼쪽 그림: 위는 RTL(클럭마다 신호 다 계산), 아래는 TLM(CPU→SRAM 화살표에 +7 cycle 뱃지). 오른쪽 네 줄이 곧 요구사항.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40초. 세 숫자만 말한다. 아래는 '메모리·버스는 기존 자산, 코어·DMA·Timer·MAC·PoC 주변장치는 이번 과제에서 모델링'을 한 문장으로. gem5/Fast Model 질문: gem5는 Cortex-M 미지원, Fast Model은 LT라 cycle 분석 불가.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60초. 이 장이 과제의 정의. 점선 되돌이 화살표를 가리키며 '실리콘 없이 HW와 SW를 같이 돌리는 루프'. 아래 두 줄이 신뢰 장치.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30초. '시뮬레이터가 callgrind 하나를 내고, AI는 API로, 사람은 GUI로 같은 파일을 본다.' 왼쪽에 30초 무음 자동재생 영상(반복) 권장.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45초. 이번 과제에서 새로 만든 것. 2장에서 '여기서 찾은 답은 기존 도구로 검증한다'고 했으므로 방어가 아니라 '그 검증을 같은 형식으로 하게 만들었다'로 시작. '왼쪽 네 곳 어디서 나온 파형이든 오른쪽 같은 표가 된다'.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50초. 출처 질문: 모델 Arm ML-zoo DS-CNN Small(Hello Edge 논문 구조), 커널 CMSIS-NN 7.0, 전처리 CMSIS-DSP 1.16, 데이터 Google Speech Commands v2. 우리가 만든 것은 HAL·배치 knob·MAC 오프로드 커널·골든 검증·AI 루프. 왼쪽: Base(검정)에 예산 280부터 TCM(청록 점선), 470부터 MAC(주황 점선)이 더해진다. 주황 점이 AI가 고르는 HW knob. 오른쪽: '소리가 들어와서 yes라는 답이 나오는 데 몇 cycle 걸리나'가 측정값. 아래 세 칸이 일부러 심은 상충 관계. 면적 예산 3단계(≤170/≤280/≤470), SW 소스 동일.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60초. 왼쪽 그림: 회색 점(초기)→주황 점(루프 결과) 화살표 옆 숫자를 읽는다. 오른쪽 위 표 = 성능, 아래 표 = 면적, 같은 세 구조. 아래 검은 박스: 'AI 반복 + 개발자 검토'가 루프 1회이고 4회로 수렴. 오른쪽 두 타일: 실행 1회가 RTL 시뮬 약 60분·에뮬레이터 약 10분 → 1분 이내 — 11장 정량 효과의 근거. 면적 단위 질문이 오면 그래프 아래 각주: SRAM 1 KB = 1인 상대 단위. 신뢰성 질문: 모든 실험이 bit-exact와 ISR 제약을 통과했고 아닌 것은 자동 폐기.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30초. 정량 칸 첫 두 줄이 10장 아래 박스·타일의 파생. 나머지 대괄호는 PoC 실측. '다음' 띠는 한 문장으로 읽고 감사 인사.
제목 후보:
1. 실리콘보다 먼저 — Cycle-level 가상 플랫폼과 파형 기반 프로파일러 위에서 AI가 도는 HW-SW Co-Optimization
2. 파형에서 최적화까지 — 실리콘을 기다리지 않는 HW·SW 공동 최적화 루프
3. 돌리고, 읽고, 고친다 — Pre-Silicon 성능 분석 툴체인과 AI Co-Optimization
4. Shift-Left, Close the Loop — 실리콘 없이 완성하는 HW-SW 최적화
5. 실리콘 없이 답하는 세 가지 질문: 얼마나 느린가, 왜 느린가, 어떻게 고치는가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Q&amp;A 대비용. '왜 기존 도구로 안 되나', '왜 gem5 안 썼나'가 오면 이 장을 띄운다.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Q&amp;A용. 'FPGA나 에뮬레이터 쓰면 되지 않나': 빠르고 정확하고 안을 볼 수도 있지만, 관찰 지점을 바꾸거나 HW 구조를 바꾸면 재합성이라 한 바퀴가 시간 단위입니다. 하루 수백 번 도는 루프에는 맞지 않고, 대체가 아니라 앞단 옵션입니다. 그 파형은 WaveScope로 가져와 검증에 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700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8406" y="0"/>
            <a:ext cx="11175797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[System Expert 현업과제 발표] · [조직] · [발표 일자]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508406" y="1270102"/>
            <a:ext cx="7619695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spc="400" kern="0" dirty="0">
                <a:solidFill>
                  <a:srgbClr val="B8791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PRE-SILICON · MODEL · PROFILE · OPTIMIZE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08406" y="1651406"/>
            <a:ext cx="10159898" cy="952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실리콘보다 먼저</a:t>
            </a:r>
            <a:endParaRPr lang="en-US" sz="6000" dirty="0"/>
          </a:p>
        </p:txBody>
      </p:sp>
      <p:sp>
        <p:nvSpPr>
          <p:cNvPr id="6" name="Text 4"/>
          <p:cNvSpPr txBox="1"/>
          <p:nvPr/>
        </p:nvSpPr>
        <p:spPr>
          <a:xfrm>
            <a:off x="508406" y="2730398"/>
            <a:ext cx="10414102" cy="952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6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실리콘이 나오기 전에, HW 구조와 SW를 AI가 함께 최적화하는</a:t>
            </a:r>
            <a:endParaRPr lang="en-US" sz="26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6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Cycle-level 가상 플랫폼 루프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508406" y="5715000"/>
            <a:ext cx="5715000" cy="2798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[발표자 이름] · [소속]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08406" y="6032297"/>
            <a:ext cx="5715000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[행사명]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492594" y="5905195"/>
            <a:ext cx="1206094" cy="355702"/>
          </a:xfrm>
          <a:prstGeom prst="roundRect">
            <a:avLst>
              <a:gd name="adj" fmla="val 49871"/>
            </a:avLst>
          </a:prstGeom>
          <a:solidFill>
            <a:srgbClr val="E8A33D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492594" y="5905195"/>
            <a:ext cx="1206094" cy="3557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1B2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CM4 TLM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801100" y="5905195"/>
            <a:ext cx="1904695" cy="355702"/>
          </a:xfrm>
          <a:prstGeom prst="roundRect">
            <a:avLst>
              <a:gd name="adj" fmla="val 49871"/>
            </a:avLst>
          </a:prstGeom>
          <a:solidFill>
            <a:srgbClr val="2FA6A0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801100" y="5905195"/>
            <a:ext cx="1904695" cy="3557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1B2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Performance Profiler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10807294" y="5905195"/>
            <a:ext cx="875995" cy="355702"/>
          </a:xfrm>
          <a:prstGeom prst="roundRect">
            <a:avLst>
              <a:gd name="adj" fmla="val 49871"/>
            </a:avLst>
          </a:prstGeom>
          <a:solidFill>
            <a:srgbClr val="0F1B2D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0807294" y="5905195"/>
            <a:ext cx="875995" cy="3557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AI Co-Opt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700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8406" y="0"/>
            <a:ext cx="11175797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1. 과제 배경 — 개발은 이미 실리콘 앞에 와 있다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08406" y="952805"/>
            <a:ext cx="11175797" cy="8887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8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실리콘 전에 개발하는 것은 이미 당연합니다.</a:t>
            </a:r>
            <a:endParaRPr lang="en-US" sz="28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28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이제는 실리콘 전에 </a:t>
            </a:r>
            <a:pPr algn="l" indent="0" marL="0">
              <a:lnSpc>
                <a:spcPct val="110000"/>
              </a:lnSpc>
              <a:buNone/>
            </a:pPr>
            <a:r>
              <a:rPr lang="en-US" sz="2800" b="1" dirty="0">
                <a:solidFill>
                  <a:srgbClr val="B8791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최적화까지</a:t>
            </a:r>
            <a:pPr algn="l" indent="0" marL="0">
              <a:lnSpc>
                <a:spcPct val="110000"/>
              </a:lnSpc>
              <a:buNone/>
            </a:pPr>
            <a:r>
              <a:rPr lang="en-US" sz="28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— 더 빨리, 더 좋은 제품으로</a:t>
            </a:r>
            <a:endParaRPr lang="en-US" sz="2800" dirty="0"/>
          </a:p>
        </p:txBody>
      </p:sp>
      <p:sp>
        <p:nvSpPr>
          <p:cNvPr id="6" name="Shape 3"/>
          <p:cNvSpPr/>
          <p:nvPr/>
        </p:nvSpPr>
        <p:spPr>
          <a:xfrm>
            <a:off x="508406" y="1904695"/>
            <a:ext cx="11175797" cy="3301898"/>
          </a:xfrm>
          <a:prstGeom prst="roundRect">
            <a:avLst>
              <a:gd name="adj" fmla="val 3074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2031797" y="2895905"/>
            <a:ext cx="9398203" cy="0"/>
          </a:xfrm>
          <a:prstGeom prst="line">
            <a:avLst/>
          </a:prstGeom>
          <a:noFill/>
          <a:ln w="19050">
            <a:solidFill>
              <a:srgbClr val="DFE4EB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2031797" y="3847795"/>
            <a:ext cx="9398203" cy="0"/>
          </a:xfrm>
          <a:prstGeom prst="line">
            <a:avLst/>
          </a:prstGeom>
          <a:noFill/>
          <a:ln w="19050">
            <a:solidFill>
              <a:srgbClr val="DFE4EB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5206594" y="2158898"/>
            <a:ext cx="0" cy="2730398"/>
          </a:xfrm>
          <a:prstGeom prst="line">
            <a:avLst/>
          </a:prstGeom>
          <a:noFill/>
          <a:ln w="19050">
            <a:solidFill>
              <a:srgbClr val="B8791F"/>
            </a:solidFill>
            <a:prstDash val="dash"/>
          </a:ln>
        </p:spPr>
      </p:sp>
      <p:sp>
        <p:nvSpPr>
          <p:cNvPr id="10" name="Text 7"/>
          <p:cNvSpPr txBox="1"/>
          <p:nvPr/>
        </p:nvSpPr>
        <p:spPr>
          <a:xfrm>
            <a:off x="5296205" y="2018995"/>
            <a:ext cx="1270102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B8791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실리콘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8762695" y="2006194"/>
            <a:ext cx="2730398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spc="200" kern="0" dirty="0">
                <a:solidFill>
                  <a:srgbClr val="B8791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TAT ↓ · AI로 개발 속도 ↑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761695" y="2324405"/>
            <a:ext cx="1143000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과거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2031797" y="2324405"/>
            <a:ext cx="2920594" cy="330098"/>
          </a:xfrm>
          <a:prstGeom prst="roundRect">
            <a:avLst>
              <a:gd name="adj" fmla="val 15512"/>
            </a:avLst>
          </a:prstGeom>
          <a:solidFill>
            <a:srgbClr val="0F1B2D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2031797" y="2324405"/>
            <a:ext cx="2920594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HW 설계</a:t>
            </a:r>
            <a:endParaRPr lang="en-US" sz="1250" dirty="0"/>
          </a:p>
        </p:txBody>
      </p:sp>
      <p:sp>
        <p:nvSpPr>
          <p:cNvPr id="15" name="Text 12"/>
          <p:cNvSpPr txBox="1"/>
          <p:nvPr/>
        </p:nvSpPr>
        <p:spPr>
          <a:xfrm>
            <a:off x="761695" y="3149194"/>
            <a:ext cx="1143000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현재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2031797" y="3149194"/>
            <a:ext cx="2920594" cy="330098"/>
          </a:xfrm>
          <a:prstGeom prst="roundRect">
            <a:avLst>
              <a:gd name="adj" fmla="val 15512"/>
            </a:avLst>
          </a:prstGeom>
          <a:solidFill>
            <a:srgbClr val="0F1B2D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2031797" y="3149194"/>
            <a:ext cx="2920594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HW 설계</a:t>
            </a:r>
            <a:endParaRPr lang="en-US" sz="1250" dirty="0"/>
          </a:p>
        </p:txBody>
      </p:sp>
      <p:sp>
        <p:nvSpPr>
          <p:cNvPr id="18" name="Text 15"/>
          <p:cNvSpPr txBox="1"/>
          <p:nvPr/>
        </p:nvSpPr>
        <p:spPr>
          <a:xfrm>
            <a:off x="761695" y="4101998"/>
            <a:ext cx="1143000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B8791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이 과제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2031797" y="4101998"/>
            <a:ext cx="2920594" cy="330098"/>
          </a:xfrm>
          <a:prstGeom prst="roundRect">
            <a:avLst>
              <a:gd name="adj" fmla="val 15512"/>
            </a:avLst>
          </a:prstGeom>
          <a:solidFill>
            <a:srgbClr val="0F1B2D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2031797" y="4101998"/>
            <a:ext cx="2920594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HW 설계</a:t>
            </a:r>
            <a:endParaRPr lang="en-US" sz="1250" dirty="0"/>
          </a:p>
        </p:txBody>
      </p:sp>
      <p:sp>
        <p:nvSpPr>
          <p:cNvPr id="21" name="Shape 18"/>
          <p:cNvSpPr/>
          <p:nvPr/>
        </p:nvSpPr>
        <p:spPr>
          <a:xfrm>
            <a:off x="5333695" y="2324405"/>
            <a:ext cx="2031797" cy="330098"/>
          </a:xfrm>
          <a:prstGeom prst="roundRect">
            <a:avLst>
              <a:gd name="adj" fmla="val 15512"/>
            </a:avLst>
          </a:prstGeom>
          <a:solidFill>
            <a:srgbClr val="B3B9C4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5333695" y="2324405"/>
            <a:ext cx="2031797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SW 개발</a:t>
            </a:r>
            <a:endParaRPr lang="en-US" sz="1250" dirty="0"/>
          </a:p>
        </p:txBody>
      </p:sp>
      <p:sp>
        <p:nvSpPr>
          <p:cNvPr id="23" name="Shape 20"/>
          <p:cNvSpPr/>
          <p:nvPr/>
        </p:nvSpPr>
        <p:spPr>
          <a:xfrm>
            <a:off x="7492594" y="2324405"/>
            <a:ext cx="1651406" cy="330098"/>
          </a:xfrm>
          <a:prstGeom prst="roundRect">
            <a:avLst>
              <a:gd name="adj" fmla="val 15512"/>
            </a:avLst>
          </a:prstGeom>
          <a:solidFill>
            <a:srgbClr val="B3B9C4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7492594" y="2324405"/>
            <a:ext cx="1651406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최적화 (SW만)</a:t>
            </a:r>
            <a:endParaRPr lang="en-US" sz="1250" dirty="0"/>
          </a:p>
        </p:txBody>
      </p:sp>
      <p:sp>
        <p:nvSpPr>
          <p:cNvPr id="25" name="Shape 22"/>
          <p:cNvSpPr/>
          <p:nvPr/>
        </p:nvSpPr>
        <p:spPr>
          <a:xfrm>
            <a:off x="9283903" y="2324405"/>
            <a:ext cx="0" cy="330098"/>
          </a:xfrm>
          <a:prstGeom prst="line">
            <a:avLst/>
          </a:prstGeom>
          <a:noFill/>
          <a:ln w="38100">
            <a:solidFill>
              <a:srgbClr val="B8791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9346997" y="2311603"/>
            <a:ext cx="952805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B8791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완성</a:t>
            </a:r>
            <a:endParaRPr lang="en-US" sz="11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SW만 최적</a:t>
            </a:r>
            <a:endParaRPr lang="en-US" sz="1100" dirty="0"/>
          </a:p>
        </p:txBody>
      </p:sp>
      <p:sp>
        <p:nvSpPr>
          <p:cNvPr id="27" name="Text 24"/>
          <p:cNvSpPr txBox="1"/>
          <p:nvPr/>
        </p:nvSpPr>
        <p:spPr>
          <a:xfrm>
            <a:off x="10159898" y="2311603"/>
            <a:ext cx="1397203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SW는 실리콘 뒤에</a:t>
            </a:r>
            <a:endParaRPr lang="en-US" sz="115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HW는 이미 고정</a:t>
            </a:r>
            <a:endParaRPr lang="en-US" sz="1150" dirty="0"/>
          </a:p>
        </p:txBody>
      </p:sp>
      <p:sp>
        <p:nvSpPr>
          <p:cNvPr id="28" name="Shape 25"/>
          <p:cNvSpPr/>
          <p:nvPr/>
        </p:nvSpPr>
        <p:spPr>
          <a:xfrm>
            <a:off x="3238805" y="3517697"/>
            <a:ext cx="1714500" cy="267005"/>
          </a:xfrm>
          <a:prstGeom prst="roundRect">
            <a:avLst>
              <a:gd name="adj" fmla="val 19178"/>
            </a:avLst>
          </a:prstGeom>
          <a:solidFill>
            <a:srgbClr val="6B7280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3238805" y="3517697"/>
            <a:ext cx="171450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SW 개발 · FPGA/에뮬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5333695" y="3149194"/>
            <a:ext cx="1651406" cy="330098"/>
          </a:xfrm>
          <a:prstGeom prst="roundRect">
            <a:avLst>
              <a:gd name="adj" fmla="val 15512"/>
            </a:avLst>
          </a:prstGeom>
          <a:solidFill>
            <a:srgbClr val="B3B9C4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5333695" y="3149194"/>
            <a:ext cx="1651406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최적화 (SW만)</a:t>
            </a:r>
            <a:endParaRPr lang="en-US" sz="1250" dirty="0"/>
          </a:p>
        </p:txBody>
      </p:sp>
      <p:sp>
        <p:nvSpPr>
          <p:cNvPr id="32" name="Shape 29"/>
          <p:cNvSpPr/>
          <p:nvPr/>
        </p:nvSpPr>
        <p:spPr>
          <a:xfrm>
            <a:off x="7124090" y="3149194"/>
            <a:ext cx="0" cy="330098"/>
          </a:xfrm>
          <a:prstGeom prst="line">
            <a:avLst/>
          </a:prstGeom>
          <a:noFill/>
          <a:ln w="38100">
            <a:solidFill>
              <a:srgbClr val="B8791F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7188098" y="3136392"/>
            <a:ext cx="952805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B8791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완성</a:t>
            </a:r>
            <a:endParaRPr lang="en-US" sz="11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SW만 최적</a:t>
            </a:r>
            <a:endParaRPr 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8001000" y="3174797"/>
            <a:ext cx="3556102" cy="405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SW는 앞으로 왔지만 보고 바꿔 보는 1회 = </a:t>
            </a:r>
            <a:pPr algn="l" indent="0" marL="0">
              <a:lnSpc>
                <a:spcPct val="130000"/>
              </a:lnSpc>
              <a:buNone/>
            </a:pPr>
            <a:r>
              <a:rPr lang="en-US" sz="1150" b="1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시간~일</a:t>
            </a:r>
            <a:endParaRPr lang="en-US" sz="115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관찰마다 프로브 삽입 · 변경마다 재합성 · 장비 공유</a:t>
            </a:r>
            <a:endParaRPr lang="en-US" sz="1150" dirty="0"/>
          </a:p>
        </p:txBody>
      </p:sp>
      <p:sp>
        <p:nvSpPr>
          <p:cNvPr id="35" name="Shape 32"/>
          <p:cNvSpPr/>
          <p:nvPr/>
        </p:nvSpPr>
        <p:spPr>
          <a:xfrm>
            <a:off x="2095805" y="4470502"/>
            <a:ext cx="2857500" cy="330098"/>
          </a:xfrm>
          <a:prstGeom prst="roundRect">
            <a:avLst>
              <a:gd name="adj" fmla="val 15512"/>
            </a:avLst>
          </a:prstGeom>
          <a:solidFill>
            <a:srgbClr val="E8A33D"/>
          </a:solidFill>
          <a:ln/>
        </p:spPr>
      </p:sp>
      <p:sp>
        <p:nvSpPr>
          <p:cNvPr id="36" name="Text 33"/>
          <p:cNvSpPr txBox="1"/>
          <p:nvPr/>
        </p:nvSpPr>
        <p:spPr>
          <a:xfrm>
            <a:off x="2095805" y="4470502"/>
            <a:ext cx="2857500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가상 플랫폼: HW+SW 최적화 · AI 루프</a:t>
            </a:r>
            <a:endParaRPr lang="en-US" sz="1050" dirty="0"/>
          </a:p>
        </p:txBody>
      </p:sp>
      <p:sp>
        <p:nvSpPr>
          <p:cNvPr id="37" name="Shape 34"/>
          <p:cNvSpPr/>
          <p:nvPr/>
        </p:nvSpPr>
        <p:spPr>
          <a:xfrm>
            <a:off x="3047695" y="4839005"/>
            <a:ext cx="1904695" cy="254203"/>
          </a:xfrm>
          <a:prstGeom prst="roundRect">
            <a:avLst>
              <a:gd name="adj" fmla="val 20144"/>
            </a:avLst>
          </a:prstGeom>
          <a:solidFill>
            <a:srgbClr val="6B7280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3047695" y="4839005"/>
            <a:ext cx="1904695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검증: FPGA · 에뮬 · RTL</a:t>
            </a:r>
            <a:endParaRPr lang="en-US" sz="950" dirty="0"/>
          </a:p>
        </p:txBody>
      </p:sp>
      <p:sp>
        <p:nvSpPr>
          <p:cNvPr id="39" name="Shape 36"/>
          <p:cNvSpPr/>
          <p:nvPr/>
        </p:nvSpPr>
        <p:spPr>
          <a:xfrm>
            <a:off x="5333695" y="4101998"/>
            <a:ext cx="1143000" cy="330098"/>
          </a:xfrm>
          <a:prstGeom prst="roundRect">
            <a:avLst>
              <a:gd name="adj" fmla="val 15512"/>
            </a:avLst>
          </a:prstGeom>
          <a:solidFill>
            <a:srgbClr val="B3B9C4"/>
          </a:solidFill>
          <a:ln/>
        </p:spPr>
      </p:sp>
      <p:sp>
        <p:nvSpPr>
          <p:cNvPr id="40" name="Text 37"/>
          <p:cNvSpPr txBox="1"/>
          <p:nvPr/>
        </p:nvSpPr>
        <p:spPr>
          <a:xfrm>
            <a:off x="5333695" y="4101998"/>
            <a:ext cx="1143000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실리콘 최종 검증</a:t>
            </a:r>
            <a:endParaRPr lang="en-US" sz="1100" dirty="0"/>
          </a:p>
        </p:txBody>
      </p:sp>
      <p:sp>
        <p:nvSpPr>
          <p:cNvPr id="41" name="Shape 38"/>
          <p:cNvSpPr/>
          <p:nvPr/>
        </p:nvSpPr>
        <p:spPr>
          <a:xfrm>
            <a:off x="6616598" y="4101998"/>
            <a:ext cx="0" cy="330098"/>
          </a:xfrm>
          <a:prstGeom prst="line">
            <a:avLst/>
          </a:prstGeom>
          <a:noFill/>
          <a:ln w="38100">
            <a:solidFill>
              <a:srgbClr val="B8791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6679692" y="4089197"/>
            <a:ext cx="952805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B8791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완성</a:t>
            </a:r>
            <a:endParaRPr lang="en-US" sz="11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B8791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HW+SW 최적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7619695" y="4101998"/>
            <a:ext cx="3936492" cy="6099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HW 구조까지 함께, 1회 = </a:t>
            </a:r>
            <a:pPr algn="l" indent="0" marL="0">
              <a:lnSpc>
                <a:spcPct val="130000"/>
              </a:lnSpc>
              <a:buNone/>
            </a:pPr>
            <a:r>
              <a:rPr lang="en-US" sz="1150" b="1" dirty="0">
                <a:solidFill>
                  <a:srgbClr val="B8791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초</a:t>
            </a:r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· 하루 수백 번</a:t>
            </a:r>
            <a:endParaRPr lang="en-US" sz="115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기존 도구는 그대로, 역할은 </a:t>
            </a:r>
            <a:pPr algn="l" indent="0" marL="0">
              <a:lnSpc>
                <a:spcPct val="130000"/>
              </a:lnSpc>
              <a:buNone/>
            </a:pPr>
            <a:r>
              <a:rPr lang="en-US" sz="1150" b="1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검증</a:t>
            </a:r>
            <a:endParaRPr lang="en-US" sz="115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150" b="1" dirty="0">
                <a:solidFill>
                  <a:srgbClr val="B8791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→ 같은 면적에 더 빠르게, 같은 성능에 더 작게</a:t>
            </a:r>
            <a:endParaRPr lang="en-US" sz="1150" dirty="0"/>
          </a:p>
        </p:txBody>
      </p:sp>
      <p:sp>
        <p:nvSpPr>
          <p:cNvPr id="44" name="Text 41"/>
          <p:cNvSpPr txBox="1"/>
          <p:nvPr/>
        </p:nvSpPr>
        <p:spPr>
          <a:xfrm>
            <a:off x="7619695" y="4839005"/>
            <a:ext cx="3936492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가로축 = 시간 (개념도) · 세로 점선 = 실리콘 시점</a:t>
            </a:r>
            <a:endParaRPr lang="en-US" sz="1050" dirty="0"/>
          </a:p>
        </p:txBody>
      </p:sp>
      <p:sp>
        <p:nvSpPr>
          <p:cNvPr id="45" name="Shape 42"/>
          <p:cNvSpPr/>
          <p:nvPr/>
        </p:nvSpPr>
        <p:spPr>
          <a:xfrm>
            <a:off x="508406" y="5397703"/>
            <a:ext cx="3606394" cy="571500"/>
          </a:xfrm>
          <a:prstGeom prst="roundRect">
            <a:avLst>
              <a:gd name="adj" fmla="val 13280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660197" y="5397703"/>
            <a:ext cx="279806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F7F7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»</a:t>
            </a:r>
            <a:endParaRPr lang="en-US" sz="1700" dirty="0"/>
          </a:p>
        </p:txBody>
      </p:sp>
      <p:sp>
        <p:nvSpPr>
          <p:cNvPr id="47" name="Text 44"/>
          <p:cNvSpPr txBox="1"/>
          <p:nvPr/>
        </p:nvSpPr>
        <p:spPr>
          <a:xfrm>
            <a:off x="990295" y="5397703"/>
            <a:ext cx="29718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TAT는 계속 줄고, AI가 개발 속도를 한 번 더 끌어올리는 중</a:t>
            </a:r>
            <a:endParaRPr lang="en-US" sz="1250" dirty="0"/>
          </a:p>
        </p:txBody>
      </p:sp>
      <p:sp>
        <p:nvSpPr>
          <p:cNvPr id="48" name="Shape 45"/>
          <p:cNvSpPr/>
          <p:nvPr/>
        </p:nvSpPr>
        <p:spPr>
          <a:xfrm>
            <a:off x="4292194" y="5397703"/>
            <a:ext cx="3606394" cy="571500"/>
          </a:xfrm>
          <a:prstGeom prst="roundRect">
            <a:avLst>
              <a:gd name="adj" fmla="val 13280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4444898" y="5397703"/>
            <a:ext cx="279806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F7F7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○</a:t>
            </a:r>
            <a:endParaRPr lang="en-US" sz="1700" dirty="0"/>
          </a:p>
        </p:txBody>
      </p:sp>
      <p:sp>
        <p:nvSpPr>
          <p:cNvPr id="50" name="Text 47"/>
          <p:cNvSpPr txBox="1"/>
          <p:nvPr/>
        </p:nvSpPr>
        <p:spPr>
          <a:xfrm>
            <a:off x="4774997" y="5397703"/>
            <a:ext cx="29718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FPGA·에뮬레이터도 안을 볼 수는 있지만, 보고 바꾸는 반복이 느리다</a:t>
            </a:r>
            <a:endParaRPr lang="en-US" sz="1250" dirty="0"/>
          </a:p>
        </p:txBody>
      </p:sp>
      <p:sp>
        <p:nvSpPr>
          <p:cNvPr id="51" name="Shape 48"/>
          <p:cNvSpPr/>
          <p:nvPr/>
        </p:nvSpPr>
        <p:spPr>
          <a:xfrm>
            <a:off x="8076895" y="5397703"/>
            <a:ext cx="3606394" cy="571500"/>
          </a:xfrm>
          <a:prstGeom prst="roundRect">
            <a:avLst>
              <a:gd name="adj" fmla="val 13280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8229600" y="5397703"/>
            <a:ext cx="279806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B8791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✱</a:t>
            </a:r>
            <a:endParaRPr lang="en-US" sz="1700" dirty="0"/>
          </a:p>
        </p:txBody>
      </p:sp>
      <p:sp>
        <p:nvSpPr>
          <p:cNvPr id="53" name="Text 50"/>
          <p:cNvSpPr txBox="1"/>
          <p:nvPr/>
        </p:nvSpPr>
        <p:spPr>
          <a:xfrm>
            <a:off x="8559698" y="5397703"/>
            <a:ext cx="29718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대체가 아니라 앞단에 추가되는 옵션 — 여기서 찾은 답은 기존 도구로 검증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700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8406" y="0"/>
            <a:ext cx="11175797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1. 과제 배경 — 그러려면 빠르면서 cycle을 아는 시뮬레이터가 필요하다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08406" y="952805"/>
            <a:ext cx="11175797" cy="8257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5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그러려면 빠르면서 cycle을 아는 시뮬레이터가 필요한데,</a:t>
            </a:r>
            <a:endParaRPr lang="en-US" sz="25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25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그 자리가 비어 있었습니다</a:t>
            </a:r>
            <a:endParaRPr lang="en-US" sz="2500" dirty="0"/>
          </a:p>
        </p:txBody>
      </p:sp>
      <p:sp>
        <p:nvSpPr>
          <p:cNvPr id="6" name="Shape 3"/>
          <p:cNvSpPr/>
          <p:nvPr/>
        </p:nvSpPr>
        <p:spPr>
          <a:xfrm>
            <a:off x="508406" y="2221992"/>
            <a:ext cx="6730898" cy="3683203"/>
          </a:xfrm>
          <a:prstGeom prst="roundRect">
            <a:avLst>
              <a:gd name="adj" fmla="val 2756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270102" y="5524805"/>
            <a:ext cx="5587898" cy="0"/>
          </a:xfrm>
          <a:prstGeom prst="line">
            <a:avLst/>
          </a:prstGeom>
          <a:noFill/>
          <a:ln w="31750">
            <a:solidFill>
              <a:srgbClr val="B3B9C4"/>
            </a:solidFill>
            <a:prstDash val="solid"/>
            <a:tailEnd type="triangle"/>
          </a:ln>
        </p:spPr>
      </p:sp>
      <p:sp>
        <p:nvSpPr>
          <p:cNvPr id="8" name="Shape 5"/>
          <p:cNvSpPr/>
          <p:nvPr/>
        </p:nvSpPr>
        <p:spPr>
          <a:xfrm flipV="1">
            <a:off x="1270102" y="2603297"/>
            <a:ext cx="0" cy="2920594"/>
          </a:xfrm>
          <a:prstGeom prst="line">
            <a:avLst/>
          </a:prstGeom>
          <a:noFill/>
          <a:ln w="31750">
            <a:solidFill>
              <a:srgbClr val="B3B9C4"/>
            </a:solidFill>
            <a:prstDash val="solid"/>
            <a:tailEnd type="triangle"/>
          </a:ln>
        </p:spPr>
      </p:sp>
      <p:sp>
        <p:nvSpPr>
          <p:cNvPr id="9" name="Shape 6"/>
          <p:cNvSpPr/>
          <p:nvPr/>
        </p:nvSpPr>
        <p:spPr>
          <a:xfrm>
            <a:off x="1524305" y="2730398"/>
            <a:ext cx="1270102" cy="1270102"/>
          </a:xfrm>
          <a:prstGeom prst="ellipse">
            <a:avLst/>
          </a:prstGeom>
          <a:solidFill>
            <a:srgbClr val="0F1B2D"/>
          </a:solidFill>
          <a:ln/>
        </p:spPr>
      </p:sp>
      <p:sp>
        <p:nvSpPr>
          <p:cNvPr id="10" name="Shape 7"/>
          <p:cNvSpPr/>
          <p:nvPr/>
        </p:nvSpPr>
        <p:spPr>
          <a:xfrm>
            <a:off x="5397703" y="4317797"/>
            <a:ext cx="1270102" cy="1270102"/>
          </a:xfrm>
          <a:prstGeom prst="ellipse">
            <a:avLst/>
          </a:prstGeom>
          <a:solidFill>
            <a:srgbClr val="0F1B2D"/>
          </a:solidFill>
          <a:ln/>
        </p:spPr>
      </p:sp>
      <p:sp>
        <p:nvSpPr>
          <p:cNvPr id="11" name="Shape 8"/>
          <p:cNvSpPr/>
          <p:nvPr/>
        </p:nvSpPr>
        <p:spPr>
          <a:xfrm>
            <a:off x="3364992" y="3301898"/>
            <a:ext cx="1460297" cy="1460297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1524305" y="2730398"/>
            <a:ext cx="1270102" cy="1270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RTL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cycle-level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5397703" y="4317797"/>
            <a:ext cx="1270102" cy="1270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C-model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알고리즘</a:t>
            </a:r>
            <a:endParaRPr lang="en-US" sz="1700" dirty="0"/>
          </a:p>
        </p:txBody>
      </p:sp>
      <p:sp>
        <p:nvSpPr>
          <p:cNvPr id="14" name="Text 11"/>
          <p:cNvSpPr txBox="1"/>
          <p:nvPr/>
        </p:nvSpPr>
        <p:spPr>
          <a:xfrm>
            <a:off x="3364992" y="3301898"/>
            <a:ext cx="1460297" cy="14602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TLM</a:t>
            </a:r>
            <a:endParaRPr lang="en-US" sz="2200" dirty="0"/>
          </a:p>
        </p:txBody>
      </p:sp>
      <p:sp>
        <p:nvSpPr>
          <p:cNvPr id="15" name="Text 12"/>
          <p:cNvSpPr txBox="1"/>
          <p:nvPr/>
        </p:nvSpPr>
        <p:spPr>
          <a:xfrm>
            <a:off x="1333195" y="4063594"/>
            <a:ext cx="1651406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수 KIPS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앱 동작을 볼 수 없음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5206594" y="3886200"/>
            <a:ext cx="1651406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HW 특성 없음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성능을 볼 수 없음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3047695" y="4839005"/>
            <a:ext cx="2095805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8791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수십~수백 배 빠르면서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B8791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cycle을 안다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1397203" y="5600700"/>
            <a:ext cx="1270102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느림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4699102" y="5600700"/>
            <a:ext cx="2158898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시뮬레이션 속도 → 빠름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634594" y="2540203"/>
            <a:ext cx="609905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정확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634594" y="5206594"/>
            <a:ext cx="609905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HW 없음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1397203" y="2311603"/>
            <a:ext cx="5715000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시뮬레이터끼리 비교 — FPGA·에뮬레이터는 앞 장 (보고 바꾸는 반복이 느림)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7556602" y="2603297"/>
            <a:ext cx="51206" cy="825703"/>
          </a:xfrm>
          <a:prstGeom prst="rect">
            <a:avLst/>
          </a:prstGeom>
          <a:solidFill>
            <a:srgbClr val="0F1B2D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7759598" y="2603297"/>
            <a:ext cx="3924605" cy="291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RTL 시뮬레이션</a:t>
            </a:r>
            <a:endParaRPr lang="en-US" sz="1800" dirty="0"/>
          </a:p>
        </p:txBody>
      </p:sp>
      <p:sp>
        <p:nvSpPr>
          <p:cNvPr id="25" name="Text 22"/>
          <p:cNvSpPr txBox="1"/>
          <p:nvPr/>
        </p:nvSpPr>
        <p:spPr>
          <a:xfrm>
            <a:off x="7759598" y="2933395"/>
            <a:ext cx="3924605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정확하지만 너무 느려 애플리케이션 동작을 제대로 보기 어렵다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7556602" y="3651199"/>
            <a:ext cx="51206" cy="825703"/>
          </a:xfrm>
          <a:prstGeom prst="rect">
            <a:avLst/>
          </a:prstGeom>
          <a:solidFill>
            <a:srgbClr val="0F1B2D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7759598" y="3651199"/>
            <a:ext cx="3924605" cy="291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C-model</a:t>
            </a:r>
            <a:endParaRPr lang="en-US" sz="1800" dirty="0"/>
          </a:p>
        </p:txBody>
      </p:sp>
      <p:sp>
        <p:nvSpPr>
          <p:cNvPr id="28" name="Text 25"/>
          <p:cNvSpPr txBox="1"/>
          <p:nvPr/>
        </p:nvSpPr>
        <p:spPr>
          <a:xfrm>
            <a:off x="7759598" y="3981298"/>
            <a:ext cx="3924605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알고리즘만 있고 하드웨어 특성이 없어 성능을 볼 수 없다</a:t>
            </a:r>
            <a:endParaRPr lang="en-US" sz="1400" dirty="0"/>
          </a:p>
        </p:txBody>
      </p:sp>
      <p:sp>
        <p:nvSpPr>
          <p:cNvPr id="29" name="Shape 26"/>
          <p:cNvSpPr/>
          <p:nvPr/>
        </p:nvSpPr>
        <p:spPr>
          <a:xfrm>
            <a:off x="7556602" y="4699102"/>
            <a:ext cx="51206" cy="825703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7759598" y="4699102"/>
            <a:ext cx="3924605" cy="291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B8791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TLM 모델</a:t>
            </a:r>
            <a:endParaRPr lang="en-US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7759598" y="5029200"/>
            <a:ext cx="3924605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그 사이를 메운다 — SW를 개발하면서 HW 구조까지 바꿔 보고 성능을 본다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700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8406" y="0"/>
            <a:ext cx="11175797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1. 과제 배경 — TLM 모델이란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08406" y="1015898"/>
            <a:ext cx="11175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신호를 흉내 내지 않고, 트랜잭션에 시간을 붙입니다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8406" y="1841602"/>
            <a:ext cx="6349594" cy="3936492"/>
          </a:xfrm>
          <a:prstGeom prst="roundRect">
            <a:avLst>
              <a:gd name="adj" fmla="val 2578"/>
            </a:avLst>
          </a:prstGeom>
          <a:solidFill>
            <a:srgbClr val="0F1B2D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37006" y="1994306"/>
            <a:ext cx="3810305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8FA3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RTL · 클럭마다 모든 신호를 계산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952805" y="2298802"/>
            <a:ext cx="888797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F739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clk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952805" y="2628900"/>
            <a:ext cx="888797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F739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HADDR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952805" y="2958998"/>
            <a:ext cx="888797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F739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HWDATA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952805" y="3289097"/>
            <a:ext cx="888797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F739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HREADY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841602" y="2286000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2057400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2057400" y="2425903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2273198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2273198" y="2286000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2488997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2488997" y="2425903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2704795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2704795" y="2286000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2920594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2920594" y="2425903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3136392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3136392" y="2286000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3353105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3353105" y="2425903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3568903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3568903" y="2286000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3784702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3784702" y="2425903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4000500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4000500" y="2286000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4216298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4216298" y="2425903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4432097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4432097" y="2286000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4647895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4647895" y="2425903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4863694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4863694" y="2286000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5079492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5079492" y="2425903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5296205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5296205" y="2286000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5512003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5512003" y="2425903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5727802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5727802" y="2286000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5943600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5943600" y="2425903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6159398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>
            <a:off x="1841602" y="2756002"/>
            <a:ext cx="502006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2342693" y="2641702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2342693" y="2641702"/>
            <a:ext cx="755294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3098902" y="2641702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3098902" y="2756002"/>
            <a:ext cx="374904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3473806" y="2641702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>
            <a:off x="3473806" y="2641702"/>
            <a:ext cx="1003097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>
            <a:off x="4476902" y="2641702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0" name="Shape 57"/>
          <p:cNvSpPr/>
          <p:nvPr/>
        </p:nvSpPr>
        <p:spPr>
          <a:xfrm>
            <a:off x="4476902" y="2756002"/>
            <a:ext cx="628193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1" name="Shape 58"/>
          <p:cNvSpPr/>
          <p:nvPr/>
        </p:nvSpPr>
        <p:spPr>
          <a:xfrm>
            <a:off x="5105095" y="2641702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>
            <a:off x="5105095" y="2641702"/>
            <a:ext cx="502006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3" name="Shape 60"/>
          <p:cNvSpPr/>
          <p:nvPr/>
        </p:nvSpPr>
        <p:spPr>
          <a:xfrm>
            <a:off x="5607101" y="2641702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4" name="Shape 61"/>
          <p:cNvSpPr/>
          <p:nvPr/>
        </p:nvSpPr>
        <p:spPr>
          <a:xfrm>
            <a:off x="5607101" y="2756002"/>
            <a:ext cx="1257300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5" name="Shape 62"/>
          <p:cNvSpPr/>
          <p:nvPr/>
        </p:nvSpPr>
        <p:spPr>
          <a:xfrm>
            <a:off x="1841602" y="3086100"/>
            <a:ext cx="882396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6" name="Shape 63"/>
          <p:cNvSpPr/>
          <p:nvPr/>
        </p:nvSpPr>
        <p:spPr>
          <a:xfrm>
            <a:off x="2723998" y="2971800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7" name="Shape 64"/>
          <p:cNvSpPr/>
          <p:nvPr/>
        </p:nvSpPr>
        <p:spPr>
          <a:xfrm>
            <a:off x="2723998" y="2971800"/>
            <a:ext cx="374904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8" name="Shape 65"/>
          <p:cNvSpPr/>
          <p:nvPr/>
        </p:nvSpPr>
        <p:spPr>
          <a:xfrm>
            <a:off x="3098902" y="2971800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9" name="Shape 66"/>
          <p:cNvSpPr/>
          <p:nvPr/>
        </p:nvSpPr>
        <p:spPr>
          <a:xfrm>
            <a:off x="3098902" y="3086100"/>
            <a:ext cx="1384402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70" name="Shape 67"/>
          <p:cNvSpPr/>
          <p:nvPr/>
        </p:nvSpPr>
        <p:spPr>
          <a:xfrm>
            <a:off x="4483303" y="2971800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71" name="Shape 68"/>
          <p:cNvSpPr/>
          <p:nvPr/>
        </p:nvSpPr>
        <p:spPr>
          <a:xfrm>
            <a:off x="4483303" y="2971800"/>
            <a:ext cx="628193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72" name="Shape 69"/>
          <p:cNvSpPr/>
          <p:nvPr/>
        </p:nvSpPr>
        <p:spPr>
          <a:xfrm>
            <a:off x="5111496" y="2971800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73" name="Shape 70"/>
          <p:cNvSpPr/>
          <p:nvPr/>
        </p:nvSpPr>
        <p:spPr>
          <a:xfrm>
            <a:off x="5111496" y="3086100"/>
            <a:ext cx="374904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74" name="Shape 71"/>
          <p:cNvSpPr/>
          <p:nvPr/>
        </p:nvSpPr>
        <p:spPr>
          <a:xfrm>
            <a:off x="5486400" y="2971800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75" name="Shape 72"/>
          <p:cNvSpPr/>
          <p:nvPr/>
        </p:nvSpPr>
        <p:spPr>
          <a:xfrm>
            <a:off x="5486400" y="2971800"/>
            <a:ext cx="1384402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76" name="Shape 73"/>
          <p:cNvSpPr/>
          <p:nvPr/>
        </p:nvSpPr>
        <p:spPr>
          <a:xfrm>
            <a:off x="1841602" y="3416198"/>
            <a:ext cx="374904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77" name="Shape 74"/>
          <p:cNvSpPr/>
          <p:nvPr/>
        </p:nvSpPr>
        <p:spPr>
          <a:xfrm>
            <a:off x="2216506" y="3301898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78" name="Shape 75"/>
          <p:cNvSpPr/>
          <p:nvPr/>
        </p:nvSpPr>
        <p:spPr>
          <a:xfrm>
            <a:off x="2216506" y="3301898"/>
            <a:ext cx="1003097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79" name="Shape 76"/>
          <p:cNvSpPr/>
          <p:nvPr/>
        </p:nvSpPr>
        <p:spPr>
          <a:xfrm>
            <a:off x="3219602" y="3301898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80" name="Shape 77"/>
          <p:cNvSpPr/>
          <p:nvPr/>
        </p:nvSpPr>
        <p:spPr>
          <a:xfrm>
            <a:off x="3219602" y="3416198"/>
            <a:ext cx="755294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81" name="Shape 78"/>
          <p:cNvSpPr/>
          <p:nvPr/>
        </p:nvSpPr>
        <p:spPr>
          <a:xfrm>
            <a:off x="3974897" y="3301898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82" name="Shape 79"/>
          <p:cNvSpPr/>
          <p:nvPr/>
        </p:nvSpPr>
        <p:spPr>
          <a:xfrm>
            <a:off x="3974897" y="3301898"/>
            <a:ext cx="374904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83" name="Shape 80"/>
          <p:cNvSpPr/>
          <p:nvPr/>
        </p:nvSpPr>
        <p:spPr>
          <a:xfrm>
            <a:off x="4349801" y="3301898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84" name="Shape 81"/>
          <p:cNvSpPr/>
          <p:nvPr/>
        </p:nvSpPr>
        <p:spPr>
          <a:xfrm>
            <a:off x="4349801" y="3416198"/>
            <a:ext cx="1257300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85" name="Shape 82"/>
          <p:cNvSpPr/>
          <p:nvPr/>
        </p:nvSpPr>
        <p:spPr>
          <a:xfrm>
            <a:off x="5607101" y="3301898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86" name="Shape 83"/>
          <p:cNvSpPr/>
          <p:nvPr/>
        </p:nvSpPr>
        <p:spPr>
          <a:xfrm>
            <a:off x="5607101" y="3301898"/>
            <a:ext cx="502006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87" name="Shape 84"/>
          <p:cNvSpPr/>
          <p:nvPr/>
        </p:nvSpPr>
        <p:spPr>
          <a:xfrm>
            <a:off x="6108192" y="3301898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88" name="Shape 85"/>
          <p:cNvSpPr/>
          <p:nvPr/>
        </p:nvSpPr>
        <p:spPr>
          <a:xfrm>
            <a:off x="6108192" y="3416198"/>
            <a:ext cx="755294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89" name="Shape 86"/>
          <p:cNvSpPr/>
          <p:nvPr/>
        </p:nvSpPr>
        <p:spPr>
          <a:xfrm>
            <a:off x="888797" y="3746297"/>
            <a:ext cx="5587898" cy="0"/>
          </a:xfrm>
          <a:prstGeom prst="line">
            <a:avLst/>
          </a:prstGeom>
          <a:noFill/>
          <a:ln w="19050">
            <a:solidFill>
              <a:srgbClr val="2A3B55"/>
            </a:solidFill>
            <a:prstDash val="solid"/>
          </a:ln>
        </p:spPr>
      </p:sp>
      <p:sp>
        <p:nvSpPr>
          <p:cNvPr id="90" name="Text 87"/>
          <p:cNvSpPr txBox="1"/>
          <p:nvPr/>
        </p:nvSpPr>
        <p:spPr>
          <a:xfrm>
            <a:off x="737006" y="3860597"/>
            <a:ext cx="4444898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FA6A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TLM · 트랜잭션 하나 + cycle 숫자</a:t>
            </a:r>
            <a:endParaRPr lang="en-US" sz="1200" dirty="0"/>
          </a:p>
        </p:txBody>
      </p:sp>
      <p:sp>
        <p:nvSpPr>
          <p:cNvPr id="91" name="Shape 88"/>
          <p:cNvSpPr/>
          <p:nvPr/>
        </p:nvSpPr>
        <p:spPr>
          <a:xfrm>
            <a:off x="952805" y="4254703"/>
            <a:ext cx="1524305" cy="761695"/>
          </a:xfrm>
          <a:prstGeom prst="roundRect">
            <a:avLst>
              <a:gd name="adj" fmla="val 9964"/>
            </a:avLst>
          </a:prstGeom>
          <a:solidFill>
            <a:srgbClr val="16263D"/>
          </a:solidFill>
          <a:ln w="31750">
            <a:solidFill>
              <a:srgbClr val="2FA6A0"/>
            </a:solidFill>
            <a:prstDash val="solid"/>
          </a:ln>
        </p:spPr>
      </p:sp>
      <p:sp>
        <p:nvSpPr>
          <p:cNvPr id="92" name="Text 89"/>
          <p:cNvSpPr txBox="1"/>
          <p:nvPr/>
        </p:nvSpPr>
        <p:spPr>
          <a:xfrm>
            <a:off x="952805" y="4254703"/>
            <a:ext cx="1524305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5F4E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CPU</a:t>
            </a:r>
            <a:endParaRPr lang="en-US" sz="1700" dirty="0"/>
          </a:p>
        </p:txBody>
      </p:sp>
      <p:sp>
        <p:nvSpPr>
          <p:cNvPr id="93" name="Shape 90"/>
          <p:cNvSpPr/>
          <p:nvPr/>
        </p:nvSpPr>
        <p:spPr>
          <a:xfrm>
            <a:off x="4889297" y="4254703"/>
            <a:ext cx="1524305" cy="761695"/>
          </a:xfrm>
          <a:prstGeom prst="roundRect">
            <a:avLst>
              <a:gd name="adj" fmla="val 9964"/>
            </a:avLst>
          </a:prstGeom>
          <a:solidFill>
            <a:srgbClr val="16263D"/>
          </a:solidFill>
          <a:ln w="31750">
            <a:solidFill>
              <a:srgbClr val="2FA6A0"/>
            </a:solidFill>
            <a:prstDash val="solid"/>
          </a:ln>
        </p:spPr>
      </p:sp>
      <p:sp>
        <p:nvSpPr>
          <p:cNvPr id="94" name="Text 91"/>
          <p:cNvSpPr txBox="1"/>
          <p:nvPr/>
        </p:nvSpPr>
        <p:spPr>
          <a:xfrm>
            <a:off x="4889297" y="4254703"/>
            <a:ext cx="1524305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5F4E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SRAM</a:t>
            </a:r>
            <a:endParaRPr lang="en-US" sz="1700" dirty="0"/>
          </a:p>
        </p:txBody>
      </p:sp>
      <p:sp>
        <p:nvSpPr>
          <p:cNvPr id="95" name="Shape 92"/>
          <p:cNvSpPr/>
          <p:nvPr/>
        </p:nvSpPr>
        <p:spPr>
          <a:xfrm>
            <a:off x="2476195" y="4635094"/>
            <a:ext cx="2413102" cy="0"/>
          </a:xfrm>
          <a:prstGeom prst="line">
            <a:avLst/>
          </a:prstGeom>
          <a:noFill/>
          <a:ln w="63500">
            <a:solidFill>
              <a:srgbClr val="E8A33D"/>
            </a:solidFill>
            <a:prstDash val="solid"/>
            <a:tailEnd type="triangle"/>
          </a:ln>
        </p:spPr>
      </p:sp>
      <p:sp>
        <p:nvSpPr>
          <p:cNvPr id="96" name="Shape 93"/>
          <p:cNvSpPr/>
          <p:nvPr/>
        </p:nvSpPr>
        <p:spPr>
          <a:xfrm>
            <a:off x="2920594" y="4336999"/>
            <a:ext cx="1397203" cy="597103"/>
          </a:xfrm>
          <a:prstGeom prst="roundRect">
            <a:avLst>
              <a:gd name="adj" fmla="val 49923"/>
            </a:avLst>
          </a:prstGeom>
          <a:solidFill>
            <a:srgbClr val="E8A33D"/>
          </a:solidFill>
          <a:ln/>
        </p:spPr>
      </p:sp>
      <p:sp>
        <p:nvSpPr>
          <p:cNvPr id="97" name="Text 94"/>
          <p:cNvSpPr txBox="1"/>
          <p:nvPr/>
        </p:nvSpPr>
        <p:spPr>
          <a:xfrm>
            <a:off x="2920594" y="4336999"/>
            <a:ext cx="1397203" cy="5971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1B2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+7 cycle</a:t>
            </a:r>
            <a:endParaRPr lang="en-US" sz="1200" dirty="0"/>
          </a:p>
        </p:txBody>
      </p:sp>
      <p:sp>
        <p:nvSpPr>
          <p:cNvPr id="98" name="Text 95"/>
          <p:cNvSpPr txBox="1"/>
          <p:nvPr/>
        </p:nvSpPr>
        <p:spPr>
          <a:xfrm>
            <a:off x="888797" y="5206594"/>
            <a:ext cx="5587898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BFD8D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write(0x2400_0010, data)  →  버스 대기 2 + 메모리 5</a:t>
            </a:r>
            <a:endParaRPr lang="en-US" sz="1300" dirty="0"/>
          </a:p>
        </p:txBody>
      </p:sp>
      <p:sp>
        <p:nvSpPr>
          <p:cNvPr id="99" name="Shape 96"/>
          <p:cNvSpPr/>
          <p:nvPr/>
        </p:nvSpPr>
        <p:spPr>
          <a:xfrm>
            <a:off x="7162495" y="1904695"/>
            <a:ext cx="685800" cy="685800"/>
          </a:xfrm>
          <a:prstGeom prst="roundRect">
            <a:avLst>
              <a:gd name="adj" fmla="val 20400"/>
            </a:avLst>
          </a:prstGeom>
          <a:solidFill>
            <a:srgbClr val="0F1B2D"/>
          </a:solidFill>
          <a:ln/>
        </p:spPr>
      </p:sp>
      <p:sp>
        <p:nvSpPr>
          <p:cNvPr id="100" name="Text 97"/>
          <p:cNvSpPr txBox="1"/>
          <p:nvPr/>
        </p:nvSpPr>
        <p:spPr>
          <a:xfrm>
            <a:off x="7162495" y="1904695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E8A33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»</a:t>
            </a:r>
            <a:endParaRPr lang="en-US" sz="2600" dirty="0"/>
          </a:p>
        </p:txBody>
      </p:sp>
      <p:sp>
        <p:nvSpPr>
          <p:cNvPr id="101" name="Text 98"/>
          <p:cNvSpPr txBox="1"/>
          <p:nvPr/>
        </p:nvSpPr>
        <p:spPr>
          <a:xfrm>
            <a:off x="8001000" y="1930298"/>
            <a:ext cx="3683203" cy="291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RTL보다 수십~수백 배 빠르다</a:t>
            </a:r>
            <a:endParaRPr lang="en-US" sz="1800" dirty="0"/>
          </a:p>
        </p:txBody>
      </p:sp>
      <p:sp>
        <p:nvSpPr>
          <p:cNvPr id="102" name="Text 99"/>
          <p:cNvSpPr txBox="1"/>
          <p:nvPr/>
        </p:nvSpPr>
        <p:spPr>
          <a:xfrm>
            <a:off x="8001000" y="2260397"/>
            <a:ext cx="3683203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애플리케이션은 물론 RTOS까지 함께 개발할 수 있는 속도</a:t>
            </a:r>
            <a:endParaRPr lang="en-US" sz="1300" dirty="0"/>
          </a:p>
        </p:txBody>
      </p:sp>
      <p:sp>
        <p:nvSpPr>
          <p:cNvPr id="103" name="Shape 100"/>
          <p:cNvSpPr/>
          <p:nvPr/>
        </p:nvSpPr>
        <p:spPr>
          <a:xfrm>
            <a:off x="7162495" y="2907792"/>
            <a:ext cx="685800" cy="685800"/>
          </a:xfrm>
          <a:prstGeom prst="roundRect">
            <a:avLst>
              <a:gd name="adj" fmla="val 20400"/>
            </a:avLst>
          </a:prstGeom>
          <a:solidFill>
            <a:srgbClr val="0F1B2D"/>
          </a:solidFill>
          <a:ln/>
        </p:spPr>
      </p:sp>
      <p:sp>
        <p:nvSpPr>
          <p:cNvPr id="104" name="Text 101"/>
          <p:cNvSpPr txBox="1"/>
          <p:nvPr/>
        </p:nvSpPr>
        <p:spPr>
          <a:xfrm>
            <a:off x="7162495" y="2907792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E8A33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○</a:t>
            </a:r>
            <a:endParaRPr lang="en-US" sz="2600" dirty="0"/>
          </a:p>
        </p:txBody>
      </p:sp>
      <p:sp>
        <p:nvSpPr>
          <p:cNvPr id="105" name="Text 102"/>
          <p:cNvSpPr txBox="1"/>
          <p:nvPr/>
        </p:nvSpPr>
        <p:spPr>
          <a:xfrm>
            <a:off x="8001000" y="2933395"/>
            <a:ext cx="3683203" cy="291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그래도 cycle을 안다</a:t>
            </a:r>
            <a:endParaRPr lang="en-US" sz="1800" dirty="0"/>
          </a:p>
        </p:txBody>
      </p:sp>
      <p:sp>
        <p:nvSpPr>
          <p:cNvPr id="106" name="Text 103"/>
          <p:cNvSpPr txBox="1"/>
          <p:nvPr/>
        </p:nvSpPr>
        <p:spPr>
          <a:xfrm>
            <a:off x="8001000" y="3263494"/>
            <a:ext cx="3683203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기능만 맞추는 모델과 달리 "얼마나 느린가"에 답함</a:t>
            </a:r>
            <a:endParaRPr lang="en-US" sz="1300" dirty="0"/>
          </a:p>
        </p:txBody>
      </p:sp>
      <p:sp>
        <p:nvSpPr>
          <p:cNvPr id="107" name="Shape 104"/>
          <p:cNvSpPr/>
          <p:nvPr/>
        </p:nvSpPr>
        <p:spPr>
          <a:xfrm>
            <a:off x="7162495" y="3911803"/>
            <a:ext cx="685800" cy="685800"/>
          </a:xfrm>
          <a:prstGeom prst="roundRect">
            <a:avLst>
              <a:gd name="adj" fmla="val 20400"/>
            </a:avLst>
          </a:prstGeom>
          <a:solidFill>
            <a:srgbClr val="0F1B2D"/>
          </a:solidFill>
          <a:ln/>
        </p:spPr>
      </p:sp>
      <p:sp>
        <p:nvSpPr>
          <p:cNvPr id="108" name="Text 105"/>
          <p:cNvSpPr txBox="1"/>
          <p:nvPr/>
        </p:nvSpPr>
        <p:spPr>
          <a:xfrm>
            <a:off x="7162495" y="3911803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E8A33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✱</a:t>
            </a:r>
            <a:endParaRPr lang="en-US" sz="2600" dirty="0"/>
          </a:p>
        </p:txBody>
      </p:sp>
      <p:sp>
        <p:nvSpPr>
          <p:cNvPr id="109" name="Text 106"/>
          <p:cNvSpPr txBox="1"/>
          <p:nvPr/>
        </p:nvSpPr>
        <p:spPr>
          <a:xfrm>
            <a:off x="8001000" y="3936492"/>
            <a:ext cx="3683203" cy="291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HW 구조가 파라미터다</a:t>
            </a:r>
            <a:endParaRPr lang="en-US" sz="1800" dirty="0"/>
          </a:p>
        </p:txBody>
      </p:sp>
      <p:sp>
        <p:nvSpPr>
          <p:cNvPr id="110" name="Text 107"/>
          <p:cNvSpPr txBox="1"/>
          <p:nvPr/>
        </p:nvSpPr>
        <p:spPr>
          <a:xfrm>
            <a:off x="8001000" y="4267505"/>
            <a:ext cx="3683203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TCM·캐시·버스·DMA를 config로 바꿔 실험</a:t>
            </a:r>
            <a:endParaRPr lang="en-US" sz="1300" dirty="0"/>
          </a:p>
        </p:txBody>
      </p:sp>
      <p:sp>
        <p:nvSpPr>
          <p:cNvPr id="111" name="Shape 108"/>
          <p:cNvSpPr/>
          <p:nvPr/>
        </p:nvSpPr>
        <p:spPr>
          <a:xfrm>
            <a:off x="7162495" y="4914900"/>
            <a:ext cx="685800" cy="685800"/>
          </a:xfrm>
          <a:prstGeom prst="roundRect">
            <a:avLst>
              <a:gd name="adj" fmla="val 20400"/>
            </a:avLst>
          </a:prstGeom>
          <a:solidFill>
            <a:srgbClr val="0F1B2D"/>
          </a:solidFill>
          <a:ln/>
        </p:spPr>
      </p:sp>
      <p:sp>
        <p:nvSpPr>
          <p:cNvPr id="112" name="Text 109"/>
          <p:cNvSpPr txBox="1"/>
          <p:nvPr/>
        </p:nvSpPr>
        <p:spPr>
          <a:xfrm>
            <a:off x="7162495" y="491490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E8A33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◎</a:t>
            </a:r>
            <a:endParaRPr lang="en-US" sz="2600" dirty="0"/>
          </a:p>
        </p:txBody>
      </p:sp>
      <p:sp>
        <p:nvSpPr>
          <p:cNvPr id="113" name="Text 110"/>
          <p:cNvSpPr txBox="1"/>
          <p:nvPr/>
        </p:nvSpPr>
        <p:spPr>
          <a:xfrm>
            <a:off x="8001000" y="4940503"/>
            <a:ext cx="3683203" cy="291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안이 전부 보인다</a:t>
            </a:r>
            <a:endParaRPr lang="en-US" sz="1800" dirty="0"/>
          </a:p>
        </p:txBody>
      </p:sp>
      <p:sp>
        <p:nvSpPr>
          <p:cNvPr id="114" name="Text 111"/>
          <p:cNvSpPr txBox="1"/>
          <p:nvPr/>
        </p:nvSpPr>
        <p:spPr>
          <a:xfrm>
            <a:off x="8001000" y="5270602"/>
            <a:ext cx="3683203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C++ SW 플랫폼 — 프로브·재합성 없이 분석 데이터를 원하는 형태·양으로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700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8406" y="0"/>
            <a:ext cx="11175797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2. 개발 및 설계 — Cortex-M4 TLM 가상 플랫폼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08406" y="1015898"/>
            <a:ext cx="11175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TLM으로 만든 Cortex-M4 SoC: 빠르고, 정확하고, 간편합니다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8406" y="1841602"/>
            <a:ext cx="3606394" cy="1904695"/>
          </a:xfrm>
          <a:prstGeom prst="roundRect">
            <a:avLst>
              <a:gd name="adj" fmla="val 5329"/>
            </a:avLst>
          </a:prstGeom>
          <a:solidFill>
            <a:srgbClr val="0F1B2D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87298" y="2031797"/>
            <a:ext cx="30476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8FA3B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빠르다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787298" y="2286000"/>
            <a:ext cx="3047695" cy="8257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600" b="1" dirty="0">
                <a:solidFill>
                  <a:srgbClr val="2FA6A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50배+</a:t>
            </a:r>
            <a:endParaRPr lang="en-US" sz="5600" dirty="0"/>
          </a:p>
        </p:txBody>
      </p:sp>
      <p:sp>
        <p:nvSpPr>
          <p:cNvPr id="9" name="Text 6"/>
          <p:cNvSpPr txBox="1"/>
          <p:nvPr/>
        </p:nvSpPr>
        <p:spPr>
          <a:xfrm>
            <a:off x="787298" y="3174797"/>
            <a:ext cx="3047695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BFD8D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RTL 시뮬 대비 (벤치마크) · 실제 워크로드 수백 배 예상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292194" y="1841602"/>
            <a:ext cx="3606394" cy="1904695"/>
          </a:xfrm>
          <a:prstGeom prst="roundRect">
            <a:avLst>
              <a:gd name="adj" fmla="val 5329"/>
            </a:avLst>
          </a:prstGeom>
          <a:solidFill>
            <a:srgbClr val="0F1B2D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572000" y="2031797"/>
            <a:ext cx="30476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8FA3B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정확하다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4572000" y="2286000"/>
            <a:ext cx="3047695" cy="8257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600" b="1" dirty="0">
                <a:solidFill>
                  <a:srgbClr val="E8A33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99.7%</a:t>
            </a:r>
            <a:endParaRPr lang="en-US" sz="5600" dirty="0"/>
          </a:p>
        </p:txBody>
      </p:sp>
      <p:sp>
        <p:nvSpPr>
          <p:cNvPr id="13" name="Text 10"/>
          <p:cNvSpPr txBox="1"/>
          <p:nvPr/>
        </p:nvSpPr>
        <p:spPr>
          <a:xfrm>
            <a:off x="4572000" y="3174797"/>
            <a:ext cx="3047695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BFD8D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cycle 정합성, RTL 시뮬 대비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8076895" y="1841602"/>
            <a:ext cx="3606394" cy="1904695"/>
          </a:xfrm>
          <a:prstGeom prst="roundRect">
            <a:avLst>
              <a:gd name="adj" fmla="val 5329"/>
            </a:avLst>
          </a:prstGeom>
          <a:solidFill>
            <a:srgbClr val="0F1B2D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356702" y="2031797"/>
            <a:ext cx="30476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8FA3B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간편하다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8356702" y="2286000"/>
            <a:ext cx="3047695" cy="8257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JSON 1장</a:t>
            </a:r>
            <a:endParaRPr lang="en-US" sz="4200" dirty="0"/>
          </a:p>
        </p:txBody>
      </p:sp>
      <p:sp>
        <p:nvSpPr>
          <p:cNvPr id="17" name="Text 14"/>
          <p:cNvSpPr txBox="1"/>
          <p:nvPr/>
        </p:nvSpPr>
        <p:spPr>
          <a:xfrm>
            <a:off x="8356702" y="3174797"/>
            <a:ext cx="3047695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BFD8D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모델을 조립해 SoC 구성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508406" y="4063594"/>
            <a:ext cx="2286000" cy="1904695"/>
          </a:xfrm>
          <a:prstGeom prst="roundRect">
            <a:avLst>
              <a:gd name="adj" fmla="val 4657"/>
            </a:avLst>
          </a:prstGeom>
          <a:solidFill>
            <a:srgbClr val="FFFFFF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98602" y="4241902"/>
            <a:ext cx="1904695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기존 자산 · 그대로 사용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698602" y="4520794"/>
            <a:ext cx="1968703" cy="8257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메모리 모델</a:t>
            </a:r>
            <a:endParaRPr lang="en-US" sz="1250" dirty="0"/>
          </a:p>
          <a:p>
            <a:pPr algn="l"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TCM · SRAM · Flash</a:t>
            </a:r>
            <a:endParaRPr lang="en-US" sz="1250" dirty="0"/>
          </a:p>
          <a:p>
            <a:pPr algn="l"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I-Cache · AHB 매트릭스</a:t>
            </a:r>
            <a:endParaRPr lang="en-US" sz="1250" dirty="0"/>
          </a:p>
        </p:txBody>
      </p:sp>
      <p:sp>
        <p:nvSpPr>
          <p:cNvPr id="21" name="Text 18"/>
          <p:cNvSpPr txBox="1"/>
          <p:nvPr/>
        </p:nvSpPr>
        <p:spPr>
          <a:xfrm>
            <a:off x="2971800" y="4063594"/>
            <a:ext cx="50794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B8791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이번 과제에서 모델링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2971800" y="4381805"/>
            <a:ext cx="2819095" cy="1587398"/>
          </a:xfrm>
          <a:prstGeom prst="roundRect">
            <a:avLst>
              <a:gd name="adj" fmla="val 5588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2971800" y="4381805"/>
            <a:ext cx="2819095" cy="38405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3149194" y="4546397"/>
            <a:ext cx="2463394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Cortex-M4 코어</a:t>
            </a:r>
            <a:endParaRPr lang="en-US" sz="1500" dirty="0"/>
          </a:p>
        </p:txBody>
      </p:sp>
      <p:sp>
        <p:nvSpPr>
          <p:cNvPr id="25" name="Text 22"/>
          <p:cNvSpPr txBox="1"/>
          <p:nvPr/>
        </p:nvSpPr>
        <p:spPr>
          <a:xfrm>
            <a:off x="3149194" y="4863694"/>
            <a:ext cx="2463394" cy="952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3단 인오더 파이프라인 · 명령어별 cycle · NVIC · FPU — CoreMark 정합성 99.7%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5917997" y="4381805"/>
            <a:ext cx="2819095" cy="1587398"/>
          </a:xfrm>
          <a:prstGeom prst="roundRect">
            <a:avLst>
              <a:gd name="adj" fmla="val 5588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5917997" y="4381805"/>
            <a:ext cx="2819095" cy="38405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6096305" y="4546397"/>
            <a:ext cx="2463394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DMA · Timer</a:t>
            </a:r>
            <a:endParaRPr lang="en-US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6096305" y="4863694"/>
            <a:ext cx="2463394" cy="952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burst 전송 · 채널 · 완료 IRQ / 1 kHz 제어 타이머 · ISR 지연 측정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8864194" y="4381805"/>
            <a:ext cx="2819095" cy="1587398"/>
          </a:xfrm>
          <a:prstGeom prst="roundRect">
            <a:avLst>
              <a:gd name="adj" fmla="val 5588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8864194" y="4381805"/>
            <a:ext cx="2819095" cy="38405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9042502" y="4546397"/>
            <a:ext cx="2463394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MAC 가속기 · PoC 주변장치</a:t>
            </a:r>
            <a:endParaRPr lang="en-US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9042502" y="4863694"/>
            <a:ext cx="2463394" cy="952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INT8 dot-product 버스 마스터 · 완료 IRQ / 오디오 입력 · 센서·액추에이터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700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8406" y="0"/>
            <a:ext cx="11175797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2. 개발 및 설계 — Pre-Silicon Co-Optimization 루프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08406" y="1015898"/>
            <a:ext cx="11175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그래서 하나의 루프가 됩니다: 돌리고, 읽고, 고치고, 다시</a:t>
            </a:r>
            <a:endParaRPr lang="en-US" sz="3000" dirty="0"/>
          </a:p>
        </p:txBody>
      </p:sp>
      <p:sp>
        <p:nvSpPr>
          <p:cNvPr id="6" name="Text 3"/>
          <p:cNvSpPr txBox="1"/>
          <p:nvPr/>
        </p:nvSpPr>
        <p:spPr>
          <a:xfrm>
            <a:off x="508406" y="1587398"/>
            <a:ext cx="11175797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사람이 며칠 걸릴 HW·SW 시행착오를 AI가 하루에 수백 번 — 사람은 검토와 승인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508406" y="2031797"/>
            <a:ext cx="3301898" cy="1904695"/>
          </a:xfrm>
          <a:prstGeom prst="roundRect">
            <a:avLst>
              <a:gd name="adj" fmla="val 6673"/>
            </a:avLst>
          </a:prstGeom>
          <a:solidFill>
            <a:srgbClr val="F2F4F7"/>
          </a:solidFill>
          <a:ln w="38100">
            <a:solidFill>
              <a:srgbClr val="E8A33D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7298" y="2210105"/>
            <a:ext cx="2793492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B8791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돌린다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787298" y="2463394"/>
            <a:ext cx="2793492" cy="3557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CM4 가상 플랫폼</a:t>
            </a:r>
            <a:endParaRPr lang="en-US" sz="2100" dirty="0"/>
          </a:p>
        </p:txBody>
      </p:sp>
      <p:sp>
        <p:nvSpPr>
          <p:cNvPr id="10" name="Text 7"/>
          <p:cNvSpPr txBox="1"/>
          <p:nvPr/>
        </p:nvSpPr>
        <p:spPr>
          <a:xfrm>
            <a:off x="787298" y="2920594"/>
            <a:ext cx="2793492" cy="8257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config + 펌웨어를 실행하면</a:t>
            </a:r>
            <a:endParaRPr lang="en-US" sz="135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프로파일(callgrind)과</a:t>
            </a:r>
            <a:endParaRPr lang="en-US" sz="135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파형(FST)이 나온다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4444898" y="2031797"/>
            <a:ext cx="3301898" cy="1904695"/>
          </a:xfrm>
          <a:prstGeom prst="roundRect">
            <a:avLst>
              <a:gd name="adj" fmla="val 6673"/>
            </a:avLst>
          </a:prstGeom>
          <a:solidFill>
            <a:srgbClr val="F2F4F7"/>
          </a:solidFill>
          <a:ln w="38100">
            <a:solidFill>
              <a:srgbClr val="2FA6A0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724705" y="2210105"/>
            <a:ext cx="2793492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F7F7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읽는다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4724705" y="2463394"/>
            <a:ext cx="2793492" cy="3557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AI 분석 + 사람 검토</a:t>
            </a:r>
            <a:endParaRPr lang="en-US" sz="2100" dirty="0"/>
          </a:p>
        </p:txBody>
      </p:sp>
      <p:sp>
        <p:nvSpPr>
          <p:cNvPr id="14" name="Text 11"/>
          <p:cNvSpPr txBox="1"/>
          <p:nvPr/>
        </p:nvSpPr>
        <p:spPr>
          <a:xfrm>
            <a:off x="4724705" y="2920594"/>
            <a:ext cx="2793492" cy="8257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AI는 API로 병목·원인을 읽고</a:t>
            </a:r>
            <a:endParaRPr lang="en-US" sz="135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가설을 세운다. 사람은</a:t>
            </a:r>
            <a:endParaRPr lang="en-US" sz="135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Performance Profiler로 검토</a:t>
            </a:r>
            <a:endParaRPr lang="en-US" sz="1350" dirty="0"/>
          </a:p>
        </p:txBody>
      </p:sp>
      <p:sp>
        <p:nvSpPr>
          <p:cNvPr id="15" name="Shape 12"/>
          <p:cNvSpPr/>
          <p:nvPr/>
        </p:nvSpPr>
        <p:spPr>
          <a:xfrm>
            <a:off x="8381390" y="2031797"/>
            <a:ext cx="3301898" cy="1904695"/>
          </a:xfrm>
          <a:prstGeom prst="roundRect">
            <a:avLst>
              <a:gd name="adj" fmla="val 6673"/>
            </a:avLst>
          </a:prstGeom>
          <a:solidFill>
            <a:srgbClr val="F2F4F7"/>
          </a:solidFill>
          <a:ln w="38100">
            <a:solidFill>
              <a:srgbClr val="0F1B2D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61197" y="2210105"/>
            <a:ext cx="2793492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B2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고친다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8661197" y="2463394"/>
            <a:ext cx="2793492" cy="3557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SW knob · HW knob</a:t>
            </a:r>
            <a:endParaRPr lang="en-US" sz="2100" dirty="0"/>
          </a:p>
        </p:txBody>
      </p:sp>
      <p:sp>
        <p:nvSpPr>
          <p:cNvPr id="18" name="Text 15"/>
          <p:cNvSpPr txBox="1"/>
          <p:nvPr/>
        </p:nvSpPr>
        <p:spPr>
          <a:xfrm>
            <a:off x="8661197" y="2920594"/>
            <a:ext cx="2793492" cy="8257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데이터 배치, DMA, 오프로드,</a:t>
            </a:r>
            <a:endParaRPr lang="en-US" sz="135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메모리·캐시·버스 파라미터.</a:t>
            </a:r>
            <a:endParaRPr lang="en-US" sz="135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소스가 아닌 config를 바꾼다</a:t>
            </a:r>
            <a:endParaRPr lang="en-US" sz="1350" dirty="0"/>
          </a:p>
        </p:txBody>
      </p:sp>
      <p:sp>
        <p:nvSpPr>
          <p:cNvPr id="19" name="Shape 16"/>
          <p:cNvSpPr/>
          <p:nvPr/>
        </p:nvSpPr>
        <p:spPr>
          <a:xfrm>
            <a:off x="3873398" y="2857500"/>
            <a:ext cx="508406" cy="254203"/>
          </a:xfrm>
          <a:prstGeom prst="rightArrow">
            <a:avLst/>
          </a:prstGeom>
          <a:solidFill>
            <a:srgbClr val="E8A33D"/>
          </a:solidFill>
          <a:ln/>
        </p:spPr>
      </p:sp>
      <p:sp>
        <p:nvSpPr>
          <p:cNvPr id="20" name="Shape 17"/>
          <p:cNvSpPr/>
          <p:nvPr/>
        </p:nvSpPr>
        <p:spPr>
          <a:xfrm>
            <a:off x="7809890" y="2857500"/>
            <a:ext cx="508406" cy="254203"/>
          </a:xfrm>
          <a:prstGeom prst="rightArrow">
            <a:avLst/>
          </a:prstGeom>
          <a:solidFill>
            <a:srgbClr val="2FA6A0"/>
          </a:solidFill>
          <a:ln/>
        </p:spPr>
      </p:sp>
      <p:sp>
        <p:nvSpPr>
          <p:cNvPr id="21" name="Shape 18"/>
          <p:cNvSpPr/>
          <p:nvPr/>
        </p:nvSpPr>
        <p:spPr>
          <a:xfrm>
            <a:off x="10032797" y="3936492"/>
            <a:ext cx="0" cy="761695"/>
          </a:xfrm>
          <a:prstGeom prst="line">
            <a:avLst/>
          </a:prstGeom>
          <a:noFill/>
          <a:ln w="63500">
            <a:solidFill>
              <a:srgbClr val="E8A33D"/>
            </a:solidFill>
            <a:prstDash val="dash"/>
          </a:ln>
        </p:spPr>
      </p:sp>
      <p:sp>
        <p:nvSpPr>
          <p:cNvPr id="22" name="Shape 19"/>
          <p:cNvSpPr/>
          <p:nvPr/>
        </p:nvSpPr>
        <p:spPr>
          <a:xfrm flipV="1">
            <a:off x="2158898" y="4699102"/>
            <a:ext cx="7873898" cy="0"/>
          </a:xfrm>
          <a:prstGeom prst="line">
            <a:avLst/>
          </a:prstGeom>
          <a:noFill/>
          <a:ln w="63500">
            <a:solidFill>
              <a:srgbClr val="E8A33D"/>
            </a:solidFill>
            <a:prstDash val="dash"/>
          </a:ln>
        </p:spPr>
      </p:sp>
      <p:sp>
        <p:nvSpPr>
          <p:cNvPr id="23" name="Shape 20"/>
          <p:cNvSpPr/>
          <p:nvPr/>
        </p:nvSpPr>
        <p:spPr>
          <a:xfrm flipV="1">
            <a:off x="2158898" y="3936492"/>
            <a:ext cx="0" cy="761695"/>
          </a:xfrm>
          <a:prstGeom prst="line">
            <a:avLst/>
          </a:prstGeom>
          <a:noFill/>
          <a:ln w="63500">
            <a:solidFill>
              <a:srgbClr val="E8A33D"/>
            </a:solidFill>
            <a:prstDash val="dash"/>
            <a:tailEnd type="triangle"/>
          </a:ln>
        </p:spPr>
      </p:sp>
      <p:sp>
        <p:nvSpPr>
          <p:cNvPr id="24" name="Text 21"/>
          <p:cNvSpPr txBox="1"/>
          <p:nvPr/>
        </p:nvSpPr>
        <p:spPr>
          <a:xfrm>
            <a:off x="4190695" y="4559198"/>
            <a:ext cx="3810305" cy="279806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8791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한 바퀴 수 초~수십 초 · 하루 수백 회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508406" y="5143500"/>
            <a:ext cx="5512003" cy="698602"/>
          </a:xfrm>
          <a:prstGeom prst="roundRect">
            <a:avLst>
              <a:gd name="adj" fmla="val 14529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685800" y="5143500"/>
            <a:ext cx="279806" cy="6986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◉</a:t>
            </a:r>
            <a:endParaRPr lang="en-US" sz="1800" dirty="0"/>
          </a:p>
        </p:txBody>
      </p:sp>
      <p:sp>
        <p:nvSpPr>
          <p:cNvPr id="27" name="Text 24"/>
          <p:cNvSpPr txBox="1"/>
          <p:nvPr/>
        </p:nvSpPr>
        <p:spPr>
          <a:xfrm>
            <a:off x="1041502" y="5143500"/>
            <a:ext cx="4813402" cy="6986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Human-on-the-loop: 5회마다 근거와 함께 보고, HW 변경은 항상 사람이 승인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6172200" y="5143500"/>
            <a:ext cx="5512003" cy="698602"/>
          </a:xfrm>
          <a:prstGeom prst="roundRect">
            <a:avLst>
              <a:gd name="adj" fmla="val 14529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349594" y="5143500"/>
            <a:ext cx="279806" cy="6986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■</a:t>
            </a:r>
            <a:endParaRPr lang="en-US" sz="1800" dirty="0"/>
          </a:p>
        </p:txBody>
      </p:sp>
      <p:sp>
        <p:nvSpPr>
          <p:cNvPr id="30" name="Text 27"/>
          <p:cNvSpPr txBox="1"/>
          <p:nvPr/>
        </p:nvSpPr>
        <p:spPr>
          <a:xfrm>
            <a:off x="6705295" y="5143500"/>
            <a:ext cx="4813402" cy="6986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출력이 골든과 한 비트라도 다르면 실험 무효 — 정확도를 깎아 빨라질 수 없다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700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8406" y="0"/>
            <a:ext cx="11175797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2. 개발 및 설계 — Performance Profiler (Human-on-the-loop)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08406" y="1015898"/>
            <a:ext cx="11175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하나의 프로파일을 AI와 사람이 같이 읽습니다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8406" y="1841602"/>
            <a:ext cx="6858000" cy="3174797"/>
          </a:xfrm>
          <a:prstGeom prst="roundRect">
            <a:avLst>
              <a:gd name="adj" fmla="val 3197"/>
            </a:avLst>
          </a:prstGeom>
          <a:solidFill>
            <a:srgbClr val="0F1B2D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1524305" y="1841602"/>
            <a:ext cx="4826203" cy="31747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500" dirty="0">
                <a:solidFill>
                  <a:srgbClr val="8FA3B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[스크린샷 또는 30초 자동재생 영상 — Performance Profiler</a:t>
            </a:r>
            <a:endParaRPr lang="en-US" sz="15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1500" dirty="0">
                <a:solidFill>
                  <a:srgbClr val="8FA3B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함수 목록 → 라인 분석 + 점프 화살표 → 어셈블리 → 시나리오 비교]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8635594" y="1841602"/>
            <a:ext cx="2031797" cy="761695"/>
          </a:xfrm>
          <a:prstGeom prst="roundRect">
            <a:avLst>
              <a:gd name="adj" fmla="val 13325"/>
            </a:avLst>
          </a:prstGeom>
          <a:solidFill>
            <a:srgbClr val="0F1B2D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8635594" y="1841602"/>
            <a:ext cx="2031797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5F4E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CM4 가상 플랫폼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F5F4E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실행 1회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9651492" y="2603297"/>
            <a:ext cx="0" cy="571500"/>
          </a:xfrm>
          <a:prstGeom prst="line">
            <a:avLst/>
          </a:prstGeom>
          <a:noFill/>
          <a:ln w="63500">
            <a:solidFill>
              <a:srgbClr val="0F1B2D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762695" y="3174797"/>
            <a:ext cx="1777594" cy="609905"/>
          </a:xfrm>
          <a:prstGeom prst="roundRect">
            <a:avLst>
              <a:gd name="adj" fmla="val 49925"/>
            </a:avLst>
          </a:prstGeom>
          <a:solidFill>
            <a:srgbClr val="E8A33D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8762695" y="3174797"/>
            <a:ext cx="1777594" cy="6099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1B2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callgrind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 flipV="1">
            <a:off x="8318297" y="3784702"/>
            <a:ext cx="825703" cy="977494"/>
          </a:xfrm>
          <a:prstGeom prst="line">
            <a:avLst/>
          </a:prstGeom>
          <a:noFill/>
          <a:ln w="63500">
            <a:solidFill>
              <a:srgbClr val="2FA6A0"/>
            </a:solidFill>
            <a:prstDash val="solid"/>
            <a:tailEnd type="triangle"/>
          </a:ln>
        </p:spPr>
      </p:sp>
      <p:sp>
        <p:nvSpPr>
          <p:cNvPr id="14" name="Shape 11"/>
          <p:cNvSpPr/>
          <p:nvPr/>
        </p:nvSpPr>
        <p:spPr>
          <a:xfrm>
            <a:off x="10159898" y="3784702"/>
            <a:ext cx="825703" cy="977494"/>
          </a:xfrm>
          <a:prstGeom prst="line">
            <a:avLst/>
          </a:prstGeom>
          <a:noFill/>
          <a:ln w="63500">
            <a:solidFill>
              <a:srgbClr val="2FA6A0"/>
            </a:solidFill>
            <a:prstDash val="solid"/>
            <a:tailEnd type="triangle"/>
          </a:ln>
        </p:spPr>
      </p:sp>
      <p:sp>
        <p:nvSpPr>
          <p:cNvPr id="15" name="Shape 12"/>
          <p:cNvSpPr/>
          <p:nvPr/>
        </p:nvSpPr>
        <p:spPr>
          <a:xfrm>
            <a:off x="7619695" y="4762195"/>
            <a:ext cx="1524305" cy="634594"/>
          </a:xfrm>
          <a:prstGeom prst="roundRect">
            <a:avLst>
              <a:gd name="adj" fmla="val 15994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619695" y="4762195"/>
            <a:ext cx="1524305" cy="6345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AI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질의 API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10159898" y="4762195"/>
            <a:ext cx="1524305" cy="634594"/>
          </a:xfrm>
          <a:prstGeom prst="roundRect">
            <a:avLst>
              <a:gd name="adj" fmla="val 15994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10159898" y="4762195"/>
            <a:ext cx="1524305" cy="6345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사람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Profiler GUI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7619695" y="4000500"/>
            <a:ext cx="952805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summary · stalls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regions · diff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10731398" y="4000500"/>
            <a:ext cx="952805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함수 · 줄 · 콜 트리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시나리오 비교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508406" y="5244998"/>
            <a:ext cx="3606394" cy="634594"/>
          </a:xfrm>
          <a:prstGeom prst="roundRect">
            <a:avLst>
              <a:gd name="adj" fmla="val 11960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60197" y="5244998"/>
            <a:ext cx="254203" cy="6345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F7F7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✓</a:t>
            </a:r>
            <a:endParaRPr lang="en-US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965606" y="5244998"/>
            <a:ext cx="2997403" cy="6345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callgrind는 정립된 공개 포맷 — AI도 사람도 새 파서 없이 바로 읽음</a:t>
            </a:r>
            <a:endParaRPr lang="en-US" sz="1250" dirty="0"/>
          </a:p>
        </p:txBody>
      </p:sp>
      <p:sp>
        <p:nvSpPr>
          <p:cNvPr id="24" name="Shape 21"/>
          <p:cNvSpPr/>
          <p:nvPr/>
        </p:nvSpPr>
        <p:spPr>
          <a:xfrm>
            <a:off x="4292194" y="5244998"/>
            <a:ext cx="3606394" cy="634594"/>
          </a:xfrm>
          <a:prstGeom prst="roundRect">
            <a:avLst>
              <a:gd name="adj" fmla="val 11960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444898" y="5244998"/>
            <a:ext cx="254203" cy="6345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F7F7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◉</a:t>
            </a:r>
            <a:endParaRPr lang="en-US" sz="1600" dirty="0"/>
          </a:p>
        </p:txBody>
      </p:sp>
      <p:sp>
        <p:nvSpPr>
          <p:cNvPr id="26" name="Text 23"/>
          <p:cNvSpPr txBox="1"/>
          <p:nvPr/>
        </p:nvSpPr>
        <p:spPr>
          <a:xfrm>
            <a:off x="4749394" y="5244998"/>
            <a:ext cx="2997403" cy="6345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AI의 결정을 사람이 같은 데이터로 검토 → human-on-the-loop</a:t>
            </a:r>
            <a:endParaRPr lang="en-US" sz="1250" dirty="0"/>
          </a:p>
        </p:txBody>
      </p:sp>
      <p:sp>
        <p:nvSpPr>
          <p:cNvPr id="27" name="Shape 24"/>
          <p:cNvSpPr/>
          <p:nvPr/>
        </p:nvSpPr>
        <p:spPr>
          <a:xfrm>
            <a:off x="8076895" y="5244998"/>
            <a:ext cx="3606394" cy="634594"/>
          </a:xfrm>
          <a:prstGeom prst="roundRect">
            <a:avLst>
              <a:gd name="adj" fmla="val 11960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229600" y="5244998"/>
            <a:ext cx="254203" cy="6345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B8791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★</a:t>
            </a:r>
            <a:endParaRPr lang="en-US" sz="1600" dirty="0"/>
          </a:p>
        </p:txBody>
      </p:sp>
      <p:sp>
        <p:nvSpPr>
          <p:cNvPr id="29" name="Text 26"/>
          <p:cNvSpPr txBox="1"/>
          <p:nvPr/>
        </p:nvSpPr>
        <p:spPr>
          <a:xfrm>
            <a:off x="8534095" y="5244998"/>
            <a:ext cx="2997403" cy="6345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이번 과제: 다중 시나리오·비교 분석·Call Tree·UI/UX 대규모 개편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700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8406" y="0"/>
            <a:ext cx="11175797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2. 개발 및 설계 — WaveScope (신규): 기존 도구와의 연결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08406" y="1015898"/>
            <a:ext cx="11175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파형만 있으면 어떤 플랫폼이든 같은 프로파일이 나옵니다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8406" y="1714500"/>
            <a:ext cx="2031797" cy="571500"/>
          </a:xfrm>
          <a:prstGeom prst="roundRect">
            <a:avLst>
              <a:gd name="adj" fmla="val 15520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08406" y="1714500"/>
            <a:ext cx="2031797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가상 플랫폼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2540203" y="1999793"/>
            <a:ext cx="1206094" cy="1143000"/>
          </a:xfrm>
          <a:prstGeom prst="line">
            <a:avLst/>
          </a:prstGeom>
          <a:noFill/>
          <a:ln w="38100">
            <a:solidFill>
              <a:srgbClr val="B3B9C4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508406" y="2476195"/>
            <a:ext cx="2031797" cy="571500"/>
          </a:xfrm>
          <a:prstGeom prst="roundRect">
            <a:avLst>
              <a:gd name="adj" fmla="val 15520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08406" y="2476195"/>
            <a:ext cx="2031797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RTL 시뮬레이터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2540203" y="2762402"/>
            <a:ext cx="1206094" cy="381305"/>
          </a:xfrm>
          <a:prstGeom prst="line">
            <a:avLst/>
          </a:prstGeom>
          <a:noFill/>
          <a:ln w="38100">
            <a:solidFill>
              <a:srgbClr val="B3B9C4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08406" y="3238805"/>
            <a:ext cx="2031797" cy="571500"/>
          </a:xfrm>
          <a:prstGeom prst="roundRect">
            <a:avLst>
              <a:gd name="adj" fmla="val 15520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08406" y="3238805"/>
            <a:ext cx="2031797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에뮬레이터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 flipV="1">
            <a:off x="2540203" y="3142793"/>
            <a:ext cx="1206094" cy="381305"/>
          </a:xfrm>
          <a:prstGeom prst="line">
            <a:avLst/>
          </a:prstGeom>
          <a:noFill/>
          <a:ln w="38100">
            <a:solidFill>
              <a:srgbClr val="B3B9C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508406" y="4000500"/>
            <a:ext cx="2031797" cy="571500"/>
          </a:xfrm>
          <a:prstGeom prst="roundRect">
            <a:avLst>
              <a:gd name="adj" fmla="val 15520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08406" y="4000500"/>
            <a:ext cx="2031797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FPGA 프로토타입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 flipV="1">
            <a:off x="2540203" y="3142793"/>
            <a:ext cx="1206094" cy="1143000"/>
          </a:xfrm>
          <a:prstGeom prst="line">
            <a:avLst/>
          </a:prstGeom>
          <a:noFill/>
          <a:ln w="38100">
            <a:solidFill>
              <a:srgbClr val="B3B9C4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3746297" y="2540203"/>
            <a:ext cx="1651406" cy="1206094"/>
          </a:xfrm>
          <a:prstGeom prst="roundRect">
            <a:avLst>
              <a:gd name="adj" fmla="val 8415"/>
            </a:avLst>
          </a:prstGeom>
          <a:solidFill>
            <a:srgbClr val="0F1B2D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3886200" y="2616098"/>
            <a:ext cx="381305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F739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clk</a:t>
            </a:r>
            <a:endParaRPr lang="en-US" sz="850" dirty="0"/>
          </a:p>
        </p:txBody>
      </p:sp>
      <p:sp>
        <p:nvSpPr>
          <p:cNvPr id="20" name="Text 17"/>
          <p:cNvSpPr txBox="1"/>
          <p:nvPr/>
        </p:nvSpPr>
        <p:spPr>
          <a:xfrm>
            <a:off x="3886200" y="3016606"/>
            <a:ext cx="381305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F739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PC</a:t>
            </a:r>
            <a:endParaRPr lang="en-US" sz="850" dirty="0"/>
          </a:p>
        </p:txBody>
      </p:sp>
      <p:sp>
        <p:nvSpPr>
          <p:cNvPr id="21" name="Text 18"/>
          <p:cNvSpPr txBox="1"/>
          <p:nvPr/>
        </p:nvSpPr>
        <p:spPr>
          <a:xfrm>
            <a:off x="3886200" y="3377794"/>
            <a:ext cx="381305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F739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addr</a:t>
            </a:r>
            <a:endParaRPr lang="en-US" sz="850" dirty="0"/>
          </a:p>
        </p:txBody>
      </p:sp>
      <p:sp>
        <p:nvSpPr>
          <p:cNvPr id="22" name="Shape 19"/>
          <p:cNvSpPr/>
          <p:nvPr/>
        </p:nvSpPr>
        <p:spPr>
          <a:xfrm>
            <a:off x="4190695" y="2667305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257446" y="2667305"/>
            <a:ext cx="0" cy="101498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4257446" y="2768803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 flipV="1">
            <a:off x="4324198" y="2667305"/>
            <a:ext cx="0" cy="101498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4324198" y="2667305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4390949" y="2667305"/>
            <a:ext cx="0" cy="101498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4390949" y="2768803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 flipV="1">
            <a:off x="4457700" y="2667305"/>
            <a:ext cx="0" cy="101498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4457700" y="2667305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4524451" y="2667305"/>
            <a:ext cx="0" cy="101498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4524451" y="2768803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 flipV="1">
            <a:off x="4591202" y="2667305"/>
            <a:ext cx="0" cy="101498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4591202" y="2667305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4657954" y="2667305"/>
            <a:ext cx="0" cy="101498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4657954" y="2768803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 flipV="1">
            <a:off x="4724705" y="2667305"/>
            <a:ext cx="0" cy="101498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4724705" y="2667305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4790542" y="2667305"/>
            <a:ext cx="0" cy="101498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4790542" y="2768803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 flipV="1">
            <a:off x="4857293" y="2667305"/>
            <a:ext cx="0" cy="101498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4857293" y="2667305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4924044" y="2667305"/>
            <a:ext cx="0" cy="101498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4924044" y="2768803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 flipV="1">
            <a:off x="4990795" y="2667305"/>
            <a:ext cx="0" cy="101498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4990795" y="2667305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5057546" y="2667305"/>
            <a:ext cx="0" cy="101498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5057546" y="2768803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 flipV="1">
            <a:off x="5124298" y="2667305"/>
            <a:ext cx="0" cy="101498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5124298" y="2667305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5191049" y="2667305"/>
            <a:ext cx="0" cy="101498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>
            <a:off x="5191049" y="2768803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4190695" y="3047695"/>
            <a:ext cx="192024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4382719" y="3047695"/>
            <a:ext cx="0" cy="101498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4382719" y="3149194"/>
            <a:ext cx="128016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4510735" y="3047695"/>
            <a:ext cx="0" cy="101498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4510735" y="3047695"/>
            <a:ext cx="267005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>
            <a:off x="4777740" y="3047695"/>
            <a:ext cx="0" cy="101498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>
            <a:off x="4777740" y="3149194"/>
            <a:ext cx="160020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0" name="Shape 57"/>
          <p:cNvSpPr/>
          <p:nvPr/>
        </p:nvSpPr>
        <p:spPr>
          <a:xfrm>
            <a:off x="4937760" y="3047695"/>
            <a:ext cx="0" cy="101498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1" name="Shape 58"/>
          <p:cNvSpPr/>
          <p:nvPr/>
        </p:nvSpPr>
        <p:spPr>
          <a:xfrm>
            <a:off x="4937760" y="3047695"/>
            <a:ext cx="320040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>
            <a:off x="4190695" y="3416198"/>
            <a:ext cx="320040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3" name="Shape 60"/>
          <p:cNvSpPr/>
          <p:nvPr/>
        </p:nvSpPr>
        <p:spPr>
          <a:xfrm>
            <a:off x="4510735" y="3416198"/>
            <a:ext cx="0" cy="101498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4" name="Shape 61"/>
          <p:cNvSpPr/>
          <p:nvPr/>
        </p:nvSpPr>
        <p:spPr>
          <a:xfrm>
            <a:off x="4510735" y="3517697"/>
            <a:ext cx="106985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5" name="Shape 62"/>
          <p:cNvSpPr/>
          <p:nvPr/>
        </p:nvSpPr>
        <p:spPr>
          <a:xfrm>
            <a:off x="4617720" y="3416198"/>
            <a:ext cx="0" cy="101498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6" name="Shape 63"/>
          <p:cNvSpPr/>
          <p:nvPr/>
        </p:nvSpPr>
        <p:spPr>
          <a:xfrm>
            <a:off x="4617720" y="3416198"/>
            <a:ext cx="213055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7" name="Shape 64"/>
          <p:cNvSpPr/>
          <p:nvPr/>
        </p:nvSpPr>
        <p:spPr>
          <a:xfrm>
            <a:off x="4830775" y="3416198"/>
            <a:ext cx="0" cy="101498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8" name="Shape 65"/>
          <p:cNvSpPr/>
          <p:nvPr/>
        </p:nvSpPr>
        <p:spPr>
          <a:xfrm>
            <a:off x="4830775" y="3517697"/>
            <a:ext cx="267005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9" name="Shape 66"/>
          <p:cNvSpPr/>
          <p:nvPr/>
        </p:nvSpPr>
        <p:spPr>
          <a:xfrm>
            <a:off x="5097780" y="3416198"/>
            <a:ext cx="0" cy="101498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70" name="Shape 67"/>
          <p:cNvSpPr/>
          <p:nvPr/>
        </p:nvSpPr>
        <p:spPr>
          <a:xfrm>
            <a:off x="5097780" y="3416198"/>
            <a:ext cx="160020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71" name="Text 68"/>
          <p:cNvSpPr txBox="1"/>
          <p:nvPr/>
        </p:nvSpPr>
        <p:spPr>
          <a:xfrm>
            <a:off x="3746297" y="2324405"/>
            <a:ext cx="1651406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A556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파형 (clk + PC)</a:t>
            </a:r>
            <a:endParaRPr lang="en-US" sz="1150" dirty="0"/>
          </a:p>
        </p:txBody>
      </p:sp>
      <p:sp>
        <p:nvSpPr>
          <p:cNvPr id="72" name="Text 69"/>
          <p:cNvSpPr txBox="1"/>
          <p:nvPr/>
        </p:nvSpPr>
        <p:spPr>
          <a:xfrm>
            <a:off x="3746297" y="3797503"/>
            <a:ext cx="1651406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트레이스 IP 불필요</a:t>
            </a:r>
            <a:endParaRPr lang="en-US" sz="1150" dirty="0"/>
          </a:p>
        </p:txBody>
      </p:sp>
      <p:sp>
        <p:nvSpPr>
          <p:cNvPr id="73" name="Shape 70"/>
          <p:cNvSpPr/>
          <p:nvPr/>
        </p:nvSpPr>
        <p:spPr>
          <a:xfrm>
            <a:off x="5460797" y="3016606"/>
            <a:ext cx="508406" cy="254203"/>
          </a:xfrm>
          <a:prstGeom prst="rightArrow">
            <a:avLst/>
          </a:prstGeom>
          <a:solidFill>
            <a:srgbClr val="2FA6A0"/>
          </a:solidFill>
          <a:ln/>
        </p:spPr>
      </p:sp>
      <p:sp>
        <p:nvSpPr>
          <p:cNvPr id="74" name="Shape 71"/>
          <p:cNvSpPr/>
          <p:nvPr/>
        </p:nvSpPr>
        <p:spPr>
          <a:xfrm>
            <a:off x="6159398" y="2698394"/>
            <a:ext cx="2031797" cy="888797"/>
          </a:xfrm>
          <a:prstGeom prst="roundRect">
            <a:avLst>
              <a:gd name="adj" fmla="val 14300"/>
            </a:avLst>
          </a:prstGeom>
          <a:solidFill>
            <a:srgbClr val="2FA6A0"/>
          </a:solidFill>
          <a:ln/>
        </p:spPr>
      </p:sp>
      <p:sp>
        <p:nvSpPr>
          <p:cNvPr id="75" name="Text 72"/>
          <p:cNvSpPr txBox="1"/>
          <p:nvPr/>
        </p:nvSpPr>
        <p:spPr>
          <a:xfrm>
            <a:off x="6159398" y="2698394"/>
            <a:ext cx="2031797" cy="8887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WaveScope</a:t>
            </a:r>
            <a:endParaRPr lang="en-US" sz="2000" dirty="0"/>
          </a:p>
        </p:txBody>
      </p:sp>
      <p:sp>
        <p:nvSpPr>
          <p:cNvPr id="76" name="Text 73"/>
          <p:cNvSpPr txBox="1"/>
          <p:nvPr/>
        </p:nvSpPr>
        <p:spPr>
          <a:xfrm>
            <a:off x="6159398" y="3683203"/>
            <a:ext cx="2031797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PC 신호 × ELF 디스어셈블리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수 GB 파형 → 약 3분</a:t>
            </a:r>
            <a:endParaRPr lang="en-US" sz="1150" dirty="0"/>
          </a:p>
        </p:txBody>
      </p:sp>
      <p:sp>
        <p:nvSpPr>
          <p:cNvPr id="77" name="Shape 74"/>
          <p:cNvSpPr/>
          <p:nvPr/>
        </p:nvSpPr>
        <p:spPr>
          <a:xfrm>
            <a:off x="8255203" y="3016606"/>
            <a:ext cx="508406" cy="254203"/>
          </a:xfrm>
          <a:prstGeom prst="rightArrow">
            <a:avLst/>
          </a:prstGeom>
          <a:solidFill>
            <a:srgbClr val="E8A33D"/>
          </a:solidFill>
          <a:ln/>
        </p:spPr>
      </p:sp>
      <p:sp>
        <p:nvSpPr>
          <p:cNvPr id="78" name="Shape 75"/>
          <p:cNvSpPr/>
          <p:nvPr/>
        </p:nvSpPr>
        <p:spPr>
          <a:xfrm>
            <a:off x="8952890" y="1714500"/>
            <a:ext cx="2730398" cy="2857500"/>
          </a:xfrm>
          <a:prstGeom prst="roundRect">
            <a:avLst>
              <a:gd name="adj" fmla="val 3717"/>
            </a:avLst>
          </a:prstGeom>
          <a:solidFill>
            <a:srgbClr val="0F1B2D"/>
          </a:solidFill>
          <a:ln/>
        </p:spPr>
      </p:sp>
      <p:sp>
        <p:nvSpPr>
          <p:cNvPr id="79" name="Text 76"/>
          <p:cNvSpPr txBox="1"/>
          <p:nvPr/>
        </p:nvSpPr>
        <p:spPr>
          <a:xfrm>
            <a:off x="9092794" y="1867205"/>
            <a:ext cx="2476195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E8A33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callgrind · 같은 함수 이름</a:t>
            </a:r>
            <a:endParaRPr lang="en-US" sz="1200" dirty="0"/>
          </a:p>
        </p:txBody>
      </p:sp>
      <p:sp>
        <p:nvSpPr>
          <p:cNvPr id="80" name="Text 77"/>
          <p:cNvSpPr txBox="1"/>
          <p:nvPr/>
        </p:nvSpPr>
        <p:spPr>
          <a:xfrm>
            <a:off x="9092794" y="2171700"/>
            <a:ext cx="247619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F5F4E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fir_filter    58,904</a:t>
            </a:r>
            <a:endParaRPr lang="en-US" sz="1300" dirty="0"/>
          </a:p>
          <a:p>
            <a:pPr algn="l"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F5F4E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memcpy        31,878</a:t>
            </a:r>
            <a:endParaRPr lang="en-US" sz="1300" dirty="0"/>
          </a:p>
          <a:p>
            <a:pPr algn="l"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F5F4E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dma_wait      15,488</a:t>
            </a:r>
            <a:endParaRPr lang="en-US" sz="1300" dirty="0"/>
          </a:p>
          <a:p>
            <a:pPr algn="l"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F5F4E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irq_handler    9,134</a:t>
            </a:r>
            <a:endParaRPr lang="en-US" sz="1300" dirty="0"/>
          </a:p>
        </p:txBody>
      </p:sp>
      <p:sp>
        <p:nvSpPr>
          <p:cNvPr id="81" name="Text 78"/>
          <p:cNvSpPr txBox="1"/>
          <p:nvPr/>
        </p:nvSpPr>
        <p:spPr>
          <a:xfrm>
            <a:off x="9092794" y="3429000"/>
            <a:ext cx="2476195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BFD8D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→ Profiler에서 플랫폼 간</a:t>
            </a:r>
            <a:endParaRPr lang="en-US" sz="125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BFD8D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함수별로 나란히 비교</a:t>
            </a:r>
            <a:endParaRPr lang="en-US" sz="1250" dirty="0"/>
          </a:p>
        </p:txBody>
      </p:sp>
      <p:sp>
        <p:nvSpPr>
          <p:cNvPr id="82" name="Text 79"/>
          <p:cNvSpPr txBox="1"/>
          <p:nvPr/>
        </p:nvSpPr>
        <p:spPr>
          <a:xfrm>
            <a:off x="9092794" y="4127602"/>
            <a:ext cx="2476195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8FA3B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(숫자는 형식 예시)</a:t>
            </a:r>
            <a:endParaRPr lang="en-US" sz="1100" dirty="0"/>
          </a:p>
        </p:txBody>
      </p:sp>
      <p:sp>
        <p:nvSpPr>
          <p:cNvPr id="83" name="Shape 80"/>
          <p:cNvSpPr/>
          <p:nvPr/>
        </p:nvSpPr>
        <p:spPr>
          <a:xfrm>
            <a:off x="508406" y="5079492"/>
            <a:ext cx="5512003" cy="761695"/>
          </a:xfrm>
          <a:prstGeom prst="roundRect">
            <a:avLst>
              <a:gd name="adj" fmla="val 9964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84" name="Text 81"/>
          <p:cNvSpPr txBox="1"/>
          <p:nvPr/>
        </p:nvSpPr>
        <p:spPr>
          <a:xfrm>
            <a:off x="685800" y="5079492"/>
            <a:ext cx="279806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F7F7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✓</a:t>
            </a:r>
            <a:endParaRPr lang="en-US" sz="1700" dirty="0"/>
          </a:p>
        </p:txBody>
      </p:sp>
      <p:sp>
        <p:nvSpPr>
          <p:cNvPr id="85" name="Text 82"/>
          <p:cNvSpPr txBox="1"/>
          <p:nvPr/>
        </p:nvSpPr>
        <p:spPr>
          <a:xfrm>
            <a:off x="1041502" y="5079492"/>
            <a:ext cx="4813402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2장의 약속 — TLM에서 찾은 최적점을 RTL·에뮬레이터 파형으로 검증, 모델 정합성을 루프 안에서 관리</a:t>
            </a:r>
            <a:endParaRPr lang="en-US" sz="1350" dirty="0"/>
          </a:p>
        </p:txBody>
      </p:sp>
      <p:sp>
        <p:nvSpPr>
          <p:cNvPr id="86" name="Shape 83"/>
          <p:cNvSpPr/>
          <p:nvPr/>
        </p:nvSpPr>
        <p:spPr>
          <a:xfrm>
            <a:off x="6172200" y="5079492"/>
            <a:ext cx="5512003" cy="761695"/>
          </a:xfrm>
          <a:prstGeom prst="roundRect">
            <a:avLst>
              <a:gd name="adj" fmla="val 9964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87" name="Text 84"/>
          <p:cNvSpPr txBox="1"/>
          <p:nvPr/>
        </p:nvSpPr>
        <p:spPr>
          <a:xfrm>
            <a:off x="6349594" y="5079492"/>
            <a:ext cx="279806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F7F7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◎</a:t>
            </a:r>
            <a:endParaRPr lang="en-US" sz="1700" dirty="0"/>
          </a:p>
        </p:txBody>
      </p:sp>
      <p:sp>
        <p:nvSpPr>
          <p:cNvPr id="88" name="Text 85"/>
          <p:cNvSpPr txBox="1"/>
          <p:nvPr/>
        </p:nvSpPr>
        <p:spPr>
          <a:xfrm>
            <a:off x="6705295" y="5079492"/>
            <a:ext cx="4813402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단독으로도 사용 — 설계·시뮬레이터 수정 없이 기존 파형에서 바로 프로파일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700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8406" y="0"/>
            <a:ext cx="11175797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3. 검증 및 결과 — PoC 구성: Keyword Spotting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08406" y="1015898"/>
            <a:ext cx="11175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PoC: 음성 키워드 인식(KWS)을 세 가지 면적 예산에서 최적화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8406" y="1841602"/>
            <a:ext cx="5333695" cy="3619195"/>
          </a:xfrm>
          <a:prstGeom prst="roundRect">
            <a:avLst>
              <a:gd name="adj" fmla="val 2804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60197" y="1955902"/>
            <a:ext cx="2793492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CM4 가상 플랫폼 · 면적 예산 3단계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3492094" y="1981505"/>
            <a:ext cx="139903" cy="139903"/>
          </a:xfrm>
          <a:prstGeom prst="roundRect">
            <a:avLst>
              <a:gd name="adj" fmla="val 18301"/>
            </a:avLst>
          </a:prstGeom>
          <a:solidFill>
            <a:srgbClr val="0F1B2D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3683203" y="1943100"/>
            <a:ext cx="571500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Base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254703" y="1981505"/>
            <a:ext cx="139903" cy="139903"/>
          </a:xfrm>
          <a:prstGeom prst="roundRect">
            <a:avLst>
              <a:gd name="adj" fmla="val 18301"/>
            </a:avLst>
          </a:prstGeom>
          <a:solidFill>
            <a:srgbClr val="FFFFFF"/>
          </a:solidFill>
          <a:ln w="25400">
            <a:solidFill>
              <a:srgbClr val="1F7F7A"/>
            </a:solidFill>
            <a:prstDash val="dash"/>
          </a:ln>
        </p:spPr>
      </p:sp>
      <p:sp>
        <p:nvSpPr>
          <p:cNvPr id="11" name="Text 8"/>
          <p:cNvSpPr txBox="1"/>
          <p:nvPr/>
        </p:nvSpPr>
        <p:spPr>
          <a:xfrm>
            <a:off x="4444898" y="1943100"/>
            <a:ext cx="571500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F7F7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+TCM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4953305" y="1981505"/>
            <a:ext cx="139903" cy="139903"/>
          </a:xfrm>
          <a:prstGeom prst="roundRect">
            <a:avLst>
              <a:gd name="adj" fmla="val 18301"/>
            </a:avLst>
          </a:prstGeom>
          <a:solidFill>
            <a:srgbClr val="FFFFFF"/>
          </a:solidFill>
          <a:ln w="25400">
            <a:solidFill>
              <a:srgbClr val="B8791F"/>
            </a:solidFill>
            <a:prstDash val="dash"/>
          </a:ln>
        </p:spPr>
      </p:sp>
      <p:sp>
        <p:nvSpPr>
          <p:cNvPr id="13" name="Text 10"/>
          <p:cNvSpPr txBox="1"/>
          <p:nvPr/>
        </p:nvSpPr>
        <p:spPr>
          <a:xfrm>
            <a:off x="5143500" y="1943100"/>
            <a:ext cx="571500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8791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+MAC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2476195" y="3136392"/>
            <a:ext cx="0" cy="418795"/>
          </a:xfrm>
          <a:prstGeom prst="line">
            <a:avLst/>
          </a:prstGeom>
          <a:noFill/>
          <a:ln w="44450">
            <a:solidFill>
              <a:srgbClr val="6B7280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968496" y="3136392"/>
            <a:ext cx="0" cy="418795"/>
          </a:xfrm>
          <a:prstGeom prst="line">
            <a:avLst/>
          </a:prstGeom>
          <a:noFill/>
          <a:ln w="44450">
            <a:solidFill>
              <a:srgbClr val="6B7280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5143500" y="3136392"/>
            <a:ext cx="0" cy="418795"/>
          </a:xfrm>
          <a:prstGeom prst="line">
            <a:avLst/>
          </a:prstGeom>
          <a:noFill/>
          <a:ln w="44450">
            <a:solidFill>
              <a:srgbClr val="6B7280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1397203" y="3886200"/>
            <a:ext cx="0" cy="431597"/>
          </a:xfrm>
          <a:prstGeom prst="line">
            <a:avLst/>
          </a:prstGeom>
          <a:noFill/>
          <a:ln w="44450">
            <a:solidFill>
              <a:srgbClr val="6B7280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3206801" y="3886200"/>
            <a:ext cx="0" cy="431597"/>
          </a:xfrm>
          <a:prstGeom prst="line">
            <a:avLst/>
          </a:prstGeom>
          <a:noFill/>
          <a:ln w="44450">
            <a:solidFill>
              <a:srgbClr val="6B7280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4984394" y="3886200"/>
            <a:ext cx="0" cy="431597"/>
          </a:xfrm>
          <a:prstGeom prst="line">
            <a:avLst/>
          </a:prstGeom>
          <a:noFill/>
          <a:ln w="44450">
            <a:solidFill>
              <a:srgbClr val="6B7280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1651406" y="2793492"/>
            <a:ext cx="127102" cy="0"/>
          </a:xfrm>
          <a:prstGeom prst="line">
            <a:avLst/>
          </a:prstGeom>
          <a:noFill/>
          <a:ln w="76200">
            <a:solidFill>
              <a:srgbClr val="1F7F7A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761695" y="2450592"/>
            <a:ext cx="888797" cy="685800"/>
          </a:xfrm>
          <a:prstGeom prst="roundRect">
            <a:avLst>
              <a:gd name="adj" fmla="val 11067"/>
            </a:avLst>
          </a:prstGeom>
          <a:solidFill>
            <a:srgbClr val="FFFFFF"/>
          </a:solidFill>
          <a:ln w="38100">
            <a:solidFill>
              <a:srgbClr val="1F7F7A"/>
            </a:solidFill>
            <a:prstDash val="dash"/>
          </a:ln>
        </p:spPr>
      </p:sp>
      <p:sp>
        <p:nvSpPr>
          <p:cNvPr id="22" name="Text 19"/>
          <p:cNvSpPr txBox="1"/>
          <p:nvPr/>
        </p:nvSpPr>
        <p:spPr>
          <a:xfrm>
            <a:off x="761695" y="2527402"/>
            <a:ext cx="888797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7F7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TCM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761695" y="2806294"/>
            <a:ext cx="888797" cy="3172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ITCM + DTCM</a:t>
            </a:r>
            <a:endParaRPr lang="en-US" sz="10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예산 ≤280부터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1587398" y="2387498"/>
            <a:ext cx="127102" cy="127102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25" name="Shape 22"/>
          <p:cNvSpPr/>
          <p:nvPr/>
        </p:nvSpPr>
        <p:spPr>
          <a:xfrm>
            <a:off x="1777594" y="2450592"/>
            <a:ext cx="1397203" cy="685800"/>
          </a:xfrm>
          <a:prstGeom prst="roundRect">
            <a:avLst>
              <a:gd name="adj" fmla="val 11067"/>
            </a:avLst>
          </a:prstGeom>
          <a:solidFill>
            <a:srgbClr val="0F1B2D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1777594" y="2514600"/>
            <a:ext cx="1397203" cy="2798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Cortex-M4</a:t>
            </a:r>
            <a:endParaRPr lang="en-US" sz="1600" dirty="0"/>
          </a:p>
        </p:txBody>
      </p:sp>
      <p:sp>
        <p:nvSpPr>
          <p:cNvPr id="27" name="Text 24"/>
          <p:cNvSpPr txBox="1"/>
          <p:nvPr/>
        </p:nvSpPr>
        <p:spPr>
          <a:xfrm>
            <a:off x="1777594" y="2844698"/>
            <a:ext cx="1397203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BFD8D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FPU · NVIC</a:t>
            </a:r>
            <a:endParaRPr lang="en-US" sz="1050" dirty="0"/>
          </a:p>
        </p:txBody>
      </p:sp>
      <p:sp>
        <p:nvSpPr>
          <p:cNvPr id="28" name="Shape 25"/>
          <p:cNvSpPr/>
          <p:nvPr/>
        </p:nvSpPr>
        <p:spPr>
          <a:xfrm>
            <a:off x="3492094" y="2450592"/>
            <a:ext cx="952805" cy="685800"/>
          </a:xfrm>
          <a:prstGeom prst="roundRect">
            <a:avLst>
              <a:gd name="adj" fmla="val 11067"/>
            </a:avLst>
          </a:prstGeom>
          <a:solidFill>
            <a:srgbClr val="0F1B2D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3492094" y="2514600"/>
            <a:ext cx="952805" cy="2798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DMA</a:t>
            </a:r>
            <a:endParaRPr lang="en-US" sz="1600" dirty="0"/>
          </a:p>
        </p:txBody>
      </p:sp>
      <p:sp>
        <p:nvSpPr>
          <p:cNvPr id="30" name="Text 27"/>
          <p:cNvSpPr txBox="1"/>
          <p:nvPr/>
        </p:nvSpPr>
        <p:spPr>
          <a:xfrm>
            <a:off x="3492094" y="2844698"/>
            <a:ext cx="952805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BFD8D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burst 1–16</a:t>
            </a:r>
            <a:endParaRPr lang="en-US" sz="1050" dirty="0"/>
          </a:p>
        </p:txBody>
      </p:sp>
      <p:sp>
        <p:nvSpPr>
          <p:cNvPr id="31" name="Shape 28"/>
          <p:cNvSpPr/>
          <p:nvPr/>
        </p:nvSpPr>
        <p:spPr>
          <a:xfrm>
            <a:off x="4381805" y="2387498"/>
            <a:ext cx="127102" cy="127102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2" name="Shape 29"/>
          <p:cNvSpPr/>
          <p:nvPr/>
        </p:nvSpPr>
        <p:spPr>
          <a:xfrm>
            <a:off x="4699102" y="2450592"/>
            <a:ext cx="888797" cy="685800"/>
          </a:xfrm>
          <a:prstGeom prst="roundRect">
            <a:avLst>
              <a:gd name="adj" fmla="val 11067"/>
            </a:avLst>
          </a:prstGeom>
          <a:solidFill>
            <a:srgbClr val="FFFFFF"/>
          </a:solidFill>
          <a:ln w="38100">
            <a:solidFill>
              <a:srgbClr val="B8791F"/>
            </a:solidFill>
            <a:prstDash val="dash"/>
          </a:ln>
        </p:spPr>
      </p:sp>
      <p:sp>
        <p:nvSpPr>
          <p:cNvPr id="33" name="Text 30"/>
          <p:cNvSpPr txBox="1"/>
          <p:nvPr/>
        </p:nvSpPr>
        <p:spPr>
          <a:xfrm>
            <a:off x="4699102" y="2527402"/>
            <a:ext cx="888797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8791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MAC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4699102" y="2806294"/>
            <a:ext cx="888797" cy="3172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INT8 가속기</a:t>
            </a:r>
            <a:endParaRPr lang="en-US" sz="10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예산 ≤470부터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5524805" y="2387498"/>
            <a:ext cx="127102" cy="127102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6" name="Shape 33"/>
          <p:cNvSpPr/>
          <p:nvPr/>
        </p:nvSpPr>
        <p:spPr>
          <a:xfrm>
            <a:off x="761695" y="3556102"/>
            <a:ext cx="4826203" cy="330098"/>
          </a:xfrm>
          <a:prstGeom prst="roundRect">
            <a:avLst>
              <a:gd name="adj" fmla="val 19114"/>
            </a:avLst>
          </a:prstGeom>
          <a:solidFill>
            <a:srgbClr val="4A5568"/>
          </a:solidFill>
          <a:ln/>
        </p:spPr>
      </p:sp>
      <p:sp>
        <p:nvSpPr>
          <p:cNvPr id="37" name="Text 34"/>
          <p:cNvSpPr txBox="1"/>
          <p:nvPr/>
        </p:nvSpPr>
        <p:spPr>
          <a:xfrm>
            <a:off x="761695" y="3556102"/>
            <a:ext cx="4826203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AHB 매트릭스 — 마스터 간 경합을 cycle 단위로</a:t>
            </a:r>
            <a:endParaRPr lang="en-US" sz="1300" dirty="0"/>
          </a:p>
        </p:txBody>
      </p:sp>
      <p:sp>
        <p:nvSpPr>
          <p:cNvPr id="38" name="Shape 35"/>
          <p:cNvSpPr/>
          <p:nvPr/>
        </p:nvSpPr>
        <p:spPr>
          <a:xfrm>
            <a:off x="761695" y="4317797"/>
            <a:ext cx="1270102" cy="634594"/>
          </a:xfrm>
          <a:prstGeom prst="roundRect">
            <a:avLst>
              <a:gd name="adj" fmla="val 11960"/>
            </a:avLst>
          </a:prstGeom>
          <a:solidFill>
            <a:srgbClr val="FFFFFF"/>
          </a:solidFill>
          <a:ln w="19050">
            <a:solidFill>
              <a:srgbClr val="0F1B2D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761695" y="4393692"/>
            <a:ext cx="1270102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Flash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761695" y="4673498"/>
            <a:ext cx="1270102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512 KB · WS/prefetch</a:t>
            </a:r>
            <a:endParaRPr lang="en-US" sz="1000" dirty="0"/>
          </a:p>
        </p:txBody>
      </p:sp>
      <p:sp>
        <p:nvSpPr>
          <p:cNvPr id="41" name="Shape 38"/>
          <p:cNvSpPr/>
          <p:nvPr/>
        </p:nvSpPr>
        <p:spPr>
          <a:xfrm>
            <a:off x="1968703" y="4254703"/>
            <a:ext cx="127102" cy="127102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42" name="Shape 39"/>
          <p:cNvSpPr/>
          <p:nvPr/>
        </p:nvSpPr>
        <p:spPr>
          <a:xfrm>
            <a:off x="2349094" y="4317797"/>
            <a:ext cx="1714500" cy="634594"/>
          </a:xfrm>
          <a:prstGeom prst="roundRect">
            <a:avLst>
              <a:gd name="adj" fmla="val 11960"/>
            </a:avLst>
          </a:prstGeom>
          <a:solidFill>
            <a:srgbClr val="FFFFFF"/>
          </a:solidFill>
          <a:ln w="19050">
            <a:solidFill>
              <a:srgbClr val="0F1B2D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3206801" y="4317797"/>
            <a:ext cx="0" cy="634594"/>
          </a:xfrm>
          <a:prstGeom prst="line">
            <a:avLst/>
          </a:prstGeom>
          <a:noFill/>
          <a:ln w="19050">
            <a:solidFill>
              <a:srgbClr val="D9DEE6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2349094" y="4393692"/>
            <a:ext cx="856793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SRAM0</a:t>
            </a:r>
            <a:endParaRPr lang="en-US" sz="1300" dirty="0"/>
          </a:p>
        </p:txBody>
      </p:sp>
      <p:sp>
        <p:nvSpPr>
          <p:cNvPr id="45" name="Text 42"/>
          <p:cNvSpPr txBox="1"/>
          <p:nvPr/>
        </p:nvSpPr>
        <p:spPr>
          <a:xfrm>
            <a:off x="3206801" y="4393692"/>
            <a:ext cx="856793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SRAM1</a:t>
            </a:r>
            <a:endParaRPr lang="en-US" sz="1300" dirty="0"/>
          </a:p>
        </p:txBody>
      </p:sp>
      <p:sp>
        <p:nvSpPr>
          <p:cNvPr id="46" name="Text 43"/>
          <p:cNvSpPr txBox="1"/>
          <p:nvPr/>
        </p:nvSpPr>
        <p:spPr>
          <a:xfrm>
            <a:off x="2349094" y="4673498"/>
            <a:ext cx="1714500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64 KB × 2 · CPU·DMA 공유</a:t>
            </a:r>
            <a:endParaRPr lang="en-US" sz="1000" dirty="0"/>
          </a:p>
        </p:txBody>
      </p:sp>
      <p:sp>
        <p:nvSpPr>
          <p:cNvPr id="47" name="Shape 44"/>
          <p:cNvSpPr/>
          <p:nvPr/>
        </p:nvSpPr>
        <p:spPr>
          <a:xfrm>
            <a:off x="4000500" y="4254703"/>
            <a:ext cx="127102" cy="127102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48" name="Shape 45"/>
          <p:cNvSpPr/>
          <p:nvPr/>
        </p:nvSpPr>
        <p:spPr>
          <a:xfrm>
            <a:off x="4381805" y="4317797"/>
            <a:ext cx="1206094" cy="634594"/>
          </a:xfrm>
          <a:prstGeom prst="roundRect">
            <a:avLst>
              <a:gd name="adj" fmla="val 11960"/>
            </a:avLst>
          </a:prstGeom>
          <a:solidFill>
            <a:srgbClr val="FFFFFF"/>
          </a:solidFill>
          <a:ln w="19050">
            <a:solidFill>
              <a:srgbClr val="0F1B2D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4381805" y="4393692"/>
            <a:ext cx="1206094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주변장치</a:t>
            </a:r>
            <a:endParaRPr lang="en-US" sz="1400" dirty="0"/>
          </a:p>
        </p:txBody>
      </p:sp>
      <p:sp>
        <p:nvSpPr>
          <p:cNvPr id="50" name="Text 47"/>
          <p:cNvSpPr txBox="1"/>
          <p:nvPr/>
        </p:nvSpPr>
        <p:spPr>
          <a:xfrm>
            <a:off x="4381805" y="4673498"/>
            <a:ext cx="1206094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Timer · Audio · I/O</a:t>
            </a:r>
            <a:endParaRPr lang="en-US" sz="1000" dirty="0"/>
          </a:p>
        </p:txBody>
      </p:sp>
      <p:sp>
        <p:nvSpPr>
          <p:cNvPr id="51" name="Text 48"/>
          <p:cNvSpPr txBox="1"/>
          <p:nvPr/>
        </p:nvSpPr>
        <p:spPr>
          <a:xfrm>
            <a:off x="660197" y="5143500"/>
            <a:ext cx="50794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E8A33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● </a:t>
            </a:r>
            <a:pPr algn="l" indent="0" marL="0">
              <a:buNone/>
            </a:pPr>
            <a:r>
              <a:rPr lang="en-US" sz="10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config knob — 크기·개수·burst·WS를 AI가 예산 안에서 선택</a:t>
            </a:r>
            <a:endParaRPr lang="en-US" sz="1050" dirty="0"/>
          </a:p>
        </p:txBody>
      </p:sp>
      <p:sp>
        <p:nvSpPr>
          <p:cNvPr id="52" name="Shape 49"/>
          <p:cNvSpPr/>
          <p:nvPr/>
        </p:nvSpPr>
        <p:spPr>
          <a:xfrm>
            <a:off x="6096305" y="1841602"/>
            <a:ext cx="5587898" cy="1015898"/>
          </a:xfrm>
          <a:prstGeom prst="roundRect">
            <a:avLst>
              <a:gd name="adj" fmla="val 9991"/>
            </a:avLst>
          </a:prstGeom>
          <a:solidFill>
            <a:srgbClr val="0F1B2D"/>
          </a:solidFill>
          <a:ln/>
        </p:spPr>
      </p:sp>
      <p:sp>
        <p:nvSpPr>
          <p:cNvPr id="53" name="Text 50"/>
          <p:cNvSpPr txBox="1"/>
          <p:nvPr/>
        </p:nvSpPr>
        <p:spPr>
          <a:xfrm>
            <a:off x="6235294" y="1930298"/>
            <a:ext cx="3174797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8FA3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마이크 · 16 kHz · 1초 클립</a:t>
            </a:r>
            <a:endParaRPr lang="en-US" sz="1150" dirty="0"/>
          </a:p>
        </p:txBody>
      </p:sp>
      <p:sp>
        <p:nvSpPr>
          <p:cNvPr id="54" name="Shape 51"/>
          <p:cNvSpPr/>
          <p:nvPr/>
        </p:nvSpPr>
        <p:spPr>
          <a:xfrm flipV="1">
            <a:off x="6349594" y="2253996"/>
            <a:ext cx="114300" cy="159106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6463894" y="2253996"/>
            <a:ext cx="114300" cy="159106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6578194" y="2413102"/>
            <a:ext cx="114300" cy="79553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 flipV="1">
            <a:off x="6692494" y="2413102"/>
            <a:ext cx="114300" cy="79553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 flipV="1">
            <a:off x="6806794" y="2214677"/>
            <a:ext cx="114300" cy="198425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>
            <a:off x="6921094" y="2214677"/>
            <a:ext cx="114300" cy="198425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60" name="Shape 57"/>
          <p:cNvSpPr/>
          <p:nvPr/>
        </p:nvSpPr>
        <p:spPr>
          <a:xfrm>
            <a:off x="7035394" y="2413102"/>
            <a:ext cx="114300" cy="118872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61" name="Shape 58"/>
          <p:cNvSpPr/>
          <p:nvPr/>
        </p:nvSpPr>
        <p:spPr>
          <a:xfrm flipV="1">
            <a:off x="7149694" y="2413102"/>
            <a:ext cx="114300" cy="118872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 flipV="1">
            <a:off x="7263994" y="2372868"/>
            <a:ext cx="114300" cy="39319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63" name="Shape 60"/>
          <p:cNvSpPr/>
          <p:nvPr/>
        </p:nvSpPr>
        <p:spPr>
          <a:xfrm>
            <a:off x="7378294" y="2372868"/>
            <a:ext cx="114300" cy="39319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64" name="Shape 61"/>
          <p:cNvSpPr/>
          <p:nvPr/>
        </p:nvSpPr>
        <p:spPr>
          <a:xfrm>
            <a:off x="7492594" y="2413102"/>
            <a:ext cx="114300" cy="218542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65" name="Shape 62"/>
          <p:cNvSpPr/>
          <p:nvPr/>
        </p:nvSpPr>
        <p:spPr>
          <a:xfrm flipV="1">
            <a:off x="7606894" y="2413102"/>
            <a:ext cx="114300" cy="218542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66" name="Shape 63"/>
          <p:cNvSpPr/>
          <p:nvPr/>
        </p:nvSpPr>
        <p:spPr>
          <a:xfrm flipV="1">
            <a:off x="7721194" y="2313432"/>
            <a:ext cx="114300" cy="99670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67" name="Shape 64"/>
          <p:cNvSpPr/>
          <p:nvPr/>
        </p:nvSpPr>
        <p:spPr>
          <a:xfrm>
            <a:off x="7835494" y="2313432"/>
            <a:ext cx="114300" cy="99670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68" name="Shape 65"/>
          <p:cNvSpPr/>
          <p:nvPr/>
        </p:nvSpPr>
        <p:spPr>
          <a:xfrm>
            <a:off x="7949794" y="2413102"/>
            <a:ext cx="114300" cy="20117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69" name="Shape 66"/>
          <p:cNvSpPr/>
          <p:nvPr/>
        </p:nvSpPr>
        <p:spPr>
          <a:xfrm flipV="1">
            <a:off x="8064094" y="2413102"/>
            <a:ext cx="114300" cy="20117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70" name="Shape 67"/>
          <p:cNvSpPr/>
          <p:nvPr/>
        </p:nvSpPr>
        <p:spPr>
          <a:xfrm flipV="1">
            <a:off x="8178394" y="2253996"/>
            <a:ext cx="114300" cy="159106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71" name="Shape 68"/>
          <p:cNvSpPr/>
          <p:nvPr/>
        </p:nvSpPr>
        <p:spPr>
          <a:xfrm>
            <a:off x="8292694" y="2253996"/>
            <a:ext cx="114300" cy="159106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72" name="Shape 69"/>
          <p:cNvSpPr/>
          <p:nvPr/>
        </p:nvSpPr>
        <p:spPr>
          <a:xfrm>
            <a:off x="8406994" y="2413102"/>
            <a:ext cx="114300" cy="59436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73" name="Shape 70"/>
          <p:cNvSpPr/>
          <p:nvPr/>
        </p:nvSpPr>
        <p:spPr>
          <a:xfrm flipV="1">
            <a:off x="8521294" y="2413102"/>
            <a:ext cx="114300" cy="59436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74" name="Shape 71"/>
          <p:cNvSpPr/>
          <p:nvPr/>
        </p:nvSpPr>
        <p:spPr>
          <a:xfrm flipV="1">
            <a:off x="8635594" y="2234794"/>
            <a:ext cx="114300" cy="178308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75" name="Shape 72"/>
          <p:cNvSpPr/>
          <p:nvPr/>
        </p:nvSpPr>
        <p:spPr>
          <a:xfrm>
            <a:off x="8749894" y="2234794"/>
            <a:ext cx="114300" cy="178308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76" name="Shape 73"/>
          <p:cNvSpPr/>
          <p:nvPr/>
        </p:nvSpPr>
        <p:spPr>
          <a:xfrm>
            <a:off x="8864194" y="2413102"/>
            <a:ext cx="114300" cy="79553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77" name="Shape 74"/>
          <p:cNvSpPr/>
          <p:nvPr/>
        </p:nvSpPr>
        <p:spPr>
          <a:xfrm flipV="1">
            <a:off x="8978494" y="2413102"/>
            <a:ext cx="114300" cy="79553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78" name="Shape 75"/>
          <p:cNvSpPr/>
          <p:nvPr/>
        </p:nvSpPr>
        <p:spPr>
          <a:xfrm flipV="1">
            <a:off x="9092794" y="2381098"/>
            <a:ext cx="114300" cy="32004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79" name="Shape 76"/>
          <p:cNvSpPr/>
          <p:nvPr/>
        </p:nvSpPr>
        <p:spPr>
          <a:xfrm>
            <a:off x="9207094" y="2381098"/>
            <a:ext cx="114300" cy="32004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80" name="Shape 77"/>
          <p:cNvSpPr/>
          <p:nvPr/>
        </p:nvSpPr>
        <p:spPr>
          <a:xfrm>
            <a:off x="9321394" y="2413102"/>
            <a:ext cx="114300" cy="118872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81" name="Shape 78"/>
          <p:cNvSpPr/>
          <p:nvPr/>
        </p:nvSpPr>
        <p:spPr>
          <a:xfrm flipV="1">
            <a:off x="9435694" y="2413102"/>
            <a:ext cx="114300" cy="118872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82" name="Shape 79"/>
          <p:cNvSpPr/>
          <p:nvPr/>
        </p:nvSpPr>
        <p:spPr>
          <a:xfrm flipV="1">
            <a:off x="9549994" y="2365553"/>
            <a:ext cx="114300" cy="47549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83" name="Shape 80"/>
          <p:cNvSpPr/>
          <p:nvPr/>
        </p:nvSpPr>
        <p:spPr>
          <a:xfrm>
            <a:off x="9664294" y="2365553"/>
            <a:ext cx="114300" cy="47549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84" name="Shape 81"/>
          <p:cNvSpPr/>
          <p:nvPr/>
        </p:nvSpPr>
        <p:spPr>
          <a:xfrm>
            <a:off x="9778594" y="2413102"/>
            <a:ext cx="114300" cy="198425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85" name="Shape 82"/>
          <p:cNvSpPr/>
          <p:nvPr/>
        </p:nvSpPr>
        <p:spPr>
          <a:xfrm flipV="1">
            <a:off x="9892894" y="2413102"/>
            <a:ext cx="114300" cy="198425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86" name="Shape 83"/>
          <p:cNvSpPr/>
          <p:nvPr/>
        </p:nvSpPr>
        <p:spPr>
          <a:xfrm flipV="1">
            <a:off x="10007194" y="2333549"/>
            <a:ext cx="114300" cy="79553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87" name="Shape 84"/>
          <p:cNvSpPr/>
          <p:nvPr/>
        </p:nvSpPr>
        <p:spPr>
          <a:xfrm>
            <a:off x="10121494" y="2333549"/>
            <a:ext cx="114300" cy="79553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88" name="Shape 85"/>
          <p:cNvSpPr/>
          <p:nvPr/>
        </p:nvSpPr>
        <p:spPr>
          <a:xfrm>
            <a:off x="10235794" y="2413102"/>
            <a:ext cx="114300" cy="23774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89" name="Shape 86"/>
          <p:cNvSpPr/>
          <p:nvPr/>
        </p:nvSpPr>
        <p:spPr>
          <a:xfrm flipV="1">
            <a:off x="10350094" y="2413102"/>
            <a:ext cx="114300" cy="23774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90" name="Shape 87"/>
          <p:cNvSpPr/>
          <p:nvPr/>
        </p:nvSpPr>
        <p:spPr>
          <a:xfrm flipV="1">
            <a:off x="10464394" y="2274113"/>
            <a:ext cx="114300" cy="138989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91" name="Shape 88"/>
          <p:cNvSpPr/>
          <p:nvPr/>
        </p:nvSpPr>
        <p:spPr>
          <a:xfrm>
            <a:off x="10578694" y="2274113"/>
            <a:ext cx="114300" cy="138989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92" name="Shape 89"/>
          <p:cNvSpPr/>
          <p:nvPr/>
        </p:nvSpPr>
        <p:spPr>
          <a:xfrm>
            <a:off x="10692994" y="2413102"/>
            <a:ext cx="114300" cy="39319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93" name="Shape 90"/>
          <p:cNvSpPr/>
          <p:nvPr/>
        </p:nvSpPr>
        <p:spPr>
          <a:xfrm flipV="1">
            <a:off x="10807294" y="2413102"/>
            <a:ext cx="114300" cy="39319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94" name="Shape 91"/>
          <p:cNvSpPr/>
          <p:nvPr/>
        </p:nvSpPr>
        <p:spPr>
          <a:xfrm flipV="1">
            <a:off x="10921594" y="2294230"/>
            <a:ext cx="114300" cy="118872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95" name="Shape 92"/>
          <p:cNvSpPr/>
          <p:nvPr/>
        </p:nvSpPr>
        <p:spPr>
          <a:xfrm>
            <a:off x="11035894" y="2294230"/>
            <a:ext cx="114300" cy="118872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96" name="Shape 93"/>
          <p:cNvSpPr/>
          <p:nvPr/>
        </p:nvSpPr>
        <p:spPr>
          <a:xfrm>
            <a:off x="11150194" y="2413102"/>
            <a:ext cx="114300" cy="47549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97" name="Shape 94"/>
          <p:cNvSpPr/>
          <p:nvPr/>
        </p:nvSpPr>
        <p:spPr>
          <a:xfrm flipV="1">
            <a:off x="11264494" y="2413102"/>
            <a:ext cx="114300" cy="47549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98" name="Shape 95"/>
          <p:cNvSpPr/>
          <p:nvPr/>
        </p:nvSpPr>
        <p:spPr>
          <a:xfrm>
            <a:off x="6096305" y="3206801"/>
            <a:ext cx="1688897" cy="761695"/>
          </a:xfrm>
          <a:prstGeom prst="roundRect">
            <a:avLst>
              <a:gd name="adj" fmla="val 11645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99" name="Text 96"/>
          <p:cNvSpPr txBox="1"/>
          <p:nvPr/>
        </p:nvSpPr>
        <p:spPr>
          <a:xfrm>
            <a:off x="6096305" y="3206801"/>
            <a:ext cx="1688897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DMA</a:t>
            </a:r>
            <a:endParaRPr lang="en-US" sz="14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20 ms 프레임 수집</a:t>
            </a:r>
            <a:endParaRPr lang="en-US" sz="1400" dirty="0"/>
          </a:p>
        </p:txBody>
      </p:sp>
      <p:sp>
        <p:nvSpPr>
          <p:cNvPr id="100" name="Shape 97"/>
          <p:cNvSpPr/>
          <p:nvPr/>
        </p:nvSpPr>
        <p:spPr>
          <a:xfrm>
            <a:off x="7785202" y="3504895"/>
            <a:ext cx="260604" cy="165506"/>
          </a:xfrm>
          <a:prstGeom prst="rightArrow">
            <a:avLst/>
          </a:prstGeom>
          <a:solidFill>
            <a:srgbClr val="B8791F"/>
          </a:solidFill>
          <a:ln/>
        </p:spPr>
      </p:sp>
      <p:sp>
        <p:nvSpPr>
          <p:cNvPr id="101" name="Shape 98"/>
          <p:cNvSpPr/>
          <p:nvPr/>
        </p:nvSpPr>
        <p:spPr>
          <a:xfrm>
            <a:off x="8044891" y="3206801"/>
            <a:ext cx="1688897" cy="761695"/>
          </a:xfrm>
          <a:prstGeom prst="roundRect">
            <a:avLst>
              <a:gd name="adj" fmla="val 11645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02" name="Text 99"/>
          <p:cNvSpPr txBox="1"/>
          <p:nvPr/>
        </p:nvSpPr>
        <p:spPr>
          <a:xfrm>
            <a:off x="8044891" y="3206801"/>
            <a:ext cx="1688897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MFCC</a:t>
            </a:r>
            <a:endParaRPr lang="en-US" sz="14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FFT → 음향 특징</a:t>
            </a:r>
            <a:endParaRPr lang="en-US" sz="1400" dirty="0"/>
          </a:p>
        </p:txBody>
      </p:sp>
      <p:sp>
        <p:nvSpPr>
          <p:cNvPr id="103" name="Shape 100"/>
          <p:cNvSpPr/>
          <p:nvPr/>
        </p:nvSpPr>
        <p:spPr>
          <a:xfrm>
            <a:off x="9734702" y="3504895"/>
            <a:ext cx="260604" cy="165506"/>
          </a:xfrm>
          <a:prstGeom prst="rightArrow">
            <a:avLst/>
          </a:prstGeom>
          <a:solidFill>
            <a:srgbClr val="B8791F"/>
          </a:solidFill>
          <a:ln/>
        </p:spPr>
      </p:sp>
      <p:sp>
        <p:nvSpPr>
          <p:cNvPr id="104" name="Shape 101"/>
          <p:cNvSpPr/>
          <p:nvPr/>
        </p:nvSpPr>
        <p:spPr>
          <a:xfrm>
            <a:off x="9994392" y="3206801"/>
            <a:ext cx="1688897" cy="761695"/>
          </a:xfrm>
          <a:prstGeom prst="roundRect">
            <a:avLst>
              <a:gd name="adj" fmla="val 11645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05" name="Text 102"/>
          <p:cNvSpPr txBox="1"/>
          <p:nvPr/>
        </p:nvSpPr>
        <p:spPr>
          <a:xfrm>
            <a:off x="9994392" y="3206801"/>
            <a:ext cx="1688897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CNN 추론</a:t>
            </a:r>
            <a:endParaRPr lang="en-US" sz="14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DS-CNN · 2.7 M MAC</a:t>
            </a:r>
            <a:endParaRPr lang="en-US" sz="1400" dirty="0"/>
          </a:p>
        </p:txBody>
      </p:sp>
      <p:sp>
        <p:nvSpPr>
          <p:cNvPr id="106" name="Shape 103"/>
          <p:cNvSpPr/>
          <p:nvPr/>
        </p:nvSpPr>
        <p:spPr>
          <a:xfrm>
            <a:off x="10839298" y="3968496"/>
            <a:ext cx="0" cy="412394"/>
          </a:xfrm>
          <a:prstGeom prst="line">
            <a:avLst/>
          </a:prstGeom>
          <a:noFill/>
          <a:ln w="63500">
            <a:solidFill>
              <a:srgbClr val="B8791F"/>
            </a:solidFill>
            <a:prstDash val="solid"/>
            <a:tailEnd type="triangle"/>
          </a:ln>
        </p:spPr>
      </p:sp>
      <p:sp>
        <p:nvSpPr>
          <p:cNvPr id="107" name="Text 104"/>
          <p:cNvSpPr txBox="1"/>
          <p:nvPr/>
        </p:nvSpPr>
        <p:spPr>
          <a:xfrm>
            <a:off x="6096305" y="4038905"/>
            <a:ext cx="4572000" cy="3557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출처 — 모델 Arm ML-zoo DS-CNN Small · 커널 CMSIS-NN · 전처리 CMSIS-DSP</a:t>
            </a:r>
            <a:endParaRPr lang="en-US" sz="95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데이터 Google Speech Commands v2 · 모두 공개 자산 · TFLite 참조와 bit-exact</a:t>
            </a:r>
            <a:endParaRPr lang="en-US" sz="950" dirty="0"/>
          </a:p>
        </p:txBody>
      </p:sp>
      <p:sp>
        <p:nvSpPr>
          <p:cNvPr id="108" name="Shape 105"/>
          <p:cNvSpPr/>
          <p:nvPr/>
        </p:nvSpPr>
        <p:spPr>
          <a:xfrm>
            <a:off x="6096305" y="4444898"/>
            <a:ext cx="5587898" cy="1079906"/>
          </a:xfrm>
          <a:prstGeom prst="roundRect">
            <a:avLst>
              <a:gd name="adj" fmla="val 9399"/>
            </a:avLst>
          </a:prstGeom>
          <a:solidFill>
            <a:srgbClr val="0F1B2D"/>
          </a:solidFill>
          <a:ln/>
        </p:spPr>
      </p:sp>
      <p:sp>
        <p:nvSpPr>
          <p:cNvPr id="109" name="Text 106"/>
          <p:cNvSpPr txBox="1"/>
          <p:nvPr/>
        </p:nvSpPr>
        <p:spPr>
          <a:xfrm>
            <a:off x="6235294" y="4533595"/>
            <a:ext cx="3810305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8FA3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결과: 12개 키워드 중 하나</a:t>
            </a:r>
            <a:endParaRPr lang="en-US" sz="1150" dirty="0"/>
          </a:p>
        </p:txBody>
      </p:sp>
      <p:sp>
        <p:nvSpPr>
          <p:cNvPr id="110" name="Shape 107"/>
          <p:cNvSpPr/>
          <p:nvPr/>
        </p:nvSpPr>
        <p:spPr>
          <a:xfrm>
            <a:off x="6299302" y="4774997"/>
            <a:ext cx="888797" cy="342900"/>
          </a:xfrm>
          <a:prstGeom prst="roundRect">
            <a:avLst>
              <a:gd name="adj" fmla="val 49867"/>
            </a:avLst>
          </a:prstGeom>
          <a:solidFill>
            <a:srgbClr val="E8A33D"/>
          </a:solidFill>
          <a:ln/>
        </p:spPr>
      </p:sp>
      <p:sp>
        <p:nvSpPr>
          <p:cNvPr id="111" name="Text 108"/>
          <p:cNvSpPr txBox="1"/>
          <p:nvPr/>
        </p:nvSpPr>
        <p:spPr>
          <a:xfrm>
            <a:off x="6299302" y="4774997"/>
            <a:ext cx="888797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1B2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yes</a:t>
            </a:r>
            <a:endParaRPr lang="en-US" sz="1200" dirty="0"/>
          </a:p>
        </p:txBody>
      </p:sp>
      <p:sp>
        <p:nvSpPr>
          <p:cNvPr id="112" name="Text 109"/>
          <p:cNvSpPr txBox="1"/>
          <p:nvPr/>
        </p:nvSpPr>
        <p:spPr>
          <a:xfrm>
            <a:off x="7302398" y="4839005"/>
            <a:ext cx="4317797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BFD8D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 · up · down · left · right · on · off · stop · go · silence · unknown</a:t>
            </a:r>
            <a:endParaRPr lang="en-US" sz="1100" dirty="0"/>
          </a:p>
        </p:txBody>
      </p:sp>
      <p:sp>
        <p:nvSpPr>
          <p:cNvPr id="113" name="Text 110"/>
          <p:cNvSpPr txBox="1"/>
          <p:nvPr/>
        </p:nvSpPr>
        <p:spPr>
          <a:xfrm>
            <a:off x="6235294" y="5193792"/>
            <a:ext cx="5333695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F5F4E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+ 동시에 1 kHz 제어 루프 ISR (응답 ≤ 20 µs)가 돌아야 함</a:t>
            </a:r>
            <a:endParaRPr lang="en-US" sz="1250" dirty="0"/>
          </a:p>
        </p:txBody>
      </p:sp>
      <p:sp>
        <p:nvSpPr>
          <p:cNvPr id="114" name="Shape 111"/>
          <p:cNvSpPr/>
          <p:nvPr/>
        </p:nvSpPr>
        <p:spPr>
          <a:xfrm>
            <a:off x="508406" y="5524805"/>
            <a:ext cx="3606394" cy="444398"/>
          </a:xfrm>
          <a:prstGeom prst="roundRect">
            <a:avLst>
              <a:gd name="adj" fmla="val 14198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15" name="Shape 112"/>
          <p:cNvSpPr/>
          <p:nvPr/>
        </p:nvSpPr>
        <p:spPr>
          <a:xfrm>
            <a:off x="508406" y="5524805"/>
            <a:ext cx="51206" cy="444398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16" name="Text 113"/>
          <p:cNvSpPr txBox="1"/>
          <p:nvPr/>
        </p:nvSpPr>
        <p:spPr>
          <a:xfrm>
            <a:off x="698602" y="5524805"/>
            <a:ext cx="3289097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배치 — </a:t>
            </a:r>
            <a:pPr algn="l" indent="0" marL="0">
              <a:buNone/>
            </a:pPr>
            <a:r>
              <a:rPr lang="en-US" sz="1250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가중치 29 KB + 버퍼가 TCM 16 KB에 다 안 들어감</a:t>
            </a:r>
            <a:endParaRPr lang="en-US" sz="1250" dirty="0"/>
          </a:p>
        </p:txBody>
      </p:sp>
      <p:sp>
        <p:nvSpPr>
          <p:cNvPr id="117" name="Shape 114"/>
          <p:cNvSpPr/>
          <p:nvPr/>
        </p:nvSpPr>
        <p:spPr>
          <a:xfrm>
            <a:off x="4292194" y="5524805"/>
            <a:ext cx="3606394" cy="444398"/>
          </a:xfrm>
          <a:prstGeom prst="roundRect">
            <a:avLst>
              <a:gd name="adj" fmla="val 14198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18" name="Shape 115"/>
          <p:cNvSpPr/>
          <p:nvPr/>
        </p:nvSpPr>
        <p:spPr>
          <a:xfrm>
            <a:off x="4292194" y="5524805"/>
            <a:ext cx="51206" cy="444398"/>
          </a:xfrm>
          <a:prstGeom prst="rect">
            <a:avLst/>
          </a:prstGeom>
          <a:solidFill>
            <a:srgbClr val="2FA6A0"/>
          </a:solidFill>
          <a:ln/>
        </p:spPr>
      </p:sp>
      <p:sp>
        <p:nvSpPr>
          <p:cNvPr id="119" name="Text 116"/>
          <p:cNvSpPr txBox="1"/>
          <p:nvPr/>
        </p:nvSpPr>
        <p:spPr>
          <a:xfrm>
            <a:off x="4483303" y="5524805"/>
            <a:ext cx="3289097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경합 — </a:t>
            </a:r>
            <a:pPr algn="l" indent="0" marL="0">
              <a:buNone/>
            </a:pPr>
            <a:r>
              <a:rPr lang="en-US" sz="1250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DMA와 CNN이 같은 SRAM 뱅크를 다툼</a:t>
            </a:r>
            <a:endParaRPr lang="en-US" sz="1250" dirty="0"/>
          </a:p>
        </p:txBody>
      </p:sp>
      <p:sp>
        <p:nvSpPr>
          <p:cNvPr id="120" name="Shape 117"/>
          <p:cNvSpPr/>
          <p:nvPr/>
        </p:nvSpPr>
        <p:spPr>
          <a:xfrm>
            <a:off x="8076895" y="5524805"/>
            <a:ext cx="3606394" cy="444398"/>
          </a:xfrm>
          <a:prstGeom prst="roundRect">
            <a:avLst>
              <a:gd name="adj" fmla="val 14198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21" name="Shape 118"/>
          <p:cNvSpPr/>
          <p:nvPr/>
        </p:nvSpPr>
        <p:spPr>
          <a:xfrm>
            <a:off x="8076895" y="5524805"/>
            <a:ext cx="51206" cy="444398"/>
          </a:xfrm>
          <a:prstGeom prst="rect">
            <a:avLst/>
          </a:prstGeom>
          <a:solidFill>
            <a:srgbClr val="0F1B2D"/>
          </a:solidFill>
          <a:ln/>
        </p:spPr>
      </p:sp>
      <p:sp>
        <p:nvSpPr>
          <p:cNvPr id="122" name="Text 119"/>
          <p:cNvSpPr txBox="1"/>
          <p:nvPr/>
        </p:nvSpPr>
        <p:spPr>
          <a:xfrm>
            <a:off x="8267090" y="5524805"/>
            <a:ext cx="3289097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오프로드 — </a:t>
            </a:r>
            <a:pPr algn="l" indent="0" marL="0">
              <a:buNone/>
            </a:pPr>
            <a:r>
              <a:rPr lang="en-US" sz="1250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가속기는 큰 레이어만 이득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700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8406" y="0"/>
            <a:ext cx="11175797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3. 검증 및 결과 — PoC 결과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08406" y="1015898"/>
            <a:ext cx="11175797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3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세 가지 HW 구조 모두 정확도 손실 없이 cycle −[__]~[__]% · 면적 −[__]~[__]%</a:t>
            </a:r>
            <a:endParaRPr lang="en-US" sz="2300" dirty="0"/>
          </a:p>
        </p:txBody>
      </p:sp>
      <p:sp>
        <p:nvSpPr>
          <p:cNvPr id="6" name="Shape 3"/>
          <p:cNvSpPr/>
          <p:nvPr/>
        </p:nvSpPr>
        <p:spPr>
          <a:xfrm>
            <a:off x="508406" y="1524305"/>
            <a:ext cx="6096305" cy="3301898"/>
          </a:xfrm>
          <a:prstGeom prst="roundRect">
            <a:avLst>
              <a:gd name="adj" fmla="val 3074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143000" y="4381805"/>
            <a:ext cx="5206594" cy="0"/>
          </a:xfrm>
          <a:prstGeom prst="line">
            <a:avLst/>
          </a:prstGeom>
          <a:noFill/>
          <a:ln w="25400">
            <a:solidFill>
              <a:srgbClr val="B3B9C4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 flipV="1">
            <a:off x="1143000" y="1841602"/>
            <a:ext cx="0" cy="2540203"/>
          </a:xfrm>
          <a:prstGeom prst="line">
            <a:avLst/>
          </a:prstGeom>
          <a:noFill/>
          <a:ln w="25400">
            <a:solidFill>
              <a:srgbClr val="B3B9C4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2413102" y="1904695"/>
            <a:ext cx="0" cy="2476195"/>
          </a:xfrm>
          <a:prstGeom prst="line">
            <a:avLst/>
          </a:prstGeom>
          <a:noFill/>
          <a:ln w="25400">
            <a:solidFill>
              <a:srgbClr val="CBD2DC"/>
            </a:solidFill>
            <a:prstDash val="dash"/>
          </a:ln>
        </p:spPr>
      </p:sp>
      <p:sp>
        <p:nvSpPr>
          <p:cNvPr id="10" name="Shape 7"/>
          <p:cNvSpPr/>
          <p:nvPr/>
        </p:nvSpPr>
        <p:spPr>
          <a:xfrm>
            <a:off x="3683203" y="1904695"/>
            <a:ext cx="0" cy="2476195"/>
          </a:xfrm>
          <a:prstGeom prst="line">
            <a:avLst/>
          </a:prstGeom>
          <a:noFill/>
          <a:ln w="25400">
            <a:solidFill>
              <a:srgbClr val="CBD2DC"/>
            </a:solidFill>
            <a:prstDash val="dash"/>
          </a:ln>
        </p:spPr>
      </p:sp>
      <p:sp>
        <p:nvSpPr>
          <p:cNvPr id="11" name="Shape 8"/>
          <p:cNvSpPr/>
          <p:nvPr/>
        </p:nvSpPr>
        <p:spPr>
          <a:xfrm>
            <a:off x="5778094" y="1904695"/>
            <a:ext cx="0" cy="2476195"/>
          </a:xfrm>
          <a:prstGeom prst="line">
            <a:avLst/>
          </a:prstGeom>
          <a:noFill/>
          <a:ln w="25400">
            <a:solidFill>
              <a:srgbClr val="CBD2DC"/>
            </a:solidFill>
            <a:prstDash val="dash"/>
          </a:ln>
        </p:spPr>
      </p:sp>
      <p:sp>
        <p:nvSpPr>
          <p:cNvPr id="12" name="Shape 9"/>
          <p:cNvSpPr/>
          <p:nvPr/>
        </p:nvSpPr>
        <p:spPr>
          <a:xfrm>
            <a:off x="2197303" y="2387498"/>
            <a:ext cx="177394" cy="177394"/>
          </a:xfrm>
          <a:prstGeom prst="ellipse">
            <a:avLst/>
          </a:prstGeom>
          <a:solidFill>
            <a:srgbClr val="6B7280"/>
          </a:solidFill>
          <a:ln/>
        </p:spPr>
      </p:sp>
      <p:sp>
        <p:nvSpPr>
          <p:cNvPr id="13" name="Shape 10"/>
          <p:cNvSpPr/>
          <p:nvPr/>
        </p:nvSpPr>
        <p:spPr>
          <a:xfrm>
            <a:off x="3467405" y="3022092"/>
            <a:ext cx="177394" cy="177394"/>
          </a:xfrm>
          <a:prstGeom prst="ellipse">
            <a:avLst/>
          </a:prstGeom>
          <a:solidFill>
            <a:srgbClr val="6B7280"/>
          </a:solidFill>
          <a:ln/>
        </p:spPr>
      </p:sp>
      <p:sp>
        <p:nvSpPr>
          <p:cNvPr id="14" name="Shape 11"/>
          <p:cNvSpPr/>
          <p:nvPr/>
        </p:nvSpPr>
        <p:spPr>
          <a:xfrm>
            <a:off x="5562295" y="3625596"/>
            <a:ext cx="177394" cy="177394"/>
          </a:xfrm>
          <a:prstGeom prst="ellipse">
            <a:avLst/>
          </a:prstGeom>
          <a:solidFill>
            <a:srgbClr val="6B7280"/>
          </a:solidFill>
          <a:ln/>
        </p:spPr>
      </p:sp>
      <p:sp>
        <p:nvSpPr>
          <p:cNvPr id="15" name="Shape 12"/>
          <p:cNvSpPr/>
          <p:nvPr/>
        </p:nvSpPr>
        <p:spPr>
          <a:xfrm flipV="1">
            <a:off x="1854403" y="2577694"/>
            <a:ext cx="381305" cy="737006"/>
          </a:xfrm>
          <a:prstGeom prst="line">
            <a:avLst/>
          </a:prstGeom>
          <a:noFill/>
          <a:ln w="63500">
            <a:solidFill>
              <a:srgbClr val="E8A33D"/>
            </a:solidFill>
            <a:prstDash val="solid"/>
            <a:tailEnd type="triangle"/>
          </a:ln>
        </p:spPr>
      </p:sp>
      <p:sp>
        <p:nvSpPr>
          <p:cNvPr id="16" name="Shape 13"/>
          <p:cNvSpPr/>
          <p:nvPr/>
        </p:nvSpPr>
        <p:spPr>
          <a:xfrm>
            <a:off x="1752905" y="3213202"/>
            <a:ext cx="202997" cy="202997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7" name="Shape 14"/>
          <p:cNvSpPr/>
          <p:nvPr/>
        </p:nvSpPr>
        <p:spPr>
          <a:xfrm flipV="1">
            <a:off x="3060497" y="3213202"/>
            <a:ext cx="444398" cy="737006"/>
          </a:xfrm>
          <a:prstGeom prst="line">
            <a:avLst/>
          </a:prstGeom>
          <a:noFill/>
          <a:ln w="63500">
            <a:solidFill>
              <a:srgbClr val="E8A33D"/>
            </a:solidFill>
            <a:prstDash val="solid"/>
            <a:tailEnd type="triangle"/>
          </a:ln>
        </p:spPr>
      </p:sp>
      <p:sp>
        <p:nvSpPr>
          <p:cNvPr id="18" name="Shape 15"/>
          <p:cNvSpPr/>
          <p:nvPr/>
        </p:nvSpPr>
        <p:spPr>
          <a:xfrm>
            <a:off x="2958998" y="3847795"/>
            <a:ext cx="202997" cy="202997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9" name="Shape 16"/>
          <p:cNvSpPr/>
          <p:nvPr/>
        </p:nvSpPr>
        <p:spPr>
          <a:xfrm flipV="1">
            <a:off x="5169103" y="3810305"/>
            <a:ext cx="431597" cy="418795"/>
          </a:xfrm>
          <a:prstGeom prst="line">
            <a:avLst/>
          </a:prstGeom>
          <a:noFill/>
          <a:ln w="63500">
            <a:solidFill>
              <a:srgbClr val="E8A33D"/>
            </a:solidFill>
            <a:prstDash val="solid"/>
            <a:tailEnd type="triangle"/>
          </a:ln>
        </p:spPr>
      </p:sp>
      <p:sp>
        <p:nvSpPr>
          <p:cNvPr id="20" name="Shape 17"/>
          <p:cNvSpPr/>
          <p:nvPr/>
        </p:nvSpPr>
        <p:spPr>
          <a:xfrm>
            <a:off x="5067605" y="4127602"/>
            <a:ext cx="202997" cy="202997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21" name="Shape 18"/>
          <p:cNvSpPr/>
          <p:nvPr/>
        </p:nvSpPr>
        <p:spPr>
          <a:xfrm flipV="1">
            <a:off x="3060497" y="3714293"/>
            <a:ext cx="2590495" cy="235001"/>
          </a:xfrm>
          <a:prstGeom prst="line">
            <a:avLst/>
          </a:prstGeom>
          <a:noFill/>
          <a:ln w="31750">
            <a:solidFill>
              <a:srgbClr val="1F7F7A"/>
            </a:solidFill>
            <a:prstDash val="dash"/>
          </a:ln>
        </p:spPr>
      </p:sp>
      <p:sp>
        <p:nvSpPr>
          <p:cNvPr id="22" name="Text 19"/>
          <p:cNvSpPr txBox="1"/>
          <p:nvPr/>
        </p:nvSpPr>
        <p:spPr>
          <a:xfrm>
            <a:off x="2387498" y="2704795"/>
            <a:ext cx="1143000" cy="405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B8791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cycle −[__]%</a:t>
            </a:r>
            <a:endParaRPr lang="en-US" sz="1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B8791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면적 −[__]%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3657600" y="3429000"/>
            <a:ext cx="1143000" cy="405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B8791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cycle −[__]%</a:t>
            </a:r>
            <a:endParaRPr lang="en-US" sz="1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B8791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면적 −[__]%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4063594" y="4013302"/>
            <a:ext cx="1143000" cy="405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B8791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cycle −[__]%</a:t>
            </a:r>
            <a:endParaRPr lang="en-US" sz="1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B8791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면적 −[__]%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634594" y="1625803"/>
            <a:ext cx="1904695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추론 cycle ↑</a:t>
            </a:r>
            <a:endParaRPr lang="en-US" sz="1150" dirty="0"/>
          </a:p>
        </p:txBody>
      </p:sp>
      <p:sp>
        <p:nvSpPr>
          <p:cNvPr id="26" name="Text 23"/>
          <p:cNvSpPr txBox="1"/>
          <p:nvPr/>
        </p:nvSpPr>
        <p:spPr>
          <a:xfrm>
            <a:off x="4546397" y="1625803"/>
            <a:ext cx="1904695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면적 (상대) →</a:t>
            </a:r>
            <a:endParaRPr lang="en-US" sz="1150" dirty="0"/>
          </a:p>
        </p:txBody>
      </p:sp>
      <p:sp>
        <p:nvSpPr>
          <p:cNvPr id="27" name="Text 24"/>
          <p:cNvSpPr txBox="1"/>
          <p:nvPr/>
        </p:nvSpPr>
        <p:spPr>
          <a:xfrm>
            <a:off x="1904695" y="4432097"/>
            <a:ext cx="1015898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Base · ≤170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3174797" y="4432097"/>
            <a:ext cx="1015898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+TCM · ≤280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5143500" y="4432097"/>
            <a:ext cx="1270102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+TCM+MAC · ≤470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4317797" y="1904695"/>
            <a:ext cx="2158898" cy="6986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● </a:t>
            </a:r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사람이 정한 HW + 기본 SW</a:t>
            </a:r>
            <a:endParaRPr lang="en-US" sz="115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B8791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● </a:t>
            </a:r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AI가 HW·SW 함께 선택</a:t>
            </a:r>
            <a:endParaRPr lang="en-US" sz="115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F7F7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- - </a:t>
            </a:r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+TCM 결과 = +MAC 초기 성능</a:t>
            </a:r>
            <a:endParaRPr lang="en-US" sz="1150" dirty="0"/>
          </a:p>
        </p:txBody>
      </p:sp>
      <p:sp>
        <p:nvSpPr>
          <p:cNvPr id="31" name="Text 28"/>
          <p:cNvSpPr txBox="1"/>
          <p:nvPr/>
        </p:nvSpPr>
        <p:spPr>
          <a:xfrm>
            <a:off x="1270102" y="1904695"/>
            <a:ext cx="2540203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[예시 — 실측으로 교체]</a:t>
            </a:r>
            <a:endParaRPr lang="en-US" sz="1100" dirty="0"/>
          </a:p>
        </p:txBody>
      </p:sp>
      <p:sp>
        <p:nvSpPr>
          <p:cNvPr id="32" name="Text 29"/>
          <p:cNvSpPr txBox="1"/>
          <p:nvPr/>
        </p:nvSpPr>
        <p:spPr>
          <a:xfrm>
            <a:off x="508406" y="4902098"/>
            <a:ext cx="6096305" cy="405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면적(상대)</a:t>
            </a:r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= 구성 블록 비용의 합. </a:t>
            </a:r>
            <a:pPr algn="l"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SRAM 1 KB = 1</a:t>
            </a:r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을 기준으로 각 IP의 면적을 대략적인 상대값으로 가정해 PoC 결과를 분석했으며, 실제 수치로 교체 가능</a:t>
            </a:r>
            <a:endParaRPr lang="en-US" sz="10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32397" y="1524305"/>
          <a:ext cx="4850892" cy="914400"/>
        </p:xfrm>
        <a:graphic>
          <a:graphicData uri="http://schemas.openxmlformats.org/drawingml/2006/table">
            <a:tbl>
              <a:tblPr/>
              <a:tblGrid>
                <a:gridCol w="1904695"/>
                <a:gridCol w="1333195"/>
                <a:gridCol w="1613002"/>
              </a:tblGrid>
              <a:tr h="38130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HW 구조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초기 성능 (cycle)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최적화 루프 결과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</a:tr>
              <a:tr h="38130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Base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[___] M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B8791F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[___] M · −[__]%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130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Base + TCM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[___] M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B8791F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[___] M · −[__]%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38130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Base + TCM + MAC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[___] M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B8791F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[___] M · −[__]%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32397" y="3364992"/>
          <a:ext cx="4850892" cy="914400"/>
        </p:xfrm>
        <a:graphic>
          <a:graphicData uri="http://schemas.openxmlformats.org/drawingml/2006/table">
            <a:tbl>
              <a:tblPr/>
              <a:tblGrid>
                <a:gridCol w="1904695"/>
                <a:gridCol w="1333195"/>
                <a:gridCol w="1613002"/>
              </a:tblGrid>
              <a:tr h="38130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HW 구조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초기 면적 (상대)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최적화 루프 결과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</a:tr>
              <a:tr h="38130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Base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[___]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B8791F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[___] · −[__]%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130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Base + TCM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[___]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B8791F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[___] · −[__]%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38130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Base + TCM + MAC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[___]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B8791F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[___] · −[__]%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5" name="Shape 30"/>
          <p:cNvSpPr/>
          <p:nvPr/>
        </p:nvSpPr>
        <p:spPr>
          <a:xfrm>
            <a:off x="508406" y="5372100"/>
            <a:ext cx="6451092" cy="787298"/>
          </a:xfrm>
          <a:prstGeom prst="roundRect">
            <a:avLst>
              <a:gd name="adj" fmla="val 9640"/>
            </a:avLst>
          </a:prstGeom>
          <a:solidFill>
            <a:srgbClr val="0F1B2D"/>
          </a:solidFill>
          <a:ln/>
        </p:spPr>
      </p:sp>
      <p:sp>
        <p:nvSpPr>
          <p:cNvPr id="36" name="Text 31"/>
          <p:cNvSpPr txBox="1"/>
          <p:nvPr/>
        </p:nvSpPr>
        <p:spPr>
          <a:xfrm>
            <a:off x="685800" y="5447995"/>
            <a:ext cx="6096305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8FA3B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AI 반복 최적화 + 개발자 검토 = 루프 1회 · </a:t>
            </a:r>
            <a:pPr algn="l" indent="0" marL="0">
              <a:buNone/>
            </a:pPr>
            <a:r>
              <a:rPr lang="en-US" sz="1100" b="1" dirty="0">
                <a:solidFill>
                  <a:srgbClr val="E8A33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4회</a:t>
            </a:r>
            <a:pPr algn="l" indent="0" marL="0">
              <a:buNone/>
            </a:pPr>
            <a:r>
              <a:rPr lang="en-US" sz="1100" dirty="0">
                <a:solidFill>
                  <a:srgbClr val="8FA3B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로 얻은 결과</a:t>
            </a:r>
            <a:endParaRPr lang="en-US" sz="1100" dirty="0"/>
          </a:p>
        </p:txBody>
      </p:sp>
      <p:sp>
        <p:nvSpPr>
          <p:cNvPr id="37" name="Text 32"/>
          <p:cNvSpPr txBox="1"/>
          <p:nvPr/>
        </p:nvSpPr>
        <p:spPr>
          <a:xfrm>
            <a:off x="685800" y="5650992"/>
            <a:ext cx="6096305" cy="4828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F5F4E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루프마다 AI가 실험 [__]회 → 개발자가 근거 검토 · HW 변경 승인 → 다음 루프. 4회 만에 세 구조 모두 수렴 — 총 실험 [__]회 · [__]시간</a:t>
            </a:r>
            <a:endParaRPr lang="en-US" sz="1150" dirty="0"/>
          </a:p>
        </p:txBody>
      </p:sp>
      <p:sp>
        <p:nvSpPr>
          <p:cNvPr id="38" name="Shape 33"/>
          <p:cNvSpPr/>
          <p:nvPr/>
        </p:nvSpPr>
        <p:spPr>
          <a:xfrm>
            <a:off x="7188098" y="5372100"/>
            <a:ext cx="2184502" cy="787298"/>
          </a:xfrm>
          <a:prstGeom prst="roundRect">
            <a:avLst>
              <a:gd name="adj" fmla="val 9640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39" name="Text 34"/>
          <p:cNvSpPr txBox="1"/>
          <p:nvPr/>
        </p:nvSpPr>
        <p:spPr>
          <a:xfrm>
            <a:off x="7340803" y="5460797"/>
            <a:ext cx="1904695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RTL 시뮬 대비 · 실행 1회</a:t>
            </a:r>
            <a:endParaRPr lang="en-US" sz="1050" dirty="0"/>
          </a:p>
        </p:txBody>
      </p:sp>
      <p:sp>
        <p:nvSpPr>
          <p:cNvPr id="40" name="Text 35"/>
          <p:cNvSpPr txBox="1"/>
          <p:nvPr/>
        </p:nvSpPr>
        <p:spPr>
          <a:xfrm>
            <a:off x="7340803" y="5715000"/>
            <a:ext cx="1904695" cy="3172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strike="sngStrike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약 60분</a:t>
            </a:r>
            <a:pPr algn="l" indent="0" marL="0">
              <a:buNone/>
            </a:pPr>
            <a:r>
              <a:rPr lang="en-US" sz="16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→ </a:t>
            </a:r>
            <a:pPr algn="l" indent="0" marL="0">
              <a:buNone/>
            </a:pPr>
            <a:r>
              <a:rPr lang="en-US" sz="1600" b="1" dirty="0">
                <a:solidFill>
                  <a:srgbClr val="1F7F7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1분 이내</a:t>
            </a:r>
            <a:endParaRPr lang="en-US" sz="1600" dirty="0"/>
          </a:p>
        </p:txBody>
      </p:sp>
      <p:sp>
        <p:nvSpPr>
          <p:cNvPr id="41" name="Shape 36"/>
          <p:cNvSpPr/>
          <p:nvPr/>
        </p:nvSpPr>
        <p:spPr>
          <a:xfrm>
            <a:off x="9499702" y="5372100"/>
            <a:ext cx="2184502" cy="787298"/>
          </a:xfrm>
          <a:prstGeom prst="roundRect">
            <a:avLst>
              <a:gd name="adj" fmla="val 9640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42" name="Text 37"/>
          <p:cNvSpPr txBox="1"/>
          <p:nvPr/>
        </p:nvSpPr>
        <p:spPr>
          <a:xfrm>
            <a:off x="9651492" y="5460797"/>
            <a:ext cx="1904695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에뮬레이터 대비 · 실행 1회</a:t>
            </a:r>
            <a:endParaRPr lang="en-US" sz="1050" dirty="0"/>
          </a:p>
        </p:txBody>
      </p:sp>
      <p:sp>
        <p:nvSpPr>
          <p:cNvPr id="43" name="Text 38"/>
          <p:cNvSpPr txBox="1"/>
          <p:nvPr/>
        </p:nvSpPr>
        <p:spPr>
          <a:xfrm>
            <a:off x="9651492" y="5715000"/>
            <a:ext cx="1904695" cy="3172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strike="sngStrike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약 10분</a:t>
            </a:r>
            <a:pPr algn="l" indent="0" marL="0">
              <a:buNone/>
            </a:pPr>
            <a:r>
              <a:rPr lang="en-US" sz="16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→ </a:t>
            </a:r>
            <a:pPr algn="l" indent="0" marL="0">
              <a:buNone/>
            </a:pPr>
            <a:r>
              <a:rPr lang="en-US" sz="1600" b="1" dirty="0">
                <a:solidFill>
                  <a:srgbClr val="1F7F7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1분 이내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700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8406" y="0"/>
            <a:ext cx="11175797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4. 기대효과 · 마무리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08406" y="1015898"/>
            <a:ext cx="11175797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실리콘을 기다리지 않습니다. 돌리고, 읽고, 고칩니다.</a:t>
            </a:r>
            <a:endParaRPr lang="en-US" sz="3400" dirty="0"/>
          </a:p>
        </p:txBody>
      </p:sp>
      <p:sp>
        <p:nvSpPr>
          <p:cNvPr id="6" name="Shape 3"/>
          <p:cNvSpPr/>
          <p:nvPr/>
        </p:nvSpPr>
        <p:spPr>
          <a:xfrm>
            <a:off x="508406" y="1904695"/>
            <a:ext cx="5499202" cy="3047695"/>
          </a:xfrm>
          <a:prstGeom prst="roundRect">
            <a:avLst>
              <a:gd name="adj" fmla="val 3330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08406" y="1904695"/>
            <a:ext cx="5499202" cy="38405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787298" y="2133295"/>
            <a:ext cx="4940503" cy="3172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정성적 효과</a:t>
            </a:r>
            <a:endParaRPr lang="en-US" sz="1900" dirty="0"/>
          </a:p>
        </p:txBody>
      </p:sp>
      <p:sp>
        <p:nvSpPr>
          <p:cNvPr id="9" name="Text 6"/>
          <p:cNvSpPr txBox="1"/>
          <p:nvPr/>
        </p:nvSpPr>
        <p:spPr>
          <a:xfrm>
            <a:off x="787298" y="2564892"/>
            <a:ext cx="4940503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HW·SW 최적화까지 실리콘 전에 — 기존 FPGA·에뮬레이터 흐름 앞에 추가되는 단계</a:t>
            </a:r>
            <a:endParaRPr lang="en-US" sz="1500" dirty="0"/>
          </a:p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"왜 느린가"에 프로파일·경합 창이라는 근거로 답함</a:t>
            </a:r>
            <a:endParaRPr lang="en-US" sz="1500" dirty="0"/>
          </a:p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HW 결정에 면적 비용이 항상 따라붙어 공짜 답이 없음</a:t>
            </a:r>
            <a:endParaRPr lang="en-US" sz="1500" dirty="0"/>
          </a:p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반복은 AI, 검토·승인은 사람 — 역할이 분리됨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6185002" y="1904695"/>
            <a:ext cx="5499202" cy="3047695"/>
          </a:xfrm>
          <a:prstGeom prst="roundRect">
            <a:avLst>
              <a:gd name="adj" fmla="val 3330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6185002" y="1904695"/>
            <a:ext cx="5499202" cy="38405"/>
          </a:xfrm>
          <a:prstGeom prst="rect">
            <a:avLst/>
          </a:prstGeom>
          <a:solidFill>
            <a:srgbClr val="2FA6A0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6463894" y="2133295"/>
            <a:ext cx="4940503" cy="3172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정량적 효과</a:t>
            </a:r>
            <a:endParaRPr lang="en-US" sz="1900" dirty="0"/>
          </a:p>
        </p:txBody>
      </p:sp>
      <p:sp>
        <p:nvSpPr>
          <p:cNvPr id="13" name="Text 10"/>
          <p:cNvSpPr txBox="1"/>
          <p:nvPr/>
        </p:nvSpPr>
        <p:spPr>
          <a:xfrm>
            <a:off x="6463894" y="2564892"/>
            <a:ext cx="4940503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실행 1회 1분 이내 — RTL 시뮬레이션 약 60분, 에뮬레이터 약 10분 대비</a:t>
            </a:r>
            <a:endParaRPr lang="en-US" sz="1500" dirty="0"/>
          </a:p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AI 반복 + 개발자 검토 루프 4회로 수렴 — 총 실험 [__]회 · [__]시간</a:t>
            </a:r>
            <a:endParaRPr lang="en-US" sz="1500" dirty="0"/>
          </a:p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같은 SW·같은 정확도로 추론 cycle −[__]%, 면적 −[__]%</a:t>
            </a:r>
            <a:endParaRPr lang="en-US" sz="1500" dirty="0"/>
          </a:p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탐색 기간 [__]일 → [__]시간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508406" y="5143500"/>
            <a:ext cx="11175797" cy="761695"/>
          </a:xfrm>
          <a:prstGeom prst="roundRect">
            <a:avLst>
              <a:gd name="adj" fmla="val 13325"/>
            </a:avLst>
          </a:prstGeom>
          <a:solidFill>
            <a:srgbClr val="0F1B2D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737006" y="5143500"/>
            <a:ext cx="698602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8FA3B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다음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1460297" y="5143500"/>
            <a:ext cx="7619695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F5F4E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실제 과제 워크로드 투입 · RTL 파형과 WaveScope 교차 검증으로 정합성 관리 · HW knob 범위 확대(버스 우선순위·캐시 정책)</a:t>
            </a:r>
            <a:endParaRPr lang="en-US" sz="1350" dirty="0"/>
          </a:p>
        </p:txBody>
      </p:sp>
      <p:sp>
        <p:nvSpPr>
          <p:cNvPr id="17" name="Text 14"/>
          <p:cNvSpPr txBox="1"/>
          <p:nvPr/>
        </p:nvSpPr>
        <p:spPr>
          <a:xfrm>
            <a:off x="9271102" y="5143500"/>
            <a:ext cx="2221992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감사합니다 · Q&amp;A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700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8406" y="0"/>
            <a:ext cx="11175797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부록 — 요구사항 분석: 기존 수단과의 비교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08406" y="1015898"/>
            <a:ext cx="11175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초 단위 루프에 필요한 것 다섯 가지, 기존 수단은 하나씩 빠져 있습니다</a:t>
            </a:r>
            <a:endParaRPr lang="en-US" sz="30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8406" y="1841602"/>
          <a:ext cx="11175797" cy="914400"/>
        </p:xfrm>
        <a:graphic>
          <a:graphicData uri="http://schemas.openxmlformats.org/drawingml/2006/table">
            <a:tbl>
              <a:tblPr/>
              <a:tblGrid>
                <a:gridCol w="3130906"/>
                <a:gridCol w="2012594"/>
                <a:gridCol w="2012594"/>
                <a:gridCol w="2012594"/>
                <a:gridCol w="2006194"/>
              </a:tblGrid>
              <a:tr h="47000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필요한 것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RTL 시뮬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FPGA · 에뮬레이터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기능(LT) 시뮬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이 과제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</a:tr>
              <a:tr h="47000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R1 · SW를 개발할 수 있는 속도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B8791F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✕ 수 KIPS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○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○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7F7A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○ 50배+ vs RTL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000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R2 · cycle 수준 정확도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○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○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B8791F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✕ 타이밍 없음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7F7A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○ 99.7%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47000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R3 · 원인을 보여주는 분석 데이터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△ 파형뿐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△ 프로브·재합성 필요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△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7F7A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○ callgrind + 파형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000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R4 · HW 구조를 바꿔 볼 수 있음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B8791F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✕ RTL 재작성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B8791F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✕ 재합성 수 시간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△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7F7A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○ config 한 줄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47000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R5 · 반복을 사람 대신 돌릴 수 있음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–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–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–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7F7A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○ AI 루프 + 사람 검토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>
            <a:off x="508406" y="5016398"/>
            <a:ext cx="10794492" cy="634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5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R1~R4를 한 플랫폼이 동시에 만족해야 R5(자동 최적화 루프)가 가능합니다. FPGA·에뮬레이터는 대체 대상이 아니라 루프 결과의 검증 수단(WaveScope). 공개 도구 참고: gem5는 Cortex-M 미지원, GVSoC는 RISC-V 전용, Arm Fast Model은 기능 수준(LT).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700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8406" y="0"/>
            <a:ext cx="11175797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부록 — FPGA · 에뮬레이터 대비 반복 실험 적합성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08406" y="1015898"/>
            <a:ext cx="11175797" cy="8257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7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빠르고 정확한 것만으로는 부족합니다 — 보고 바꾸는 한 바퀴가 초 단위여야 루프가 돕니다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508406" y="2031797"/>
            <a:ext cx="6730898" cy="3683203"/>
          </a:xfrm>
          <a:prstGeom prst="roundRect">
            <a:avLst>
              <a:gd name="adj" fmla="val 2756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270102" y="5079492"/>
            <a:ext cx="5587898" cy="0"/>
          </a:xfrm>
          <a:prstGeom prst="line">
            <a:avLst/>
          </a:prstGeom>
          <a:noFill/>
          <a:ln w="31750">
            <a:solidFill>
              <a:srgbClr val="B3B9C4"/>
            </a:solidFill>
            <a:prstDash val="solid"/>
            <a:tailEnd type="triangle"/>
          </a:ln>
        </p:spPr>
      </p:sp>
      <p:sp>
        <p:nvSpPr>
          <p:cNvPr id="8" name="Shape 5"/>
          <p:cNvSpPr/>
          <p:nvPr/>
        </p:nvSpPr>
        <p:spPr>
          <a:xfrm flipV="1">
            <a:off x="1270102" y="2349094"/>
            <a:ext cx="0" cy="2730398"/>
          </a:xfrm>
          <a:prstGeom prst="line">
            <a:avLst/>
          </a:prstGeom>
          <a:noFill/>
          <a:ln w="31750">
            <a:solidFill>
              <a:srgbClr val="B3B9C4"/>
            </a:solidFill>
            <a:prstDash val="solid"/>
            <a:tailEnd type="triangle"/>
          </a:ln>
        </p:spPr>
      </p:sp>
      <p:sp>
        <p:nvSpPr>
          <p:cNvPr id="9" name="Shape 6"/>
          <p:cNvSpPr/>
          <p:nvPr/>
        </p:nvSpPr>
        <p:spPr>
          <a:xfrm>
            <a:off x="1524305" y="2476195"/>
            <a:ext cx="1397203" cy="1397203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1524305" y="2476195"/>
            <a:ext cx="1397203" cy="1397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TLM</a:t>
            </a:r>
            <a:endParaRPr lang="en-US" sz="2000" dirty="0"/>
          </a:p>
        </p:txBody>
      </p:sp>
      <p:sp>
        <p:nvSpPr>
          <p:cNvPr id="11" name="Shape 8"/>
          <p:cNvSpPr/>
          <p:nvPr/>
        </p:nvSpPr>
        <p:spPr>
          <a:xfrm>
            <a:off x="4826203" y="2603297"/>
            <a:ext cx="1206094" cy="1206094"/>
          </a:xfrm>
          <a:prstGeom prst="ellipse">
            <a:avLst/>
          </a:prstGeom>
          <a:solidFill>
            <a:srgbClr val="0F1B2D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826203" y="2603297"/>
            <a:ext cx="1206094" cy="12060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RTL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시뮬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5206594" y="3873398"/>
            <a:ext cx="1206094" cy="1206094"/>
          </a:xfrm>
          <a:prstGeom prst="ellipse">
            <a:avLst/>
          </a:prstGeom>
          <a:solidFill>
            <a:srgbClr val="0F1B2D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206594" y="3873398"/>
            <a:ext cx="1206094" cy="12060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FPGA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에뮬레이터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1270102" y="3949294"/>
            <a:ext cx="1904695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모든 이벤트 관측 ·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HW 변경 = config 한 줄</a:t>
            </a:r>
            <a:endParaRPr lang="en-US" sz="1150" dirty="0"/>
          </a:p>
        </p:txBody>
      </p:sp>
      <p:sp>
        <p:nvSpPr>
          <p:cNvPr id="16" name="Text 13"/>
          <p:cNvSpPr txBox="1"/>
          <p:nvPr/>
        </p:nvSpPr>
        <p:spPr>
          <a:xfrm>
            <a:off x="4063594" y="2361895"/>
            <a:ext cx="2667305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파형 전부 · 그러나 느림 · RTL 수정</a:t>
            </a:r>
            <a:endParaRPr lang="en-US" sz="1150" dirty="0"/>
          </a:p>
        </p:txBody>
      </p:sp>
      <p:sp>
        <p:nvSpPr>
          <p:cNvPr id="17" name="Text 14"/>
          <p:cNvSpPr txBox="1"/>
          <p:nvPr/>
        </p:nvSpPr>
        <p:spPr>
          <a:xfrm>
            <a:off x="3174797" y="4127602"/>
            <a:ext cx="1904695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FPGA·에뮬: 프로브 · 재합성</a:t>
            </a:r>
            <a:endParaRPr lang="en-US" sz="115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신호 수 제한 · 장비 공유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3174797" y="3619195"/>
            <a:ext cx="1904695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C-model: HW가 없어 축 밖</a:t>
            </a:r>
            <a:endParaRPr lang="en-US" sz="1150" dirty="0"/>
          </a:p>
        </p:txBody>
      </p:sp>
      <p:sp>
        <p:nvSpPr>
          <p:cNvPr id="19" name="Text 16"/>
          <p:cNvSpPr txBox="1"/>
          <p:nvPr/>
        </p:nvSpPr>
        <p:spPr>
          <a:xfrm>
            <a:off x="1397203" y="5460797"/>
            <a:ext cx="1904695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초 (config)</a:t>
            </a:r>
            <a:endParaRPr lang="en-US" sz="1150" dirty="0"/>
          </a:p>
        </p:txBody>
      </p:sp>
      <p:sp>
        <p:nvSpPr>
          <p:cNvPr id="20" name="Text 17"/>
          <p:cNvSpPr txBox="1"/>
          <p:nvPr/>
        </p:nvSpPr>
        <p:spPr>
          <a:xfrm>
            <a:off x="3810305" y="5460797"/>
            <a:ext cx="3047695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HW 구조 변경 1회 → 시간~일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597103" y="2286000"/>
            <a:ext cx="634594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관측 비용</a:t>
            </a:r>
            <a:endParaRPr lang="en-US" sz="1150" dirty="0"/>
          </a:p>
          <a:p>
            <a:pPr algn="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없음 ↑</a:t>
            </a:r>
            <a:endParaRPr lang="en-US" sz="1150" dirty="0"/>
          </a:p>
        </p:txBody>
      </p:sp>
      <p:sp>
        <p:nvSpPr>
          <p:cNvPr id="22" name="Text 19"/>
          <p:cNvSpPr txBox="1"/>
          <p:nvPr/>
        </p:nvSpPr>
        <p:spPr>
          <a:xfrm>
            <a:off x="597103" y="4736592"/>
            <a:ext cx="634594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프로브</a:t>
            </a:r>
            <a:endParaRPr lang="en-US" sz="1150" dirty="0"/>
          </a:p>
          <a:p>
            <a:pPr algn="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재합성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7556602" y="2095805"/>
            <a:ext cx="51206" cy="761695"/>
          </a:xfrm>
          <a:prstGeom prst="rect">
            <a:avLst/>
          </a:prstGeom>
          <a:solidFill>
            <a:srgbClr val="0F1B2D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7785202" y="2095805"/>
            <a:ext cx="3899002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관측성</a:t>
            </a:r>
            <a:endParaRPr lang="en-US" sz="1600" dirty="0"/>
          </a:p>
        </p:txBody>
      </p:sp>
      <p:sp>
        <p:nvSpPr>
          <p:cNvPr id="25" name="Text 22"/>
          <p:cNvSpPr txBox="1"/>
          <p:nvPr/>
        </p:nvSpPr>
        <p:spPr>
          <a:xfrm>
            <a:off x="7785202" y="2387498"/>
            <a:ext cx="3899002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프로브·트레이스 IP를 심고 재합성해야 보임. 신호 수 제한, 스톨 원인은 바로 안 나옴</a:t>
            </a:r>
            <a:endParaRPr lang="en-US" sz="1250" dirty="0"/>
          </a:p>
        </p:txBody>
      </p:sp>
      <p:sp>
        <p:nvSpPr>
          <p:cNvPr id="26" name="Shape 23"/>
          <p:cNvSpPr/>
          <p:nvPr/>
        </p:nvSpPr>
        <p:spPr>
          <a:xfrm>
            <a:off x="7556602" y="3047695"/>
            <a:ext cx="51206" cy="761695"/>
          </a:xfrm>
          <a:prstGeom prst="rect">
            <a:avLst/>
          </a:prstGeom>
          <a:solidFill>
            <a:srgbClr val="0F1B2D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7785202" y="3047695"/>
            <a:ext cx="3899002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HW 변경 비용</a:t>
            </a:r>
            <a:endParaRPr lang="en-US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7785202" y="3340303"/>
            <a:ext cx="3899002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RTL이 있어야 하고, 구조를 바꾸면 재합성 수 시간. 하루 수백 회 루프에 들어갈 수 없음</a:t>
            </a:r>
            <a:endParaRPr lang="en-US" sz="1250" dirty="0"/>
          </a:p>
        </p:txBody>
      </p:sp>
      <p:sp>
        <p:nvSpPr>
          <p:cNvPr id="29" name="Shape 26"/>
          <p:cNvSpPr/>
          <p:nvPr/>
        </p:nvSpPr>
        <p:spPr>
          <a:xfrm>
            <a:off x="7556602" y="4000500"/>
            <a:ext cx="51206" cy="761695"/>
          </a:xfrm>
          <a:prstGeom prst="rect">
            <a:avLst/>
          </a:prstGeom>
          <a:solidFill>
            <a:srgbClr val="0F1B2D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7785202" y="4000500"/>
            <a:ext cx="3899002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가용 시점 · 비용</a:t>
            </a:r>
            <a:endParaRPr lang="en-US" sz="1600" dirty="0"/>
          </a:p>
        </p:txBody>
      </p:sp>
      <p:sp>
        <p:nvSpPr>
          <p:cNvPr id="31" name="Text 28"/>
          <p:cNvSpPr txBox="1"/>
          <p:nvPr/>
        </p:nvSpPr>
        <p:spPr>
          <a:xfrm>
            <a:off x="7785202" y="4292194"/>
            <a:ext cx="3899002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RTL이 어느 정도 완성된 뒤에야 가능. 장비가 비싸 여러 실험을 동시에 돌리기 어려움</a:t>
            </a:r>
            <a:endParaRPr lang="en-US" sz="1250" dirty="0"/>
          </a:p>
        </p:txBody>
      </p:sp>
      <p:sp>
        <p:nvSpPr>
          <p:cNvPr id="32" name="Shape 29"/>
          <p:cNvSpPr/>
          <p:nvPr/>
        </p:nvSpPr>
        <p:spPr>
          <a:xfrm>
            <a:off x="7556602" y="5016398"/>
            <a:ext cx="4127602" cy="698602"/>
          </a:xfrm>
          <a:prstGeom prst="roundRect">
            <a:avLst>
              <a:gd name="adj" fmla="val 10864"/>
            </a:avLst>
          </a:prstGeom>
          <a:solidFill>
            <a:srgbClr val="0F1B2D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7721194" y="5016398"/>
            <a:ext cx="3810305" cy="6986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F5F4E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그래서 경쟁이 아니라 연동: 이들의 파형을 </a:t>
            </a:r>
            <a:pPr algn="l" indent="0" marL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F5F4E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WaveScope</a:t>
            </a:r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F5F4E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로 가져와 TLM 결과를 검증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2026-10-03T06:13:32Z</dcterms:created>
  <dcterms:modified xsi:type="dcterms:W3CDTF">2026-10-03T06:13:32Z</dcterms:modified>
</cp:coreProperties>
</file>