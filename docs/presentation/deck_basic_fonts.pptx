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모델링 범위는 손으로 훑는 정도.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왼쪽: Base(검정)에 예산 280부터 TCM(청록 점선), 470부터 MAC(주황 점선)이 더해진다. 주황 점이 AI가 고르는 HW knob.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4000500"/>
            <a:ext cx="38103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모델링 범위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08406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870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3단 인오더 파이프라인, 명령어별 cycle, NVIC, FPU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340303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517697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860597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517697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TCM, 독립 SRAM 뱅크, Flash wait state·prefetch, I-Cache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72200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9594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692494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49594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매트릭스, 마스터 간 실제 경합 지연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9004097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18149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439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8149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DMA(burst), Timer, 오디오 입력, 센서·액추에이터, MAC 가속기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55902"/>
            <a:ext cx="2793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면적 예산 3단계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2094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683203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4703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1F7F7A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444898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+TCM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53305" y="1981505"/>
            <a:ext cx="139903" cy="139903"/>
          </a:xfrm>
          <a:prstGeom prst="roundRect">
            <a:avLst>
              <a:gd name="adj" fmla="val 18301"/>
            </a:avLst>
          </a:prstGeom>
          <a:solidFill>
            <a:srgbClr val="FFFFFF"/>
          </a:solidFill>
          <a:ln w="25400">
            <a:solidFill>
              <a:srgbClr val="B8791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143500" y="1943100"/>
            <a:ext cx="571500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+MAC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76195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968496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43500" y="3136392"/>
            <a:ext cx="0" cy="418795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97203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6801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84394" y="3886200"/>
            <a:ext cx="0" cy="431597"/>
          </a:xfrm>
          <a:prstGeom prst="line">
            <a:avLst/>
          </a:prstGeom>
          <a:noFill/>
          <a:ln w="44450">
            <a:solidFill>
              <a:srgbClr val="6B728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651406" y="2793492"/>
            <a:ext cx="127102" cy="0"/>
          </a:xfrm>
          <a:prstGeom prst="line">
            <a:avLst/>
          </a:prstGeom>
          <a:noFill/>
          <a:ln w="76200">
            <a:solidFill>
              <a:srgbClr val="1F7F7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61695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761695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695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 + DTCM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≤280부터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587398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1777594" y="2450592"/>
            <a:ext cx="1397203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77594" y="2514600"/>
            <a:ext cx="139720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777594" y="2844698"/>
            <a:ext cx="1397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492094" y="2450592"/>
            <a:ext cx="952805" cy="685800"/>
          </a:xfrm>
          <a:prstGeom prst="roundRect">
            <a:avLst>
              <a:gd name="adj" fmla="val 11067"/>
            </a:avLst>
          </a:prstGeom>
          <a:solidFill>
            <a:srgbClr val="0F1B2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492094" y="2514600"/>
            <a:ext cx="952805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3492094" y="2844698"/>
            <a:ext cx="9528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burst 1–16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381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2" name="Shape 29"/>
          <p:cNvSpPr/>
          <p:nvPr/>
        </p:nvSpPr>
        <p:spPr>
          <a:xfrm>
            <a:off x="4699102" y="2450592"/>
            <a:ext cx="888797" cy="685800"/>
          </a:xfrm>
          <a:prstGeom prst="roundRect">
            <a:avLst>
              <a:gd name="adj" fmla="val 11067"/>
            </a:avLst>
          </a:prstGeom>
          <a:solidFill>
            <a:srgbClr val="FFFFFF"/>
          </a:solidFill>
          <a:ln w="38100">
            <a:solidFill>
              <a:srgbClr val="B8791F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4699102" y="2527402"/>
            <a:ext cx="888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699102" y="2806294"/>
            <a:ext cx="888797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가속기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≤470부터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524805" y="2387498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Shape 33"/>
          <p:cNvSpPr/>
          <p:nvPr/>
        </p:nvSpPr>
        <p:spPr>
          <a:xfrm>
            <a:off x="761695" y="3556102"/>
            <a:ext cx="4826203" cy="330098"/>
          </a:xfrm>
          <a:prstGeom prst="roundRect">
            <a:avLst>
              <a:gd name="adj" fmla="val 19114"/>
            </a:avLst>
          </a:prstGeom>
          <a:solidFill>
            <a:srgbClr val="4A556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61695" y="3556102"/>
            <a:ext cx="482620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— 마스터 간 경합을 cycle 단위로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761695" y="4317797"/>
            <a:ext cx="1270102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61695" y="4393692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61695" y="4673498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512 KB · WS/prefetch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968703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2" name="Shape 39"/>
          <p:cNvSpPr/>
          <p:nvPr/>
        </p:nvSpPr>
        <p:spPr>
          <a:xfrm>
            <a:off x="2349094" y="4317797"/>
            <a:ext cx="1714500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206801" y="4317797"/>
            <a:ext cx="0" cy="634594"/>
          </a:xfrm>
          <a:prstGeom prst="line">
            <a:avLst/>
          </a:prstGeom>
          <a:noFill/>
          <a:ln w="19050">
            <a:solidFill>
              <a:srgbClr val="D9DE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49094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3206801" y="4393692"/>
            <a:ext cx="856793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2349094" y="4673498"/>
            <a:ext cx="17145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× 2 · CPU·DMA 공유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4000500" y="4254703"/>
            <a:ext cx="127102" cy="12710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8" name="Shape 45"/>
          <p:cNvSpPr/>
          <p:nvPr/>
        </p:nvSpPr>
        <p:spPr>
          <a:xfrm>
            <a:off x="4381805" y="4317797"/>
            <a:ext cx="1206094" cy="634594"/>
          </a:xfrm>
          <a:prstGeom prst="roundRect">
            <a:avLst>
              <a:gd name="adj" fmla="val 1196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1805" y="4393692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381805" y="4673498"/>
            <a:ext cx="12060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· Audio · I/O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60197" y="5143500"/>
            <a:ext cx="5079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0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크기·개수·burst·WS를 AI가 예산 안에서 선택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54" name="Shape 51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1" name="Shape 98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03" name="Shape 100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07" name="Shape 104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09" name="Shape 106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1" name="Text 108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2" name="Text 109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13" name="Shape 110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16" name="Shape 113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19" name="Shape 116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면적 예산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사람 HW + 기본 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SW만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HW+SW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470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2026-10-03T02:09:57Z</dcterms:created>
  <dcterms:modified xsi:type="dcterms:W3CDTF">2026-10-03T02:09:57Z</dcterms:modified>
</cp:coreProperties>
</file>