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모델링 범위는 손으로 훑는 정도.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회색 점(사람 출발점)→주황 점(AI 도착점) 화살표가 'AI가 HW도 SW도 바꿨다'는 증거. 점선은 헤드라인. 실측 후 그림 교체. 검은 박스의 HW 변경 목록이 co-optimization의 실체.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정량 칸은 PoC 수치로. 교육·실무 칸의 대괄호는 제안 — 실제 교과목명·적용 프로젝트로 교체.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더 빨리, 더 좋은 제품으로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DFE4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311603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159898" y="2311603"/>
            <a:ext cx="1397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실리콘 뒤에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136392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SW만 최적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3174797"/>
            <a:ext cx="3556102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관찰마다 프로브 삽입 ·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33695" y="4101998"/>
            <a:ext cx="1143000" cy="330098"/>
          </a:xfrm>
          <a:prstGeom prst="roundRect">
            <a:avLst>
              <a:gd name="adj" fmla="val 15512"/>
            </a:avLst>
          </a:prstGeom>
          <a:solidFill>
            <a:srgbClr val="B3B9C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333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 최종 검증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6616598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679692" y="4089197"/>
            <a:ext cx="95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완성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HW+SW 최적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619695" y="4101998"/>
            <a:ext cx="393649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도구는 그대로,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같은 면적에 더 빠르게, 같은 성능에 더 작게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7619695" y="4839005"/>
            <a:ext cx="3936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가로축 = 시간 (개념도) · 세로 점선 = 실리콘 시점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1700" dirty="0"/>
          </a:p>
        </p:txBody>
      </p:sp>
      <p:sp>
        <p:nvSpPr>
          <p:cNvPr id="47" name="Text 44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51" name="Shape 48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1700" dirty="0"/>
          </a:p>
        </p:txBody>
      </p:sp>
      <p:sp>
        <p:nvSpPr>
          <p:cNvPr id="53" name="Text 50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4000500"/>
            <a:ext cx="381030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모델링 범위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08406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28700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3단 인오더 파이프라인, 명령어별 cycle, NVIC, FPU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3340303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517697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860597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517697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TCM, 독립 SRAM 뱅크, Flash wait state·prefetch, I-Cache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72200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349594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692494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버스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349594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매트릭스, 마스터 간 실제 경합 지연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9004097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181490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4390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181490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DMA(burst), Timer, 오디오 입력, 센서·액추에이터, MAC 가속기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2F4F7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3B9C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2616098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886200" y="3016606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3886200" y="3377794"/>
            <a:ext cx="3813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F73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41906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74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574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3241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241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909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909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457700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57700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24451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524451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59120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591202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65795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65795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72470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2470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790542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790542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857293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857293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24044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924044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990795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990795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057546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57546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4298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124298" y="2667305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91049" y="2667305"/>
            <a:ext cx="0" cy="101498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191049" y="2768803"/>
            <a:ext cx="66751" cy="0"/>
          </a:xfrm>
          <a:prstGeom prst="line">
            <a:avLst/>
          </a:prstGeom>
          <a:noFill/>
          <a:ln w="2540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90695" y="3047695"/>
            <a:ext cx="19202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382719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382719" y="3149194"/>
            <a:ext cx="12801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10735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10735" y="3047695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77774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777740" y="3149194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937760" y="3047695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937760" y="3047695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190695" y="3416198"/>
            <a:ext cx="32004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451073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510735" y="3517697"/>
            <a:ext cx="10698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61772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617720" y="3416198"/>
            <a:ext cx="21305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830775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830775" y="3517697"/>
            <a:ext cx="267005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5097780" y="3416198"/>
            <a:ext cx="0" cy="101498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97780" y="3416198"/>
            <a:ext cx="16002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72" name="Text 69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73" name="Shape 70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74" name="Shape 71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76" name="Text 73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78" name="Shape 75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81" name="Text 78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82" name="Text 79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83" name="Shape 80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00" dirty="0"/>
          </a:p>
        </p:txBody>
      </p:sp>
      <p:sp>
        <p:nvSpPr>
          <p:cNvPr id="85" name="Text 82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86" name="Shape 83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1700" dirty="0"/>
          </a:p>
        </p:txBody>
      </p:sp>
      <p:sp>
        <p:nvSpPr>
          <p:cNvPr id="88" name="Text 85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619195"/>
          </a:xfrm>
          <a:prstGeom prst="roundRect">
            <a:avLst>
              <a:gd name="adj" fmla="val 280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0197" y="1930298"/>
            <a:ext cx="507949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CM4 가상 플랫폼 · JSON config 1장으로 조립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333195" y="2895905"/>
            <a:ext cx="0" cy="533095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56102" y="2895905"/>
            <a:ext cx="0" cy="533095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48402" y="2895905"/>
            <a:ext cx="0" cy="533095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70102" y="3759098"/>
            <a:ext cx="0" cy="317297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324405" y="3759098"/>
            <a:ext cx="0" cy="317297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31897" y="3759098"/>
            <a:ext cx="0" cy="317297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340303" y="3759098"/>
            <a:ext cx="0" cy="317297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7795" y="3759098"/>
            <a:ext cx="0" cy="317297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16398" y="3759098"/>
            <a:ext cx="0" cy="317297"/>
          </a:xfrm>
          <a:prstGeom prst="line">
            <a:avLst/>
          </a:prstGeom>
          <a:noFill/>
          <a:ln w="38100">
            <a:solidFill>
              <a:srgbClr val="6B72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98602" y="2197303"/>
            <a:ext cx="12701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98602" y="2286000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Cortex-M4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98602" y="2577694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 · NVIC · 3-stage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1968703" y="2361895"/>
            <a:ext cx="88697" cy="0"/>
          </a:xfrm>
          <a:prstGeom prst="line">
            <a:avLst/>
          </a:prstGeom>
          <a:noFill/>
          <a:ln w="38100">
            <a:solidFill>
              <a:srgbClr val="0F1B2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968703" y="2730398"/>
            <a:ext cx="88697" cy="0"/>
          </a:xfrm>
          <a:prstGeom prst="line">
            <a:avLst/>
          </a:prstGeom>
          <a:noFill/>
          <a:ln w="38100">
            <a:solidFill>
              <a:srgbClr val="0F1B2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057400" y="2197303"/>
            <a:ext cx="672998" cy="330098"/>
          </a:xfrm>
          <a:prstGeom prst="roundRect">
            <a:avLst>
              <a:gd name="adj" fmla="val 15512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57400" y="2216506"/>
            <a:ext cx="672998" cy="304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ITCM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16–64 KB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2673706" y="2139696"/>
            <a:ext cx="114300" cy="1143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5" name="Shape 22"/>
          <p:cNvSpPr/>
          <p:nvPr/>
        </p:nvSpPr>
        <p:spPr>
          <a:xfrm>
            <a:off x="2057400" y="2564892"/>
            <a:ext cx="672998" cy="330098"/>
          </a:xfrm>
          <a:prstGeom prst="roundRect">
            <a:avLst>
              <a:gd name="adj" fmla="val 15512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057400" y="2584094"/>
            <a:ext cx="672998" cy="304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DTCM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16–64 KB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2673706" y="2508199"/>
            <a:ext cx="114300" cy="1143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Shape 25"/>
          <p:cNvSpPr/>
          <p:nvPr/>
        </p:nvSpPr>
        <p:spPr>
          <a:xfrm>
            <a:off x="856793" y="3022092"/>
            <a:ext cx="952805" cy="2542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56793" y="3022092"/>
            <a:ext cx="95280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I-Cache 0–4 KB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1752905" y="2965399"/>
            <a:ext cx="114300" cy="1143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1" name="Shape 28"/>
          <p:cNvSpPr/>
          <p:nvPr/>
        </p:nvSpPr>
        <p:spPr>
          <a:xfrm>
            <a:off x="3047695" y="2197303"/>
            <a:ext cx="1015898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3047695" y="2286000"/>
            <a:ext cx="1015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047695" y="2564892"/>
            <a:ext cx="1015898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2ch · burst 1–16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오디오 → SRAM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006901" y="2139696"/>
            <a:ext cx="114300" cy="1143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5" name="Shape 32"/>
          <p:cNvSpPr/>
          <p:nvPr/>
        </p:nvSpPr>
        <p:spPr>
          <a:xfrm>
            <a:off x="4444898" y="2197303"/>
            <a:ext cx="1206094" cy="698602"/>
          </a:xfrm>
          <a:prstGeom prst="roundRect">
            <a:avLst>
              <a:gd name="adj" fmla="val 10864"/>
            </a:avLst>
          </a:prstGeom>
          <a:solidFill>
            <a:srgbClr val="FFFFFF"/>
          </a:solidFill>
          <a:ln w="28575">
            <a:solidFill>
              <a:srgbClr val="B8791F"/>
            </a:solidFill>
            <a:prstDash val="dash"/>
          </a:ln>
        </p:spPr>
      </p:sp>
      <p:sp>
        <p:nvSpPr>
          <p:cNvPr id="36" name="Text 33"/>
          <p:cNvSpPr txBox="1"/>
          <p:nvPr/>
        </p:nvSpPr>
        <p:spPr>
          <a:xfrm>
            <a:off x="4444898" y="2286000"/>
            <a:ext cx="120609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가속기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4444898" y="2553005"/>
            <a:ext cx="1206094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dot-product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옵션 (예산 ≤470)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594299" y="2139696"/>
            <a:ext cx="114300" cy="1143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9" name="Shape 36"/>
          <p:cNvSpPr/>
          <p:nvPr/>
        </p:nvSpPr>
        <p:spPr>
          <a:xfrm>
            <a:off x="698602" y="3429000"/>
            <a:ext cx="4953305" cy="330098"/>
          </a:xfrm>
          <a:prstGeom prst="roundRect">
            <a:avLst>
              <a:gd name="adj" fmla="val 19114"/>
            </a:avLst>
          </a:prstGeom>
          <a:solidFill>
            <a:srgbClr val="2FA6A0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698602" y="3429000"/>
            <a:ext cx="4953305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AHB 매트릭스 · 마스터 3개의 경합을 cycle 단위로 모델링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98602" y="4076395"/>
            <a:ext cx="1143000" cy="508406"/>
          </a:xfrm>
          <a:prstGeom prst="roundRect">
            <a:avLst>
              <a:gd name="adj" fmla="val 14928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98602" y="4127602"/>
            <a:ext cx="1143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 512 KB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698602" y="4356202"/>
            <a:ext cx="1143000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6→4 · prefetch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1783994" y="4019702"/>
            <a:ext cx="114300" cy="1143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5" name="Shape 42"/>
          <p:cNvSpPr/>
          <p:nvPr/>
        </p:nvSpPr>
        <p:spPr>
          <a:xfrm>
            <a:off x="2095805" y="4076395"/>
            <a:ext cx="457200" cy="508406"/>
          </a:xfrm>
          <a:prstGeom prst="roundRect">
            <a:avLst>
              <a:gd name="adj" fmla="val 1380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95805" y="4076395"/>
            <a:ext cx="457200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SRAM0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2603297" y="4076395"/>
            <a:ext cx="457200" cy="508406"/>
          </a:xfrm>
          <a:prstGeom prst="roundRect">
            <a:avLst>
              <a:gd name="adj" fmla="val 1380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603297" y="4076395"/>
            <a:ext cx="457200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SRAM1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3111703" y="4076395"/>
            <a:ext cx="457200" cy="508406"/>
          </a:xfrm>
          <a:prstGeom prst="roundRect">
            <a:avLst>
              <a:gd name="adj" fmla="val 13800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3111703" y="4076395"/>
            <a:ext cx="457200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SRAM2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3619195" y="4076395"/>
            <a:ext cx="457200" cy="508406"/>
          </a:xfrm>
          <a:prstGeom prst="roundRect">
            <a:avLst>
              <a:gd name="adj" fmla="val 13800"/>
            </a:avLst>
          </a:prstGeom>
          <a:solidFill>
            <a:srgbClr val="FFFFFF"/>
          </a:solidFill>
          <a:ln w="28575">
            <a:solidFill>
              <a:srgbClr val="B8791F"/>
            </a:solidFill>
            <a:prstDash val="dash"/>
          </a:ln>
        </p:spPr>
      </p:sp>
      <p:sp>
        <p:nvSpPr>
          <p:cNvPr id="52" name="Text 49"/>
          <p:cNvSpPr txBox="1"/>
          <p:nvPr/>
        </p:nvSpPr>
        <p:spPr>
          <a:xfrm>
            <a:off x="3619195" y="4076395"/>
            <a:ext cx="457200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SRAM3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4019702" y="4019702"/>
            <a:ext cx="114300" cy="1143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095805" y="4622292"/>
            <a:ext cx="19815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KB 뱅크 × 2–4 · 독립 포트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4381805" y="4076395"/>
            <a:ext cx="1270102" cy="508406"/>
          </a:xfrm>
          <a:prstGeom prst="roundRect">
            <a:avLst>
              <a:gd name="adj" fmla="val 14928"/>
            </a:avLst>
          </a:prstGeom>
          <a:solidFill>
            <a:srgbClr val="FFFFFF"/>
          </a:solidFill>
          <a:ln w="19050">
            <a:solidFill>
              <a:srgbClr val="0F1B2D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4381805" y="4127602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주변장치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4381805" y="4317797"/>
            <a:ext cx="127010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 1 kHz · Audio in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· Actuator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660197" y="4876495"/>
            <a:ext cx="507949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knob — 면적 예산 안에서 AI가 선택:</a:t>
            </a:r>
            <a:endParaRPr lang="en-US" sz="1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TCM 크기 · SRAM 뱅크 수 · I-Cache · Flash WS/prefetch · DMA burst · MAC 유무</a:t>
            </a:r>
            <a:endParaRPr lang="en-US" sz="1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- </a:t>
            </a:r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점선 = 예산에 따라 있거나 없는 블록 · 바탕 구조는 공통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61" name="Shape 58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107" name="Shape 104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08" name="Shape 105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110" name="Shape 107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111" name="Shape 108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113" name="Shape 110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114" name="Shape 111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116" name="Shape 113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117" name="Text 114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200" dirty="0"/>
          </a:p>
        </p:txBody>
      </p:sp>
      <p:sp>
        <p:nvSpPr>
          <p:cNvPr id="118" name="Text 115"/>
          <p:cNvSpPr txBox="1"/>
          <p:nvPr/>
        </p:nvSpPr>
        <p:spPr>
          <a:xfrm>
            <a:off x="7302398" y="4839005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BFD8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· up · down · left · right · on · off · stop · go · silence · unknown</a:t>
            </a:r>
            <a:endParaRPr lang="en-US" sz="1100" dirty="0"/>
          </a:p>
        </p:txBody>
      </p:sp>
      <p:sp>
        <p:nvSpPr>
          <p:cNvPr id="119" name="Text 116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120" name="Shape 117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123" name="Shape 120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5" name="Text 122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126" name="Shape 123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28" name="Text 125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[헤드라인 — 예) 예산 280에서 AI가 고른 HW+SW가 예산 470의 사람 출발점보다 빠름: 면적 −40%, 같은 성능]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6096305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762195"/>
            <a:ext cx="5206594" cy="0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221992"/>
            <a:ext cx="0" cy="2540203"/>
          </a:xfrm>
          <a:prstGeom prst="line">
            <a:avLst/>
          </a:prstGeom>
          <a:noFill/>
          <a:ln w="25400">
            <a:solidFill>
              <a:srgbClr val="B3B9C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286000"/>
            <a:ext cx="0" cy="2476195"/>
          </a:xfrm>
          <a:prstGeom prst="line">
            <a:avLst/>
          </a:prstGeom>
          <a:noFill/>
          <a:ln w="25400">
            <a:solidFill>
              <a:srgbClr val="CBD2DC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768803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403397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006901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2958998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5935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59359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229100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19069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5079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095598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634594" y="20189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07992" y="495330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2095805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≤170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364992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≤280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60797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≤470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317797" y="2286000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정한 HW + 기본 SW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HW·SW 함께 선택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성능, 면적 −__%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70102" y="2286000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904695"/>
          <a:ext cx="4826203" cy="914400"/>
        </p:xfrm>
        <a:graphic>
          <a:graphicData uri="http://schemas.openxmlformats.org/drawingml/2006/table">
            <a:tbl>
              <a:tblPr/>
              <a:tblGrid>
                <a:gridCol w="1270102"/>
                <a:gridCol w="1206094"/>
                <a:gridCol w="1047902"/>
                <a:gridCol w="1302106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면적 예산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사람 HW + 기본 SW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· SW만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· HW+SW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170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280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470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−__% · 면적 [___]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6858000" y="3492094"/>
            <a:ext cx="4826203" cy="825703"/>
          </a:xfrm>
          <a:prstGeom prst="roundRect">
            <a:avLst>
              <a:gd name="adj" fmla="val 9192"/>
            </a:avLst>
          </a:prstGeom>
          <a:solidFill>
            <a:srgbClr val="0F1B2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035394" y="3593592"/>
            <a:ext cx="4444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실제로 바꾼 HW (예산 ≤280 예시)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7035394" y="3810305"/>
            <a:ext cx="444489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[SRAM 3뱅크 → 2뱅크 · I-cache 4K → 없음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Flash prefetch on · DMA burst 1 → 8]</a:t>
            </a:r>
            <a:endParaRPr lang="en-US" sz="1250" dirty="0"/>
          </a:p>
        </p:txBody>
      </p:sp>
      <p:sp>
        <p:nvSpPr>
          <p:cNvPr id="33" name="Shape 29"/>
          <p:cNvSpPr/>
          <p:nvPr/>
        </p:nvSpPr>
        <p:spPr>
          <a:xfrm>
            <a:off x="685800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98510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반복 · 소요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698510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[__]회 · [_]h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849569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62279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대비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862279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[_]일 → [_]h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10134295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261397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골든 불일치 폐기</a:t>
            </a:r>
            <a:endParaRPr lang="en-US" sz="1050" dirty="0"/>
          </a:p>
        </p:txBody>
      </p:sp>
      <p:sp>
        <p:nvSpPr>
          <p:cNvPr id="41" name="Text 37"/>
          <p:cNvSpPr txBox="1"/>
          <p:nvPr/>
        </p:nvSpPr>
        <p:spPr>
          <a:xfrm>
            <a:off x="10261397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[__] / [__]</a:t>
            </a:r>
            <a:endParaRPr lang="en-US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508406" y="5397703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신뢰성</a:t>
            </a:r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모든 점은 출력 bit-exact · ISR ≤ 20 µs · overrun 0 통과. 모델 정합성 99.7%, 추론 커널 TFLite와 bit-exact, 실험마다 git rev·config 해시 기록. 예산 안의 HW 구성은 AI가 선택.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36063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7006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정성적 효과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7006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HW-SW 최적화까지 실리콘 전에 — 기존 FPGA·에뮬 흐름 앞에 추가되는 단계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"왜 느린가"에 근거(프로파일·경합 창)로 답함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결정에 면적 비용이 항상 따라붙음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사람은 검토자로, 반복은 AI로 역할 분리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92194" y="1904695"/>
            <a:ext cx="3606394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0794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정량적 효과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0794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시간 [사람 __일 → AI __시간]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추론 cycle [베이스라인 대비 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성능에 면적 [−__%]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실험 1회 [__초], 하루 [__]회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76895" y="1904695"/>
            <a:ext cx="3606394" cy="3840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05495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 · 실무 연계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05495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[교과목: 컴퓨터구조 · 임베디드 · SoC 설계 — 메모리 계층·버스 경합을 실험으로 체득]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[실무: 신규 SoC 펌웨어 선개발, RTL 파형(WaveScope) 교차 검증에 즉시 적용]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[다음: RISC-V·멀티코어, 실제 프로젝트 워크로드 투입]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5587898"/>
            <a:ext cx="5079492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 · Q&amp;A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603797" y="5650992"/>
            <a:ext cx="50794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[발표자 이름] · [이메일]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필요한 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RTL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FPGA · 에뮬레이터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기능(LT) 시뮬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 과제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수 KIPS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50배+ vs RTL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R2 · cycle 수준 정확도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타이밍 없음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99.7%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파형뿐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 프로브·재합성 필요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callgrind + 파형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RTL 재작성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재합성 수 시간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△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config 한 줄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AI 루프 + 사람 검토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2F4F7"/>
          </a:solidFill>
          <a:ln w="12700">
            <a:solidFill>
              <a:srgbClr val="D9DE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3B9C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2026-10-03T02:05:25Z</dcterms:created>
  <dcterms:modified xsi:type="dcterms:W3CDTF">2026-10-03T02:05:25Z</dcterms:modified>
</cp:coreProperties>
</file>